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6" r:id="rId3"/>
    <p:sldId id="280" r:id="rId4"/>
    <p:sldId id="292" r:id="rId5"/>
    <p:sldId id="289" r:id="rId6"/>
    <p:sldId id="290" r:id="rId7"/>
    <p:sldId id="291" r:id="rId8"/>
    <p:sldId id="293" r:id="rId9"/>
    <p:sldId id="279"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945091-71A7-471E-889A-9CB8D5278C01}" v="84" dt="2024-01-28T08:10:14.0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0" d="100"/>
          <a:sy n="110" d="100"/>
        </p:scale>
        <p:origin x="55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Singh" userId="9407c92b-a096-4352-8d01-42db11c0551b" providerId="ADAL" clId="{53945091-71A7-471E-889A-9CB8D5278C01}"/>
    <pc:docChg chg="undo custSel addSld modSld sldOrd">
      <pc:chgData name="Aditya Singh" userId="9407c92b-a096-4352-8d01-42db11c0551b" providerId="ADAL" clId="{53945091-71A7-471E-889A-9CB8D5278C01}" dt="2024-01-28T08:10:24.190" v="471" actId="14100"/>
      <pc:docMkLst>
        <pc:docMk/>
      </pc:docMkLst>
      <pc:sldChg chg="delSp modSp mod">
        <pc:chgData name="Aditya Singh" userId="9407c92b-a096-4352-8d01-42db11c0551b" providerId="ADAL" clId="{53945091-71A7-471E-889A-9CB8D5278C01}" dt="2024-01-28T08:10:06.057" v="465" actId="1076"/>
        <pc:sldMkLst>
          <pc:docMk/>
          <pc:sldMk cId="1084499624" sldId="256"/>
        </pc:sldMkLst>
        <pc:spChg chg="del">
          <ac:chgData name="Aditya Singh" userId="9407c92b-a096-4352-8d01-42db11c0551b" providerId="ADAL" clId="{53945091-71A7-471E-889A-9CB8D5278C01}" dt="2024-01-28T08:02:18.069" v="386" actId="21"/>
          <ac:spMkLst>
            <pc:docMk/>
            <pc:sldMk cId="1084499624" sldId="256"/>
            <ac:spMk id="4" creationId="{045545A1-985C-0F7D-D4C6-607C8BA140A3}"/>
          </ac:spMkLst>
        </pc:spChg>
        <pc:picChg chg="mod">
          <ac:chgData name="Aditya Singh" userId="9407c92b-a096-4352-8d01-42db11c0551b" providerId="ADAL" clId="{53945091-71A7-471E-889A-9CB8D5278C01}" dt="2024-01-28T08:10:06.057" v="465" actId="1076"/>
          <ac:picMkLst>
            <pc:docMk/>
            <pc:sldMk cId="1084499624" sldId="256"/>
            <ac:picMk id="2" creationId="{7D9EC8F7-B2A2-C106-478F-E5920F605F79}"/>
          </ac:picMkLst>
        </pc:picChg>
      </pc:sldChg>
      <pc:sldChg chg="addSp modSp mod">
        <pc:chgData name="Aditya Singh" userId="9407c92b-a096-4352-8d01-42db11c0551b" providerId="ADAL" clId="{53945091-71A7-471E-889A-9CB8D5278C01}" dt="2024-01-28T08:10:24.190" v="471" actId="14100"/>
        <pc:sldMkLst>
          <pc:docMk/>
          <pc:sldMk cId="2447002939" sldId="257"/>
        </pc:sldMkLst>
        <pc:picChg chg="add mod">
          <ac:chgData name="Aditya Singh" userId="9407c92b-a096-4352-8d01-42db11c0551b" providerId="ADAL" clId="{53945091-71A7-471E-889A-9CB8D5278C01}" dt="2024-01-28T08:10:24.190" v="471" actId="14100"/>
          <ac:picMkLst>
            <pc:docMk/>
            <pc:sldMk cId="2447002939" sldId="257"/>
            <ac:picMk id="3" creationId="{FE81FAE9-D729-9129-7E61-84DF9B299CD9}"/>
          </ac:picMkLst>
        </pc:picChg>
      </pc:sldChg>
      <pc:sldChg chg="modSp mod">
        <pc:chgData name="Aditya Singh" userId="9407c92b-a096-4352-8d01-42db11c0551b" providerId="ADAL" clId="{53945091-71A7-471E-889A-9CB8D5278C01}" dt="2024-01-28T07:29:00.823" v="168" actId="20577"/>
        <pc:sldMkLst>
          <pc:docMk/>
          <pc:sldMk cId="3348343389" sldId="278"/>
        </pc:sldMkLst>
        <pc:spChg chg="mod">
          <ac:chgData name="Aditya Singh" userId="9407c92b-a096-4352-8d01-42db11c0551b" providerId="ADAL" clId="{53945091-71A7-471E-889A-9CB8D5278C01}" dt="2024-01-28T07:24:02.764" v="72" actId="27636"/>
          <ac:spMkLst>
            <pc:docMk/>
            <pc:sldMk cId="3348343389" sldId="278"/>
            <ac:spMk id="4" creationId="{FFB4DAD9-B0BF-9CD2-544B-BF92923D85D4}"/>
          </ac:spMkLst>
        </pc:spChg>
        <pc:spChg chg="mod">
          <ac:chgData name="Aditya Singh" userId="9407c92b-a096-4352-8d01-42db11c0551b" providerId="ADAL" clId="{53945091-71A7-471E-889A-9CB8D5278C01}" dt="2024-01-28T07:28:35.520" v="121" actId="20577"/>
          <ac:spMkLst>
            <pc:docMk/>
            <pc:sldMk cId="3348343389" sldId="278"/>
            <ac:spMk id="5" creationId="{BD8390B9-9640-FE87-E01D-D6FD75796BC9}"/>
          </ac:spMkLst>
        </pc:spChg>
        <pc:spChg chg="mod">
          <ac:chgData name="Aditya Singh" userId="9407c92b-a096-4352-8d01-42db11c0551b" providerId="ADAL" clId="{53945091-71A7-471E-889A-9CB8D5278C01}" dt="2024-01-28T07:29:00.823" v="168" actId="20577"/>
          <ac:spMkLst>
            <pc:docMk/>
            <pc:sldMk cId="3348343389" sldId="278"/>
            <ac:spMk id="6" creationId="{3F56490B-A296-5AEB-7F5F-63B7A46E5310}"/>
          </ac:spMkLst>
        </pc:spChg>
        <pc:graphicFrameChg chg="mod modGraphic">
          <ac:chgData name="Aditya Singh" userId="9407c92b-a096-4352-8d01-42db11c0551b" providerId="ADAL" clId="{53945091-71A7-471E-889A-9CB8D5278C01}" dt="2024-01-28T07:25:20.521" v="82" actId="14100"/>
          <ac:graphicFrameMkLst>
            <pc:docMk/>
            <pc:sldMk cId="3348343389" sldId="278"/>
            <ac:graphicFrameMk id="7" creationId="{074F5809-C988-A0A7-32F1-7D93686229F7}"/>
          </ac:graphicFrameMkLst>
        </pc:graphicFrameChg>
        <pc:graphicFrameChg chg="mod modGraphic">
          <ac:chgData name="Aditya Singh" userId="9407c92b-a096-4352-8d01-42db11c0551b" providerId="ADAL" clId="{53945091-71A7-471E-889A-9CB8D5278C01}" dt="2024-01-28T07:25:11.037" v="80" actId="1076"/>
          <ac:graphicFrameMkLst>
            <pc:docMk/>
            <pc:sldMk cId="3348343389" sldId="278"/>
            <ac:graphicFrameMk id="8" creationId="{6518CA7C-5080-928D-1CB5-E231B9E1351B}"/>
          </ac:graphicFrameMkLst>
        </pc:graphicFrameChg>
      </pc:sldChg>
      <pc:sldChg chg="addSp delSp modSp new mod setBg modClrScheme delDesignElem chgLayout">
        <pc:chgData name="Aditya Singh" userId="9407c92b-a096-4352-8d01-42db11c0551b" providerId="ADAL" clId="{53945091-71A7-471E-889A-9CB8D5278C01}" dt="2024-01-28T07:43:24.675" v="257" actId="1076"/>
        <pc:sldMkLst>
          <pc:docMk/>
          <pc:sldMk cId="883195610" sldId="279"/>
        </pc:sldMkLst>
        <pc:spChg chg="del mod">
          <ac:chgData name="Aditya Singh" userId="9407c92b-a096-4352-8d01-42db11c0551b" providerId="ADAL" clId="{53945091-71A7-471E-889A-9CB8D5278C01}" dt="2024-01-28T07:35:22.738" v="203" actId="700"/>
          <ac:spMkLst>
            <pc:docMk/>
            <pc:sldMk cId="883195610" sldId="279"/>
            <ac:spMk id="2" creationId="{7799B89B-E712-AD2F-2200-48FA175D84BE}"/>
          </ac:spMkLst>
        </pc:spChg>
        <pc:spChg chg="del mod ord">
          <ac:chgData name="Aditya Singh" userId="9407c92b-a096-4352-8d01-42db11c0551b" providerId="ADAL" clId="{53945091-71A7-471E-889A-9CB8D5278C01}" dt="2024-01-28T07:35:22.738" v="203" actId="700"/>
          <ac:spMkLst>
            <pc:docMk/>
            <pc:sldMk cId="883195610" sldId="279"/>
            <ac:spMk id="3" creationId="{96449892-E18C-6D57-62C4-DD3462A94254}"/>
          </ac:spMkLst>
        </pc:spChg>
        <pc:spChg chg="add mod ord">
          <ac:chgData name="Aditya Singh" userId="9407c92b-a096-4352-8d01-42db11c0551b" providerId="ADAL" clId="{53945091-71A7-471E-889A-9CB8D5278C01}" dt="2024-01-28T07:40:31.558" v="226" actId="27636"/>
          <ac:spMkLst>
            <pc:docMk/>
            <pc:sldMk cId="883195610" sldId="279"/>
            <ac:spMk id="5" creationId="{DF522CA4-3D8E-90DC-8481-921C9F9F5EA3}"/>
          </ac:spMkLst>
        </pc:spChg>
        <pc:spChg chg="add del mod ord">
          <ac:chgData name="Aditya Singh" userId="9407c92b-a096-4352-8d01-42db11c0551b" providerId="ADAL" clId="{53945091-71A7-471E-889A-9CB8D5278C01}" dt="2024-01-28T07:40:50.867" v="229" actId="21"/>
          <ac:spMkLst>
            <pc:docMk/>
            <pc:sldMk cId="883195610" sldId="279"/>
            <ac:spMk id="6" creationId="{F062FA5A-7C4F-43B2-28F3-588C78FEDB0F}"/>
          </ac:spMkLst>
        </pc:spChg>
        <pc:spChg chg="add del">
          <ac:chgData name="Aditya Singh" userId="9407c92b-a096-4352-8d01-42db11c0551b" providerId="ADAL" clId="{53945091-71A7-471E-889A-9CB8D5278C01}" dt="2024-01-28T07:35:22.738" v="203" actId="700"/>
          <ac:spMkLst>
            <pc:docMk/>
            <pc:sldMk cId="883195610" sldId="279"/>
            <ac:spMk id="8" creationId="{8C790BE2-4E4F-4AAF-81A2-4A6F4885EBE6}"/>
          </ac:spMkLst>
        </pc:spChg>
        <pc:spChg chg="add del">
          <ac:chgData name="Aditya Singh" userId="9407c92b-a096-4352-8d01-42db11c0551b" providerId="ADAL" clId="{53945091-71A7-471E-889A-9CB8D5278C01}" dt="2024-01-28T07:35:22.738" v="203" actId="700"/>
          <ac:spMkLst>
            <pc:docMk/>
            <pc:sldMk cId="883195610" sldId="279"/>
            <ac:spMk id="10" creationId="{D28B54C3-B57B-472A-B96E-1FCB67093DC2}"/>
          </ac:spMkLst>
        </pc:spChg>
        <pc:spChg chg="add del">
          <ac:chgData name="Aditya Singh" userId="9407c92b-a096-4352-8d01-42db11c0551b" providerId="ADAL" clId="{53945091-71A7-471E-889A-9CB8D5278C01}" dt="2024-01-28T07:35:22.738" v="203" actId="700"/>
          <ac:spMkLst>
            <pc:docMk/>
            <pc:sldMk cId="883195610" sldId="279"/>
            <ac:spMk id="12" creationId="{7DB3C429-F8DA-49B9-AF84-21996FCF78B5}"/>
          </ac:spMkLst>
        </pc:spChg>
        <pc:spChg chg="add del">
          <ac:chgData name="Aditya Singh" userId="9407c92b-a096-4352-8d01-42db11c0551b" providerId="ADAL" clId="{53945091-71A7-471E-889A-9CB8D5278C01}" dt="2024-01-28T07:35:22.738" v="203" actId="700"/>
          <ac:spMkLst>
            <pc:docMk/>
            <pc:sldMk cId="883195610" sldId="279"/>
            <ac:spMk id="14" creationId="{E12088DD-B1AD-40E0-8B86-1D87A2CCD9BE}"/>
          </ac:spMkLst>
        </pc:spChg>
        <pc:spChg chg="add del">
          <ac:chgData name="Aditya Singh" userId="9407c92b-a096-4352-8d01-42db11c0551b" providerId="ADAL" clId="{53945091-71A7-471E-889A-9CB8D5278C01}" dt="2024-01-28T07:35:22.738" v="203" actId="700"/>
          <ac:spMkLst>
            <pc:docMk/>
            <pc:sldMk cId="883195610" sldId="279"/>
            <ac:spMk id="16" creationId="{C4C9F2B0-1044-46EB-8AEB-C3BFFDE6C2CC}"/>
          </ac:spMkLst>
        </pc:spChg>
        <pc:spChg chg="add del">
          <ac:chgData name="Aditya Singh" userId="9407c92b-a096-4352-8d01-42db11c0551b" providerId="ADAL" clId="{53945091-71A7-471E-889A-9CB8D5278C01}" dt="2024-01-28T07:35:22.738" v="203" actId="700"/>
          <ac:spMkLst>
            <pc:docMk/>
            <pc:sldMk cId="883195610" sldId="279"/>
            <ac:spMk id="18" creationId="{0C395952-4E26-45A2-8756-2ADFD6E53C6E}"/>
          </ac:spMkLst>
        </pc:spChg>
        <pc:spChg chg="add del">
          <ac:chgData name="Aditya Singh" userId="9407c92b-a096-4352-8d01-42db11c0551b" providerId="ADAL" clId="{53945091-71A7-471E-889A-9CB8D5278C01}" dt="2024-01-28T07:35:22.738" v="203" actId="700"/>
          <ac:spMkLst>
            <pc:docMk/>
            <pc:sldMk cId="883195610" sldId="279"/>
            <ac:spMk id="20" creationId="{4734BADF-9461-4621-B112-2D7BABEA7DD0}"/>
          </ac:spMkLst>
        </pc:spChg>
        <pc:graphicFrameChg chg="add del mod">
          <ac:chgData name="Aditya Singh" userId="9407c92b-a096-4352-8d01-42db11c0551b" providerId="ADAL" clId="{53945091-71A7-471E-889A-9CB8D5278C01}" dt="2024-01-28T07:13:25.195" v="3" actId="21"/>
          <ac:graphicFrameMkLst>
            <pc:docMk/>
            <pc:sldMk cId="883195610" sldId="279"/>
            <ac:graphicFrameMk id="4" creationId="{E756B48E-7D35-1DAF-4CA3-0F1945323C18}"/>
          </ac:graphicFrameMkLst>
        </pc:graphicFrameChg>
        <pc:picChg chg="add mod">
          <ac:chgData name="Aditya Singh" userId="9407c92b-a096-4352-8d01-42db11c0551b" providerId="ADAL" clId="{53945091-71A7-471E-889A-9CB8D5278C01}" dt="2024-01-28T07:43:24.675" v="257" actId="1076"/>
          <ac:picMkLst>
            <pc:docMk/>
            <pc:sldMk cId="883195610" sldId="279"/>
            <ac:picMk id="7" creationId="{DA764242-C5B0-886F-F075-FA99B9C336EF}"/>
          </ac:picMkLst>
        </pc:picChg>
      </pc:sldChg>
      <pc:sldChg chg="addSp delSp modSp add mod ord modClrScheme modAnim chgLayout">
        <pc:chgData name="Aditya Singh" userId="9407c92b-a096-4352-8d01-42db11c0551b" providerId="ADAL" clId="{53945091-71A7-471E-889A-9CB8D5278C01}" dt="2024-01-28T08:10:10.557" v="466" actId="1076"/>
        <pc:sldMkLst>
          <pc:docMk/>
          <pc:sldMk cId="256786751" sldId="280"/>
        </pc:sldMkLst>
        <pc:spChg chg="del mod ord">
          <ac:chgData name="Aditya Singh" userId="9407c92b-a096-4352-8d01-42db11c0551b" providerId="ADAL" clId="{53945091-71A7-471E-889A-9CB8D5278C01}" dt="2024-01-28T07:14:18.737" v="7" actId="700"/>
          <ac:spMkLst>
            <pc:docMk/>
            <pc:sldMk cId="256786751" sldId="280"/>
            <ac:spMk id="2" creationId="{7A99656C-6795-4A05-A676-C6EFFA2FE4E7}"/>
          </ac:spMkLst>
        </pc:spChg>
        <pc:spChg chg="add mod ord">
          <ac:chgData name="Aditya Singh" userId="9407c92b-a096-4352-8d01-42db11c0551b" providerId="ADAL" clId="{53945091-71A7-471E-889A-9CB8D5278C01}" dt="2024-01-28T08:07:32.077" v="459" actId="20577"/>
          <ac:spMkLst>
            <pc:docMk/>
            <pc:sldMk cId="256786751" sldId="280"/>
            <ac:spMk id="3" creationId="{CF8135F7-571F-E392-CDD3-19253C2F524C}"/>
          </ac:spMkLst>
        </pc:spChg>
        <pc:spChg chg="add del mod ord">
          <ac:chgData name="Aditya Singh" userId="9407c92b-a096-4352-8d01-42db11c0551b" providerId="ADAL" clId="{53945091-71A7-471E-889A-9CB8D5278C01}" dt="2024-01-28T08:04:06.323" v="401" actId="21"/>
          <ac:spMkLst>
            <pc:docMk/>
            <pc:sldMk cId="256786751" sldId="280"/>
            <ac:spMk id="4" creationId="{84C5F104-BB84-6D2E-23AE-8E5443E740BD}"/>
          </ac:spMkLst>
        </pc:spChg>
        <pc:picChg chg="add mod">
          <ac:chgData name="Aditya Singh" userId="9407c92b-a096-4352-8d01-42db11c0551b" providerId="ADAL" clId="{53945091-71A7-471E-889A-9CB8D5278C01}" dt="2024-01-28T08:10:10.557" v="466" actId="1076"/>
          <ac:picMkLst>
            <pc:docMk/>
            <pc:sldMk cId="256786751" sldId="280"/>
            <ac:picMk id="5" creationId="{202570B1-7E8A-002F-6443-0CAAD3472223}"/>
          </ac:picMkLst>
        </pc:picChg>
      </pc:sldChg>
      <pc:sldChg chg="addSp modSp add mod ord">
        <pc:chgData name="Aditya Singh" userId="9407c92b-a096-4352-8d01-42db11c0551b" providerId="ADAL" clId="{53945091-71A7-471E-889A-9CB8D5278C01}" dt="2024-01-28T07:33:35.612" v="201" actId="14100"/>
        <pc:sldMkLst>
          <pc:docMk/>
          <pc:sldMk cId="1445857328" sldId="281"/>
        </pc:sldMkLst>
        <pc:spChg chg="mod">
          <ac:chgData name="Aditya Singh" userId="9407c92b-a096-4352-8d01-42db11c0551b" providerId="ADAL" clId="{53945091-71A7-471E-889A-9CB8D5278C01}" dt="2024-01-28T07:33:00.826" v="196" actId="1076"/>
          <ac:spMkLst>
            <pc:docMk/>
            <pc:sldMk cId="1445857328" sldId="281"/>
            <ac:spMk id="2" creationId="{7A99656C-6795-4A05-A676-C6EFFA2FE4E7}"/>
          </ac:spMkLst>
        </pc:spChg>
        <pc:graphicFrameChg chg="add mod modGraphic">
          <ac:chgData name="Aditya Singh" userId="9407c92b-a096-4352-8d01-42db11c0551b" providerId="ADAL" clId="{53945091-71A7-471E-889A-9CB8D5278C01}" dt="2024-01-28T07:32:56.485" v="195" actId="1076"/>
          <ac:graphicFrameMkLst>
            <pc:docMk/>
            <pc:sldMk cId="1445857328" sldId="281"/>
            <ac:graphicFrameMk id="3" creationId="{3D2FEF29-4DA8-DC35-BD7C-9DCB42287E64}"/>
          </ac:graphicFrameMkLst>
        </pc:graphicFrameChg>
        <pc:picChg chg="add mod">
          <ac:chgData name="Aditya Singh" userId="9407c92b-a096-4352-8d01-42db11c0551b" providerId="ADAL" clId="{53945091-71A7-471E-889A-9CB8D5278C01}" dt="2024-01-28T07:33:35.612" v="201" actId="14100"/>
          <ac:picMkLst>
            <pc:docMk/>
            <pc:sldMk cId="1445857328" sldId="281"/>
            <ac:picMk id="4" creationId="{1CA43119-A56D-1E32-E880-6C6AD8AF8CEE}"/>
          </ac:picMkLst>
        </pc:picChg>
      </pc:sldChg>
      <pc:sldChg chg="addSp delSp modSp new mod setBg modClrScheme chgLayout">
        <pc:chgData name="Aditya Singh" userId="9407c92b-a096-4352-8d01-42db11c0551b" providerId="ADAL" clId="{53945091-71A7-471E-889A-9CB8D5278C01}" dt="2024-01-28T07:43:32.250" v="260" actId="1076"/>
        <pc:sldMkLst>
          <pc:docMk/>
          <pc:sldMk cId="3885883835" sldId="282"/>
        </pc:sldMkLst>
        <pc:spChg chg="add del mod">
          <ac:chgData name="Aditya Singh" userId="9407c92b-a096-4352-8d01-42db11c0551b" providerId="ADAL" clId="{53945091-71A7-471E-889A-9CB8D5278C01}" dt="2024-01-28T07:43:27.847" v="258" actId="1076"/>
          <ac:spMkLst>
            <pc:docMk/>
            <pc:sldMk cId="3885883835" sldId="282"/>
            <ac:spMk id="2" creationId="{96379F59-EFDC-92DB-EE7A-1D988BD3CE61}"/>
          </ac:spMkLst>
        </pc:spChg>
        <pc:spChg chg="add del">
          <ac:chgData name="Aditya Singh" userId="9407c92b-a096-4352-8d01-42db11c0551b" providerId="ADAL" clId="{53945091-71A7-471E-889A-9CB8D5278C01}" dt="2024-01-28T07:42:26.045" v="246" actId="21"/>
          <ac:spMkLst>
            <pc:docMk/>
            <pc:sldMk cId="3885883835" sldId="282"/>
            <ac:spMk id="3" creationId="{91A5793D-C883-97BA-87A8-90FD8D594C8D}"/>
          </ac:spMkLst>
        </pc:spChg>
        <pc:spChg chg="add del mod">
          <ac:chgData name="Aditya Singh" userId="9407c92b-a096-4352-8d01-42db11c0551b" providerId="ADAL" clId="{53945091-71A7-471E-889A-9CB8D5278C01}" dt="2024-01-28T07:41:21.701" v="234" actId="700"/>
          <ac:spMkLst>
            <pc:docMk/>
            <pc:sldMk cId="3885883835" sldId="282"/>
            <ac:spMk id="4" creationId="{6C0B120E-4EC7-EA34-0365-900B4EBD6AE1}"/>
          </ac:spMkLst>
        </pc:spChg>
        <pc:spChg chg="add del">
          <ac:chgData name="Aditya Singh" userId="9407c92b-a096-4352-8d01-42db11c0551b" providerId="ADAL" clId="{53945091-71A7-471E-889A-9CB8D5278C01}" dt="2024-01-28T07:41:32.603" v="236" actId="26606"/>
          <ac:spMkLst>
            <pc:docMk/>
            <pc:sldMk cId="3885883835" sldId="282"/>
            <ac:spMk id="6" creationId="{6C0B120E-4EC7-EA34-0365-900B4EBD6AE1}"/>
          </ac:spMkLst>
        </pc:spChg>
        <pc:spChg chg="add del">
          <ac:chgData name="Aditya Singh" userId="9407c92b-a096-4352-8d01-42db11c0551b" providerId="ADAL" clId="{53945091-71A7-471E-889A-9CB8D5278C01}" dt="2024-01-28T07:41:32.603" v="236" actId="26606"/>
          <ac:spMkLst>
            <pc:docMk/>
            <pc:sldMk cId="3885883835" sldId="282"/>
            <ac:spMk id="9" creationId="{8C790BE2-4E4F-4AAF-81A2-4A6F4885EBE6}"/>
          </ac:spMkLst>
        </pc:spChg>
        <pc:spChg chg="add del">
          <ac:chgData name="Aditya Singh" userId="9407c92b-a096-4352-8d01-42db11c0551b" providerId="ADAL" clId="{53945091-71A7-471E-889A-9CB8D5278C01}" dt="2024-01-28T07:41:32.603" v="236" actId="26606"/>
          <ac:spMkLst>
            <pc:docMk/>
            <pc:sldMk cId="3885883835" sldId="282"/>
            <ac:spMk id="11" creationId="{D28B54C3-B57B-472A-B96E-1FCB67093DC2}"/>
          </ac:spMkLst>
        </pc:spChg>
        <pc:spChg chg="add del">
          <ac:chgData name="Aditya Singh" userId="9407c92b-a096-4352-8d01-42db11c0551b" providerId="ADAL" clId="{53945091-71A7-471E-889A-9CB8D5278C01}" dt="2024-01-28T07:41:32.603" v="236" actId="26606"/>
          <ac:spMkLst>
            <pc:docMk/>
            <pc:sldMk cId="3885883835" sldId="282"/>
            <ac:spMk id="13" creationId="{7DB3C429-F8DA-49B9-AF84-21996FCF78B5}"/>
          </ac:spMkLst>
        </pc:spChg>
        <pc:spChg chg="add del">
          <ac:chgData name="Aditya Singh" userId="9407c92b-a096-4352-8d01-42db11c0551b" providerId="ADAL" clId="{53945091-71A7-471E-889A-9CB8D5278C01}" dt="2024-01-28T07:41:32.603" v="236" actId="26606"/>
          <ac:spMkLst>
            <pc:docMk/>
            <pc:sldMk cId="3885883835" sldId="282"/>
            <ac:spMk id="15" creationId="{E12088DD-B1AD-40E0-8B86-1D87A2CCD9BE}"/>
          </ac:spMkLst>
        </pc:spChg>
        <pc:spChg chg="add del">
          <ac:chgData name="Aditya Singh" userId="9407c92b-a096-4352-8d01-42db11c0551b" providerId="ADAL" clId="{53945091-71A7-471E-889A-9CB8D5278C01}" dt="2024-01-28T07:41:32.603" v="236" actId="26606"/>
          <ac:spMkLst>
            <pc:docMk/>
            <pc:sldMk cId="3885883835" sldId="282"/>
            <ac:spMk id="17" creationId="{C4C9F2B0-1044-46EB-8AEB-C3BFFDE6C2CC}"/>
          </ac:spMkLst>
        </pc:spChg>
        <pc:spChg chg="add del">
          <ac:chgData name="Aditya Singh" userId="9407c92b-a096-4352-8d01-42db11c0551b" providerId="ADAL" clId="{53945091-71A7-471E-889A-9CB8D5278C01}" dt="2024-01-28T07:41:32.603" v="236" actId="26606"/>
          <ac:spMkLst>
            <pc:docMk/>
            <pc:sldMk cId="3885883835" sldId="282"/>
            <ac:spMk id="19" creationId="{0C395952-4E26-45A2-8756-2ADFD6E53C6E}"/>
          </ac:spMkLst>
        </pc:spChg>
        <pc:spChg chg="add del">
          <ac:chgData name="Aditya Singh" userId="9407c92b-a096-4352-8d01-42db11c0551b" providerId="ADAL" clId="{53945091-71A7-471E-889A-9CB8D5278C01}" dt="2024-01-28T07:41:32.603" v="236" actId="26606"/>
          <ac:spMkLst>
            <pc:docMk/>
            <pc:sldMk cId="3885883835" sldId="282"/>
            <ac:spMk id="21" creationId="{4734BADF-9461-4621-B112-2D7BABEA7DD0}"/>
          </ac:spMkLst>
        </pc:spChg>
        <pc:spChg chg="add del">
          <ac:chgData name="Aditya Singh" userId="9407c92b-a096-4352-8d01-42db11c0551b" providerId="ADAL" clId="{53945091-71A7-471E-889A-9CB8D5278C01}" dt="2024-01-28T07:41:34.646" v="238" actId="26606"/>
          <ac:spMkLst>
            <pc:docMk/>
            <pc:sldMk cId="3885883835" sldId="282"/>
            <ac:spMk id="23" creationId="{0E30439A-8A5B-46EC-8283-9B6B031D40D0}"/>
          </ac:spMkLst>
        </pc:spChg>
        <pc:spChg chg="add del">
          <ac:chgData name="Aditya Singh" userId="9407c92b-a096-4352-8d01-42db11c0551b" providerId="ADAL" clId="{53945091-71A7-471E-889A-9CB8D5278C01}" dt="2024-01-28T07:41:34.646" v="238" actId="26606"/>
          <ac:spMkLst>
            <pc:docMk/>
            <pc:sldMk cId="3885883835" sldId="282"/>
            <ac:spMk id="24" creationId="{5CEAD642-85CF-4750-8432-7C80C901F001}"/>
          </ac:spMkLst>
        </pc:spChg>
        <pc:spChg chg="add del">
          <ac:chgData name="Aditya Singh" userId="9407c92b-a096-4352-8d01-42db11c0551b" providerId="ADAL" clId="{53945091-71A7-471E-889A-9CB8D5278C01}" dt="2024-01-28T07:41:34.646" v="238" actId="26606"/>
          <ac:spMkLst>
            <pc:docMk/>
            <pc:sldMk cId="3885883835" sldId="282"/>
            <ac:spMk id="25" creationId="{FA33EEAE-15D5-4119-8C1E-89D943F911EF}"/>
          </ac:spMkLst>
        </pc:spChg>
        <pc:spChg chg="add del">
          <ac:chgData name="Aditya Singh" userId="9407c92b-a096-4352-8d01-42db11c0551b" providerId="ADAL" clId="{53945091-71A7-471E-889A-9CB8D5278C01}" dt="2024-01-28T07:41:34.646" v="238" actId="26606"/>
          <ac:spMkLst>
            <pc:docMk/>
            <pc:sldMk cId="3885883835" sldId="282"/>
            <ac:spMk id="26" creationId="{730D8B3B-9B80-4025-B934-26DC7D7CD231}"/>
          </ac:spMkLst>
        </pc:spChg>
        <pc:spChg chg="add del">
          <ac:chgData name="Aditya Singh" userId="9407c92b-a096-4352-8d01-42db11c0551b" providerId="ADAL" clId="{53945091-71A7-471E-889A-9CB8D5278C01}" dt="2024-01-28T07:41:34.646" v="238" actId="26606"/>
          <ac:spMkLst>
            <pc:docMk/>
            <pc:sldMk cId="3885883835" sldId="282"/>
            <ac:spMk id="27" creationId="{B5A1B09C-1565-46F8-B70F-621C5EB48A09}"/>
          </ac:spMkLst>
        </pc:spChg>
        <pc:spChg chg="add del">
          <ac:chgData name="Aditya Singh" userId="9407c92b-a096-4352-8d01-42db11c0551b" providerId="ADAL" clId="{53945091-71A7-471E-889A-9CB8D5278C01}" dt="2024-01-28T07:41:34.646" v="238" actId="26606"/>
          <ac:spMkLst>
            <pc:docMk/>
            <pc:sldMk cId="3885883835" sldId="282"/>
            <ac:spMk id="28" creationId="{6C0B120E-4EC7-EA34-0365-900B4EBD6AE1}"/>
          </ac:spMkLst>
        </pc:spChg>
        <pc:spChg chg="add del">
          <ac:chgData name="Aditya Singh" userId="9407c92b-a096-4352-8d01-42db11c0551b" providerId="ADAL" clId="{53945091-71A7-471E-889A-9CB8D5278C01}" dt="2024-01-28T07:41:34.646" v="238" actId="26606"/>
          <ac:spMkLst>
            <pc:docMk/>
            <pc:sldMk cId="3885883835" sldId="282"/>
            <ac:spMk id="29" creationId="{8C516CC8-80AC-446C-A56E-9F54B7210402}"/>
          </ac:spMkLst>
        </pc:spChg>
        <pc:spChg chg="add del">
          <ac:chgData name="Aditya Singh" userId="9407c92b-a096-4352-8d01-42db11c0551b" providerId="ADAL" clId="{53945091-71A7-471E-889A-9CB8D5278C01}" dt="2024-01-28T07:41:34.646" v="238" actId="26606"/>
          <ac:spMkLst>
            <pc:docMk/>
            <pc:sldMk cId="3885883835" sldId="282"/>
            <ac:spMk id="30" creationId="{53947E58-F088-49F1-A3D1-DEA690192E84}"/>
          </ac:spMkLst>
        </pc:spChg>
        <pc:spChg chg="add">
          <ac:chgData name="Aditya Singh" userId="9407c92b-a096-4352-8d01-42db11c0551b" providerId="ADAL" clId="{53945091-71A7-471E-889A-9CB8D5278C01}" dt="2024-01-28T07:41:34.646" v="239" actId="26606"/>
          <ac:spMkLst>
            <pc:docMk/>
            <pc:sldMk cId="3885883835" sldId="282"/>
            <ac:spMk id="32" creationId="{8C790BE2-4E4F-4AAF-81A2-4A6F4885EBE6}"/>
          </ac:spMkLst>
        </pc:spChg>
        <pc:spChg chg="add">
          <ac:chgData name="Aditya Singh" userId="9407c92b-a096-4352-8d01-42db11c0551b" providerId="ADAL" clId="{53945091-71A7-471E-889A-9CB8D5278C01}" dt="2024-01-28T07:41:34.646" v="239" actId="26606"/>
          <ac:spMkLst>
            <pc:docMk/>
            <pc:sldMk cId="3885883835" sldId="282"/>
            <ac:spMk id="33" creationId="{D28B54C3-B57B-472A-B96E-1FCB67093DC2}"/>
          </ac:spMkLst>
        </pc:spChg>
        <pc:spChg chg="add">
          <ac:chgData name="Aditya Singh" userId="9407c92b-a096-4352-8d01-42db11c0551b" providerId="ADAL" clId="{53945091-71A7-471E-889A-9CB8D5278C01}" dt="2024-01-28T07:41:34.646" v="239" actId="26606"/>
          <ac:spMkLst>
            <pc:docMk/>
            <pc:sldMk cId="3885883835" sldId="282"/>
            <ac:spMk id="34" creationId="{7DB3C429-F8DA-49B9-AF84-21996FCF78B5}"/>
          </ac:spMkLst>
        </pc:spChg>
        <pc:spChg chg="add">
          <ac:chgData name="Aditya Singh" userId="9407c92b-a096-4352-8d01-42db11c0551b" providerId="ADAL" clId="{53945091-71A7-471E-889A-9CB8D5278C01}" dt="2024-01-28T07:41:34.646" v="239" actId="26606"/>
          <ac:spMkLst>
            <pc:docMk/>
            <pc:sldMk cId="3885883835" sldId="282"/>
            <ac:spMk id="35" creationId="{E12088DD-B1AD-40E0-8B86-1D87A2CCD9BE}"/>
          </ac:spMkLst>
        </pc:spChg>
        <pc:spChg chg="add">
          <ac:chgData name="Aditya Singh" userId="9407c92b-a096-4352-8d01-42db11c0551b" providerId="ADAL" clId="{53945091-71A7-471E-889A-9CB8D5278C01}" dt="2024-01-28T07:41:34.646" v="239" actId="26606"/>
          <ac:spMkLst>
            <pc:docMk/>
            <pc:sldMk cId="3885883835" sldId="282"/>
            <ac:spMk id="36" creationId="{C4C9F2B0-1044-46EB-8AEB-C3BFFDE6C2CC}"/>
          </ac:spMkLst>
        </pc:spChg>
        <pc:spChg chg="add">
          <ac:chgData name="Aditya Singh" userId="9407c92b-a096-4352-8d01-42db11c0551b" providerId="ADAL" clId="{53945091-71A7-471E-889A-9CB8D5278C01}" dt="2024-01-28T07:41:34.646" v="239" actId="26606"/>
          <ac:spMkLst>
            <pc:docMk/>
            <pc:sldMk cId="3885883835" sldId="282"/>
            <ac:spMk id="37" creationId="{0C395952-4E26-45A2-8756-2ADFD6E53C6E}"/>
          </ac:spMkLst>
        </pc:spChg>
        <pc:spChg chg="add">
          <ac:chgData name="Aditya Singh" userId="9407c92b-a096-4352-8d01-42db11c0551b" providerId="ADAL" clId="{53945091-71A7-471E-889A-9CB8D5278C01}" dt="2024-01-28T07:41:34.646" v="239" actId="26606"/>
          <ac:spMkLst>
            <pc:docMk/>
            <pc:sldMk cId="3885883835" sldId="282"/>
            <ac:spMk id="38" creationId="{4734BADF-9461-4621-B112-2D7BABEA7DD0}"/>
          </ac:spMkLst>
        </pc:spChg>
        <pc:spChg chg="add del">
          <ac:chgData name="Aditya Singh" userId="9407c92b-a096-4352-8d01-42db11c0551b" providerId="ADAL" clId="{53945091-71A7-471E-889A-9CB8D5278C01}" dt="2024-01-28T07:41:34.646" v="239" actId="26606"/>
          <ac:spMkLst>
            <pc:docMk/>
            <pc:sldMk cId="3885883835" sldId="282"/>
            <ac:spMk id="39" creationId="{6C0B120E-4EC7-EA34-0365-900B4EBD6AE1}"/>
          </ac:spMkLst>
        </pc:spChg>
        <pc:graphicFrameChg chg="add mod modGraphic">
          <ac:chgData name="Aditya Singh" userId="9407c92b-a096-4352-8d01-42db11c0551b" providerId="ADAL" clId="{53945091-71A7-471E-889A-9CB8D5278C01}" dt="2024-01-28T07:43:12.480" v="255" actId="14100"/>
          <ac:graphicFrameMkLst>
            <pc:docMk/>
            <pc:sldMk cId="3885883835" sldId="282"/>
            <ac:graphicFrameMk id="5" creationId="{4D049FAB-E816-4758-35B2-3F227FCEF9E6}"/>
          </ac:graphicFrameMkLst>
        </pc:graphicFrameChg>
        <pc:picChg chg="add mod">
          <ac:chgData name="Aditya Singh" userId="9407c92b-a096-4352-8d01-42db11c0551b" providerId="ADAL" clId="{53945091-71A7-471E-889A-9CB8D5278C01}" dt="2024-01-28T07:43:32.250" v="260" actId="1076"/>
          <ac:picMkLst>
            <pc:docMk/>
            <pc:sldMk cId="3885883835" sldId="282"/>
            <ac:picMk id="7" creationId="{2B69B573-31A9-B725-9BD7-D79691EBFF81}"/>
          </ac:picMkLst>
        </pc:picChg>
      </pc:sldChg>
      <pc:sldChg chg="addSp delSp modSp new mod">
        <pc:chgData name="Aditya Singh" userId="9407c92b-a096-4352-8d01-42db11c0551b" providerId="ADAL" clId="{53945091-71A7-471E-889A-9CB8D5278C01}" dt="2024-01-28T07:47:16.545" v="291" actId="14100"/>
        <pc:sldMkLst>
          <pc:docMk/>
          <pc:sldMk cId="922685139" sldId="283"/>
        </pc:sldMkLst>
        <pc:spChg chg="add del mod">
          <ac:chgData name="Aditya Singh" userId="9407c92b-a096-4352-8d01-42db11c0551b" providerId="ADAL" clId="{53945091-71A7-471E-889A-9CB8D5278C01}" dt="2024-01-28T07:45:58.457" v="272" actId="20577"/>
          <ac:spMkLst>
            <pc:docMk/>
            <pc:sldMk cId="922685139" sldId="283"/>
            <ac:spMk id="2" creationId="{CFF03B46-E677-1ADC-AFCA-648488D3AB96}"/>
          </ac:spMkLst>
        </pc:spChg>
        <pc:spChg chg="mod">
          <ac:chgData name="Aditya Singh" userId="9407c92b-a096-4352-8d01-42db11c0551b" providerId="ADAL" clId="{53945091-71A7-471E-889A-9CB8D5278C01}" dt="2024-01-28T07:46:43.148" v="283" actId="20577"/>
          <ac:spMkLst>
            <pc:docMk/>
            <pc:sldMk cId="922685139" sldId="283"/>
            <ac:spMk id="3" creationId="{ECC96099-CAB6-8B8E-3008-D7BE6ED40BD5}"/>
          </ac:spMkLst>
        </pc:spChg>
        <pc:spChg chg="add del mod">
          <ac:chgData name="Aditya Singh" userId="9407c92b-a096-4352-8d01-42db11c0551b" providerId="ADAL" clId="{53945091-71A7-471E-889A-9CB8D5278C01}" dt="2024-01-28T07:44:55.956" v="263"/>
          <ac:spMkLst>
            <pc:docMk/>
            <pc:sldMk cId="922685139" sldId="283"/>
            <ac:spMk id="6" creationId="{10A6C402-E021-DFFF-A0C7-B67F99D406C9}"/>
          </ac:spMkLst>
        </pc:spChg>
        <pc:graphicFrameChg chg="add del mod">
          <ac:chgData name="Aditya Singh" userId="9407c92b-a096-4352-8d01-42db11c0551b" providerId="ADAL" clId="{53945091-71A7-471E-889A-9CB8D5278C01}" dt="2024-01-28T07:44:55.956" v="263"/>
          <ac:graphicFrameMkLst>
            <pc:docMk/>
            <pc:sldMk cId="922685139" sldId="283"/>
            <ac:graphicFrameMk id="4" creationId="{194A24E9-BA62-1851-41BE-C377932CFB70}"/>
          </ac:graphicFrameMkLst>
        </pc:graphicFrameChg>
        <pc:graphicFrameChg chg="add del mod">
          <ac:chgData name="Aditya Singh" userId="9407c92b-a096-4352-8d01-42db11c0551b" providerId="ADAL" clId="{53945091-71A7-471E-889A-9CB8D5278C01}" dt="2024-01-28T07:44:55.956" v="263"/>
          <ac:graphicFrameMkLst>
            <pc:docMk/>
            <pc:sldMk cId="922685139" sldId="283"/>
            <ac:graphicFrameMk id="5" creationId="{9939B864-DD94-E813-CF43-A511F1E8E00E}"/>
          </ac:graphicFrameMkLst>
        </pc:graphicFrameChg>
        <pc:graphicFrameChg chg="add mod modGraphic">
          <ac:chgData name="Aditya Singh" userId="9407c92b-a096-4352-8d01-42db11c0551b" providerId="ADAL" clId="{53945091-71A7-471E-889A-9CB8D5278C01}" dt="2024-01-28T07:46:15.446" v="275" actId="14100"/>
          <ac:graphicFrameMkLst>
            <pc:docMk/>
            <pc:sldMk cId="922685139" sldId="283"/>
            <ac:graphicFrameMk id="7" creationId="{D37D7A4F-0AF1-D4F3-78EB-7DC541DBA80E}"/>
          </ac:graphicFrameMkLst>
        </pc:graphicFrameChg>
        <pc:graphicFrameChg chg="add mod modGraphic">
          <ac:chgData name="Aditya Singh" userId="9407c92b-a096-4352-8d01-42db11c0551b" providerId="ADAL" clId="{53945091-71A7-471E-889A-9CB8D5278C01}" dt="2024-01-28T07:47:03.646" v="288" actId="14100"/>
          <ac:graphicFrameMkLst>
            <pc:docMk/>
            <pc:sldMk cId="922685139" sldId="283"/>
            <ac:graphicFrameMk id="8" creationId="{4A7FD85F-B4F2-77C9-FEBB-6686D686A654}"/>
          </ac:graphicFrameMkLst>
        </pc:graphicFrameChg>
        <pc:picChg chg="add mod">
          <ac:chgData name="Aditya Singh" userId="9407c92b-a096-4352-8d01-42db11c0551b" providerId="ADAL" clId="{53945091-71A7-471E-889A-9CB8D5278C01}" dt="2024-01-28T07:47:16.545" v="291" actId="14100"/>
          <ac:picMkLst>
            <pc:docMk/>
            <pc:sldMk cId="922685139" sldId="283"/>
            <ac:picMk id="9" creationId="{E98C52B6-79C6-0E7F-B4AA-D0AAB2C1C266}"/>
          </ac:picMkLst>
        </pc:picChg>
      </pc:sldChg>
      <pc:sldChg chg="addSp delSp modSp new mod">
        <pc:chgData name="Aditya Singh" userId="9407c92b-a096-4352-8d01-42db11c0551b" providerId="ADAL" clId="{53945091-71A7-471E-889A-9CB8D5278C01}" dt="2024-01-28T08:01:37.116" v="376"/>
        <pc:sldMkLst>
          <pc:docMk/>
          <pc:sldMk cId="2707048423" sldId="284"/>
        </pc:sldMkLst>
        <pc:spChg chg="mod">
          <ac:chgData name="Aditya Singh" userId="9407c92b-a096-4352-8d01-42db11c0551b" providerId="ADAL" clId="{53945091-71A7-471E-889A-9CB8D5278C01}" dt="2024-01-28T07:49:55.117" v="315" actId="20577"/>
          <ac:spMkLst>
            <pc:docMk/>
            <pc:sldMk cId="2707048423" sldId="284"/>
            <ac:spMk id="2" creationId="{08C41E3C-A960-4FF9-B37A-97ABCA655ED4}"/>
          </ac:spMkLst>
        </pc:spChg>
        <pc:spChg chg="del mod">
          <ac:chgData name="Aditya Singh" userId="9407c92b-a096-4352-8d01-42db11c0551b" providerId="ADAL" clId="{53945091-71A7-471E-889A-9CB8D5278C01}" dt="2024-01-28T07:49:26.895" v="308" actId="21"/>
          <ac:spMkLst>
            <pc:docMk/>
            <pc:sldMk cId="2707048423" sldId="284"/>
            <ac:spMk id="3" creationId="{5F1A093F-57BC-490C-FAA1-628B75172DFD}"/>
          </ac:spMkLst>
        </pc:spChg>
        <pc:graphicFrameChg chg="add mod modGraphic">
          <ac:chgData name="Aditya Singh" userId="9407c92b-a096-4352-8d01-42db11c0551b" providerId="ADAL" clId="{53945091-71A7-471E-889A-9CB8D5278C01}" dt="2024-01-28T07:49:50.875" v="313" actId="1076"/>
          <ac:graphicFrameMkLst>
            <pc:docMk/>
            <pc:sldMk cId="2707048423" sldId="284"/>
            <ac:graphicFrameMk id="4" creationId="{144E56B0-BCBA-3DA8-2AD4-8F18ABEC7DD0}"/>
          </ac:graphicFrameMkLst>
        </pc:graphicFrameChg>
        <pc:picChg chg="add mod">
          <ac:chgData name="Aditya Singh" userId="9407c92b-a096-4352-8d01-42db11c0551b" providerId="ADAL" clId="{53945091-71A7-471E-889A-9CB8D5278C01}" dt="2024-01-28T08:01:37.116" v="376"/>
          <ac:picMkLst>
            <pc:docMk/>
            <pc:sldMk cId="2707048423" sldId="284"/>
            <ac:picMk id="5" creationId="{2FEAE0C6-BD51-019F-6138-B734CFCDF1AF}"/>
          </ac:picMkLst>
        </pc:picChg>
      </pc:sldChg>
      <pc:sldChg chg="addSp delSp modSp new mod">
        <pc:chgData name="Aditya Singh" userId="9407c92b-a096-4352-8d01-42db11c0551b" providerId="ADAL" clId="{53945091-71A7-471E-889A-9CB8D5278C01}" dt="2024-01-28T08:01:46.224" v="378" actId="14100"/>
        <pc:sldMkLst>
          <pc:docMk/>
          <pc:sldMk cId="326983124" sldId="285"/>
        </pc:sldMkLst>
        <pc:spChg chg="mod">
          <ac:chgData name="Aditya Singh" userId="9407c92b-a096-4352-8d01-42db11c0551b" providerId="ADAL" clId="{53945091-71A7-471E-889A-9CB8D5278C01}" dt="2024-01-28T07:58:00.024" v="335" actId="5793"/>
          <ac:spMkLst>
            <pc:docMk/>
            <pc:sldMk cId="326983124" sldId="285"/>
            <ac:spMk id="2" creationId="{71B52B88-62F7-19C3-191E-49A1DE93032E}"/>
          </ac:spMkLst>
        </pc:spChg>
        <pc:spChg chg="del mod">
          <ac:chgData name="Aditya Singh" userId="9407c92b-a096-4352-8d01-42db11c0551b" providerId="ADAL" clId="{53945091-71A7-471E-889A-9CB8D5278C01}" dt="2024-01-28T07:57:51.038" v="329" actId="21"/>
          <ac:spMkLst>
            <pc:docMk/>
            <pc:sldMk cId="326983124" sldId="285"/>
            <ac:spMk id="3" creationId="{97992C0C-63FB-BDB7-63EF-91F6E45ABABA}"/>
          </ac:spMkLst>
        </pc:spChg>
        <pc:graphicFrameChg chg="add mod modGraphic">
          <ac:chgData name="Aditya Singh" userId="9407c92b-a096-4352-8d01-42db11c0551b" providerId="ADAL" clId="{53945091-71A7-471E-889A-9CB8D5278C01}" dt="2024-01-28T07:59:03.411" v="341" actId="13926"/>
          <ac:graphicFrameMkLst>
            <pc:docMk/>
            <pc:sldMk cId="326983124" sldId="285"/>
            <ac:graphicFrameMk id="4" creationId="{D34EB764-B783-794F-3931-6B94A4A59C93}"/>
          </ac:graphicFrameMkLst>
        </pc:graphicFrameChg>
        <pc:picChg chg="add mod">
          <ac:chgData name="Aditya Singh" userId="9407c92b-a096-4352-8d01-42db11c0551b" providerId="ADAL" clId="{53945091-71A7-471E-889A-9CB8D5278C01}" dt="2024-01-28T08:01:46.224" v="378" actId="14100"/>
          <ac:picMkLst>
            <pc:docMk/>
            <pc:sldMk cId="326983124" sldId="285"/>
            <ac:picMk id="5" creationId="{5D67D25B-191E-460C-8D47-2864C5F7D56D}"/>
          </ac:picMkLst>
        </pc:picChg>
      </pc:sldChg>
      <pc:sldChg chg="addSp modSp new mod ord">
        <pc:chgData name="Aditya Singh" userId="9407c92b-a096-4352-8d01-42db11c0551b" providerId="ADAL" clId="{53945091-71A7-471E-889A-9CB8D5278C01}" dt="2024-01-28T08:08:01.994" v="461"/>
        <pc:sldMkLst>
          <pc:docMk/>
          <pc:sldMk cId="1647948381" sldId="286"/>
        </pc:sldMkLst>
        <pc:spChg chg="mod">
          <ac:chgData name="Aditya Singh" userId="9407c92b-a096-4352-8d01-42db11c0551b" providerId="ADAL" clId="{53945091-71A7-471E-889A-9CB8D5278C01}" dt="2024-01-28T08:02:00.739" v="383" actId="1076"/>
          <ac:spMkLst>
            <pc:docMk/>
            <pc:sldMk cId="1647948381" sldId="286"/>
            <ac:spMk id="2" creationId="{C6617408-F0BF-DF5F-24A4-B49E98AF1626}"/>
          </ac:spMkLst>
        </pc:spChg>
        <pc:graphicFrameChg chg="add mod modGraphic">
          <ac:chgData name="Aditya Singh" userId="9407c92b-a096-4352-8d01-42db11c0551b" providerId="ADAL" clId="{53945091-71A7-471E-889A-9CB8D5278C01}" dt="2024-01-28T08:01:09.444" v="364" actId="14100"/>
          <ac:graphicFrameMkLst>
            <pc:docMk/>
            <pc:sldMk cId="1647948381" sldId="286"/>
            <ac:graphicFrameMk id="3" creationId="{F76EB6CF-6148-B992-F212-3734DBBB7A3C}"/>
          </ac:graphicFrameMkLst>
        </pc:graphicFrameChg>
        <pc:picChg chg="add mod">
          <ac:chgData name="Aditya Singh" userId="9407c92b-a096-4352-8d01-42db11c0551b" providerId="ADAL" clId="{53945091-71A7-471E-889A-9CB8D5278C01}" dt="2024-01-28T08:01:58.733" v="382"/>
          <ac:picMkLst>
            <pc:docMk/>
            <pc:sldMk cId="1647948381" sldId="286"/>
            <ac:picMk id="4" creationId="{CA947310-A863-4F06-8B41-1E78E6AA3472}"/>
          </ac:picMkLst>
        </pc:picChg>
      </pc:sldChg>
      <pc:sldChg chg="addSp modSp new mod">
        <pc:chgData name="Aditya Singh" userId="9407c92b-a096-4352-8d01-42db11c0551b" providerId="ADAL" clId="{53945091-71A7-471E-889A-9CB8D5278C01}" dt="2024-01-28T08:01:53.087" v="381" actId="1076"/>
        <pc:sldMkLst>
          <pc:docMk/>
          <pc:sldMk cId="839032306" sldId="287"/>
        </pc:sldMkLst>
        <pc:spChg chg="mod">
          <ac:chgData name="Aditya Singh" userId="9407c92b-a096-4352-8d01-42db11c0551b" providerId="ADAL" clId="{53945091-71A7-471E-889A-9CB8D5278C01}" dt="2024-01-28T08:01:53.087" v="381" actId="1076"/>
          <ac:spMkLst>
            <pc:docMk/>
            <pc:sldMk cId="839032306" sldId="287"/>
            <ac:spMk id="2" creationId="{272DD27E-A599-979B-F8F6-026950F750AD}"/>
          </ac:spMkLst>
        </pc:spChg>
        <pc:picChg chg="add mod">
          <ac:chgData name="Aditya Singh" userId="9407c92b-a096-4352-8d01-42db11c0551b" providerId="ADAL" clId="{53945091-71A7-471E-889A-9CB8D5278C01}" dt="2024-01-28T08:01:52.074" v="380" actId="14100"/>
          <ac:picMkLst>
            <pc:docMk/>
            <pc:sldMk cId="839032306" sldId="287"/>
            <ac:picMk id="3" creationId="{14B2DB02-8D39-214B-5AF8-EBD37B0237B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845A0F-95DA-47B0-BB16-EC8AEE6BACE4}" type="datetimeFigureOut">
              <a:rPr lang="en-IN" smtClean="0"/>
              <a:t>28-03-2024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DC580-FF50-412D-A4C0-8A3E8B7D2216}" type="slidenum">
              <a:rPr lang="en-IN" smtClean="0"/>
              <a:t>‹#›</a:t>
            </a:fld>
            <a:endParaRPr lang="en-IN"/>
          </a:p>
        </p:txBody>
      </p:sp>
    </p:spTree>
    <p:extLst>
      <p:ext uri="{BB962C8B-B14F-4D97-AF65-F5344CB8AC3E}">
        <p14:creationId xmlns:p14="http://schemas.microsoft.com/office/powerpoint/2010/main" val="220880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3A847-48F4-2204-89DD-6A7274CD2C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3EF9F8-0E31-5782-55D7-5FA008C46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3CEE9A-2DD4-5294-719C-5B4B910A11D9}"/>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5" name="Footer Placeholder 4">
            <a:extLst>
              <a:ext uri="{FF2B5EF4-FFF2-40B4-BE49-F238E27FC236}">
                <a16:creationId xmlns:a16="http://schemas.microsoft.com/office/drawing/2014/main" id="{A1C55B44-2396-1722-BEB9-40B4E46CAC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DAB5A5-05EA-69C5-EBC5-FC4C32BDBFBF}"/>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2229110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3D7DF-496F-BE75-D3BD-3717F5545C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1AE3DF-3133-B61A-3FBE-6193A96BBC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A22049-F0D5-F19D-CC50-CDFBCB8D562C}"/>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5" name="Footer Placeholder 4">
            <a:extLst>
              <a:ext uri="{FF2B5EF4-FFF2-40B4-BE49-F238E27FC236}">
                <a16:creationId xmlns:a16="http://schemas.microsoft.com/office/drawing/2014/main" id="{5FEC14BB-1C40-1BF1-3C8A-CFC1C92FED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5E7C89-187C-7B60-41F9-6265BACD74F5}"/>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3620492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D5078-0D20-F550-4484-FDF5E746A0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8B2939-56AB-2AFB-45AD-C19BB96443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1DD2C9-07B4-12DE-017E-275E1E671673}"/>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5" name="Footer Placeholder 4">
            <a:extLst>
              <a:ext uri="{FF2B5EF4-FFF2-40B4-BE49-F238E27FC236}">
                <a16:creationId xmlns:a16="http://schemas.microsoft.com/office/drawing/2014/main" id="{4B33CE6C-F066-FAEA-F80F-E1B5BFE69F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F3EFD0-09E2-3447-9257-688AFF411D2F}"/>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3653485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D4E9A-8FEB-4A0C-1C26-1BE20953D9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806497-D6F9-D6DB-C46E-40DA32987C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FB0220-9E01-FCAC-1B79-DD679399B3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5C097B-B308-71F9-992B-316114DA18DD}"/>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6" name="Footer Placeholder 5">
            <a:extLst>
              <a:ext uri="{FF2B5EF4-FFF2-40B4-BE49-F238E27FC236}">
                <a16:creationId xmlns:a16="http://schemas.microsoft.com/office/drawing/2014/main" id="{8722E625-4081-BE3D-B1C4-D651B5936A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C767B4-66D9-5E6A-B2EF-31C1810AD4FD}"/>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2238364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1811-B568-0B61-B639-8F5B4F0058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5F060E-71E0-4303-3D4C-FD2F8882C7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A10271-8378-7F3A-1C6B-0CC3C961B7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CC817E-F5FB-A856-7547-162FB1BC21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579708-2122-0FA7-6AE5-4504784942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CA3246-A9E2-573C-ABBA-151944B13AB9}"/>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8" name="Footer Placeholder 7">
            <a:extLst>
              <a:ext uri="{FF2B5EF4-FFF2-40B4-BE49-F238E27FC236}">
                <a16:creationId xmlns:a16="http://schemas.microsoft.com/office/drawing/2014/main" id="{5BAE5747-0A6D-6748-0E0D-1B0F0FAB7C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40E20F-4295-98BF-EFD7-8EAB23E70AF9}"/>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3327498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0618-04E7-1848-D8F8-AB8B887674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8A849B-ACE9-CCF2-E041-C95F081923E7}"/>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4" name="Footer Placeholder 3">
            <a:extLst>
              <a:ext uri="{FF2B5EF4-FFF2-40B4-BE49-F238E27FC236}">
                <a16:creationId xmlns:a16="http://schemas.microsoft.com/office/drawing/2014/main" id="{FA73A314-A8A0-C1C8-846A-BCB625F7A48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AC4520-6C87-8605-F1E7-6579A166336D}"/>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3345482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007CA9-4509-C861-50DF-D17C24417877}"/>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3" name="Footer Placeholder 2">
            <a:extLst>
              <a:ext uri="{FF2B5EF4-FFF2-40B4-BE49-F238E27FC236}">
                <a16:creationId xmlns:a16="http://schemas.microsoft.com/office/drawing/2014/main" id="{68B23578-CBFF-22BC-21E6-F4F4C01741F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363946-26EC-0C04-5C9F-66AC21B1EA34}"/>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2037762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B8560-A6DF-1211-5FE5-804CB7660B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EB6E7E2-0E37-E25B-B756-9294A76D1B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70E06D-2A00-47E1-1D03-34361E37E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40B361-3114-9D6E-85EB-EB3A3D58A717}"/>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6" name="Footer Placeholder 5">
            <a:extLst>
              <a:ext uri="{FF2B5EF4-FFF2-40B4-BE49-F238E27FC236}">
                <a16:creationId xmlns:a16="http://schemas.microsoft.com/office/drawing/2014/main" id="{A231D9B7-8A0C-732B-37CA-705051819B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DF3802-96D1-6EAC-FB0C-5186AF02D256}"/>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1050914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F80D-53B8-52EA-A72A-B1DFFFAFCA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C77D8C-A713-5F08-6E6E-243D5631DF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879BFC-FAB0-4768-818C-BE64245B1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8104F3-8030-A9FF-DFA4-A773A5F44009}"/>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6" name="Footer Placeholder 5">
            <a:extLst>
              <a:ext uri="{FF2B5EF4-FFF2-40B4-BE49-F238E27FC236}">
                <a16:creationId xmlns:a16="http://schemas.microsoft.com/office/drawing/2014/main" id="{1EB0815F-8E86-FBFA-ADDF-7740D80AE2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09AD63-0E91-24C9-A779-36330C55B1DA}"/>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2623976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5DF93-37E7-E85E-0D49-AD239DE6D7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9134FE-072D-8DA9-A187-779D4F932D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84A0FA-BE2E-78DA-7F0D-43EAFA7424F3}"/>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5" name="Footer Placeholder 4">
            <a:extLst>
              <a:ext uri="{FF2B5EF4-FFF2-40B4-BE49-F238E27FC236}">
                <a16:creationId xmlns:a16="http://schemas.microsoft.com/office/drawing/2014/main" id="{25A6FD71-3AFC-FC5B-FF0C-870E4951FF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CD1C91-14D9-67BF-200A-60789B6573FD}"/>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2113474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F7495E-EDC1-8A9B-1661-3A0E5CB2A8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2D8389-12DD-18A2-19C6-A2D76975D0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441168-4486-3C38-343A-AECD9CB1A31D}"/>
              </a:ext>
            </a:extLst>
          </p:cNvPr>
          <p:cNvSpPr>
            <a:spLocks noGrp="1"/>
          </p:cNvSpPr>
          <p:nvPr>
            <p:ph type="dt" sz="half" idx="10"/>
          </p:nvPr>
        </p:nvSpPr>
        <p:spPr/>
        <p:txBody>
          <a:bodyPr/>
          <a:lstStyle/>
          <a:p>
            <a:fld id="{EDB27C97-2A8B-4B3C-B4A3-9692F8FECFA0}" type="datetimeFigureOut">
              <a:rPr lang="en-IN" smtClean="0"/>
              <a:t>28-03-2024</a:t>
            </a:fld>
            <a:endParaRPr lang="en-IN"/>
          </a:p>
        </p:txBody>
      </p:sp>
      <p:sp>
        <p:nvSpPr>
          <p:cNvPr id="5" name="Footer Placeholder 4">
            <a:extLst>
              <a:ext uri="{FF2B5EF4-FFF2-40B4-BE49-F238E27FC236}">
                <a16:creationId xmlns:a16="http://schemas.microsoft.com/office/drawing/2014/main" id="{6D494851-27A8-A643-325E-FDB46F9FC1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036DF8-282E-34A0-953D-8661EBA5A01F}"/>
              </a:ext>
            </a:extLst>
          </p:cNvPr>
          <p:cNvSpPr>
            <a:spLocks noGrp="1"/>
          </p:cNvSpPr>
          <p:nvPr>
            <p:ph type="sldNum" sz="quarter" idx="12"/>
          </p:nvPr>
        </p:nvSpPr>
        <p:spPr/>
        <p:txBody>
          <a:bodyPr/>
          <a:lstStyle/>
          <a:p>
            <a:fld id="{21623704-1D7D-451C-82BC-27D2367718A8}" type="slidenum">
              <a:rPr lang="en-IN" smtClean="0"/>
              <a:t>‹#›</a:t>
            </a:fld>
            <a:endParaRPr lang="en-IN"/>
          </a:p>
        </p:txBody>
      </p:sp>
    </p:spTree>
    <p:extLst>
      <p:ext uri="{BB962C8B-B14F-4D97-AF65-F5344CB8AC3E}">
        <p14:creationId xmlns:p14="http://schemas.microsoft.com/office/powerpoint/2010/main" val="2926931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AS - 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F640452-C0E9-BB4A-8CF5-CE4FAA54E306}"/>
              </a:ext>
            </a:extLst>
          </p:cNvPr>
          <p:cNvSpPr/>
          <p:nvPr/>
        </p:nvSpPr>
        <p:spPr>
          <a:xfrm>
            <a:off x="1" y="-8061"/>
            <a:ext cx="12163455" cy="6831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5" name="Picture 4" descr="A close up of a logo&#10;&#10;Description automatically generated">
            <a:extLst>
              <a:ext uri="{FF2B5EF4-FFF2-40B4-BE49-F238E27FC236}">
                <a16:creationId xmlns:a16="http://schemas.microsoft.com/office/drawing/2014/main" id="{55DCED66-1892-224F-B3AD-DC1323E4C9A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2971800" cy="6858000"/>
          </a:xfrm>
          <a:prstGeom prst="rect">
            <a:avLst/>
          </a:prstGeom>
        </p:spPr>
      </p:pic>
      <p:sp>
        <p:nvSpPr>
          <p:cNvPr id="9" name="Text Placeholder 32">
            <a:extLst>
              <a:ext uri="{FF2B5EF4-FFF2-40B4-BE49-F238E27FC236}">
                <a16:creationId xmlns:a16="http://schemas.microsoft.com/office/drawing/2014/main" id="{1231D9FA-7877-D144-875E-EB15705E83A1}"/>
              </a:ext>
            </a:extLst>
          </p:cNvPr>
          <p:cNvSpPr>
            <a:spLocks noGrp="1"/>
          </p:cNvSpPr>
          <p:nvPr>
            <p:ph type="body" sz="quarter" idx="10"/>
          </p:nvPr>
        </p:nvSpPr>
        <p:spPr>
          <a:xfrm>
            <a:off x="2205163" y="1167901"/>
            <a:ext cx="8520925" cy="2074832"/>
          </a:xfrm>
        </p:spPr>
        <p:txBody>
          <a:bodyPr anchor="b">
            <a:normAutofit/>
          </a:bodyPr>
          <a:lstStyle>
            <a:lvl1pPr marL="0" indent="0" algn="l">
              <a:buNone/>
              <a:defRPr lang="en-US" sz="4000" b="1" kern="1200" dirty="0">
                <a:solidFill>
                  <a:schemeClr val="bg1"/>
                </a:solidFill>
                <a:latin typeface="Calibri" panose="020F0502020204030204" pitchFamily="34" charset="0"/>
                <a:ea typeface="+mn-ea"/>
                <a:cs typeface="Calibri" panose="020F0502020204030204" pitchFamily="34" charset="0"/>
              </a:defRPr>
            </a:lvl1pPr>
          </a:lstStyle>
          <a:p>
            <a:pPr lvl="0"/>
            <a:r>
              <a:rPr lang="en-US"/>
              <a:t>Click to edit Master text styles</a:t>
            </a:r>
          </a:p>
        </p:txBody>
      </p:sp>
      <p:sp>
        <p:nvSpPr>
          <p:cNvPr id="10" name="Text Placeholder 34">
            <a:extLst>
              <a:ext uri="{FF2B5EF4-FFF2-40B4-BE49-F238E27FC236}">
                <a16:creationId xmlns:a16="http://schemas.microsoft.com/office/drawing/2014/main" id="{9B949CCB-8408-0B41-9681-4ECA35605A82}"/>
              </a:ext>
            </a:extLst>
          </p:cNvPr>
          <p:cNvSpPr>
            <a:spLocks noGrp="1"/>
          </p:cNvSpPr>
          <p:nvPr>
            <p:ph type="body" sz="quarter" idx="11"/>
          </p:nvPr>
        </p:nvSpPr>
        <p:spPr>
          <a:xfrm>
            <a:off x="2205163" y="3312584"/>
            <a:ext cx="8520925" cy="1945216"/>
          </a:xfrm>
        </p:spPr>
        <p:txBody>
          <a:bodyPr>
            <a:normAutofit/>
          </a:bodyPr>
          <a:lstStyle>
            <a:lvl1pPr marL="0" indent="0" algn="l">
              <a:buNone/>
              <a:defRPr sz="2667">
                <a:solidFill>
                  <a:schemeClr val="accent1">
                    <a:lumMod val="60000"/>
                    <a:lumOff val="40000"/>
                  </a:schemeClr>
                </a:solidFill>
                <a:latin typeface="+mj-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11" name="Rectangle 10">
            <a:extLst>
              <a:ext uri="{FF2B5EF4-FFF2-40B4-BE49-F238E27FC236}">
                <a16:creationId xmlns:a16="http://schemas.microsoft.com/office/drawing/2014/main" id="{60F2F4D0-EB0E-3842-9785-6EF69081820E}"/>
              </a:ext>
            </a:extLst>
          </p:cNvPr>
          <p:cNvSpPr/>
          <p:nvPr/>
        </p:nvSpPr>
        <p:spPr>
          <a:xfrm>
            <a:off x="1" y="0"/>
            <a:ext cx="3207900" cy="6864096"/>
          </a:xfrm>
          <a:prstGeom prst="rect">
            <a:avLst/>
          </a:prstGeom>
          <a:gradFill flip="none" rotWithShape="1">
            <a:gsLst>
              <a:gs pos="2000">
                <a:schemeClr val="tx2">
                  <a:alpha val="0"/>
                </a:schemeClr>
              </a:gs>
              <a:gs pos="100000">
                <a:schemeClr val="tx2">
                  <a:alpha val="36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TextBox 4">
            <a:extLst>
              <a:ext uri="{FF2B5EF4-FFF2-40B4-BE49-F238E27FC236}">
                <a16:creationId xmlns:a16="http://schemas.microsoft.com/office/drawing/2014/main" id="{64A8B58C-CD7F-6F4B-B6E8-178EEF4B15DC}"/>
              </a:ext>
            </a:extLst>
          </p:cNvPr>
          <p:cNvSpPr txBox="1"/>
          <p:nvPr/>
        </p:nvSpPr>
        <p:spPr>
          <a:xfrm>
            <a:off x="4413504" y="6619449"/>
            <a:ext cx="3352800" cy="194990"/>
          </a:xfrm>
          <a:prstGeom prst="rect">
            <a:avLst/>
          </a:prstGeom>
          <a:noFill/>
        </p:spPr>
        <p:txBody>
          <a:bodyPr wrap="square" anchor="b" anchorCtr="0">
            <a:spAutoFit/>
          </a:bodyPr>
          <a:lstStyle/>
          <a:p>
            <a:pPr marL="0" marR="0" lvl="0" indent="0" algn="ctr" defTabSz="365742" rtl="0" eaLnBrk="0" fontAlgn="auto" latinLnBrk="0" hangingPunct="0">
              <a:lnSpc>
                <a:spcPct val="100000"/>
              </a:lnSpc>
              <a:spcBef>
                <a:spcPts val="0"/>
              </a:spcBef>
              <a:spcAft>
                <a:spcPts val="0"/>
              </a:spcAft>
              <a:buClrTx/>
              <a:buSzTx/>
              <a:buFontTx/>
              <a:buNone/>
              <a:tabLst/>
              <a:defRPr/>
            </a:pPr>
            <a:r>
              <a:rPr kumimoji="0" lang="en-US" sz="667" b="0" i="0" u="none" strike="noStrike" kern="300" cap="none" spc="67" normalizeH="0" baseline="0" noProof="0" dirty="0">
                <a:ln>
                  <a:noFill/>
                </a:ln>
                <a:solidFill>
                  <a:schemeClr val="bg1"/>
                </a:solidFill>
                <a:effectLst/>
                <a:uLnTx/>
                <a:uFillTx/>
                <a:latin typeface="+mn-lt"/>
                <a:ea typeface="Calibri" charset="0"/>
                <a:cs typeface="Arial" panose="020B0604020202020204" pitchFamily="34" charset="0"/>
              </a:rPr>
              <a:t>Copyright © SAS Institute Inc. All rights reserved.</a:t>
            </a:r>
          </a:p>
        </p:txBody>
      </p:sp>
      <p:pic>
        <p:nvPicPr>
          <p:cNvPr id="15" name="Picture 14">
            <a:extLst>
              <a:ext uri="{FF2B5EF4-FFF2-40B4-BE49-F238E27FC236}">
                <a16:creationId xmlns:a16="http://schemas.microsoft.com/office/drawing/2014/main" id="{BDDF8B79-0449-724D-9AE1-DD5080E117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48847" y="5967045"/>
            <a:ext cx="1483157" cy="825136"/>
          </a:xfrm>
          <a:prstGeom prst="rect">
            <a:avLst/>
          </a:prstGeom>
        </p:spPr>
      </p:pic>
    </p:spTree>
    <p:custDataLst>
      <p:tags r:id="rId1"/>
    </p:custDataLst>
    <p:extLst>
      <p:ext uri="{BB962C8B-B14F-4D97-AF65-F5344CB8AC3E}">
        <p14:creationId xmlns:p14="http://schemas.microsoft.com/office/powerpoint/2010/main" val="356831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5443F8-E518-86E4-3EF8-C619571EEF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DB5B91-F5EC-D70D-2F49-A05C273FF5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CD23D3-CCB5-887C-437A-76703C4C0F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27C97-2A8B-4B3C-B4A3-9692F8FECFA0}" type="datetimeFigureOut">
              <a:rPr lang="en-IN" smtClean="0"/>
              <a:t>28-03-2024</a:t>
            </a:fld>
            <a:endParaRPr lang="en-IN"/>
          </a:p>
        </p:txBody>
      </p:sp>
      <p:sp>
        <p:nvSpPr>
          <p:cNvPr id="5" name="Footer Placeholder 4">
            <a:extLst>
              <a:ext uri="{FF2B5EF4-FFF2-40B4-BE49-F238E27FC236}">
                <a16:creationId xmlns:a16="http://schemas.microsoft.com/office/drawing/2014/main" id="{4483B31B-D664-7B20-7C5E-D7C0B7EA77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703E6FA-6901-F1A1-861B-D2D616D2AE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623704-1D7D-451C-82BC-27D2367718A8}" type="slidenum">
              <a:rPr lang="en-IN" smtClean="0"/>
              <a:t>‹#›</a:t>
            </a:fld>
            <a:endParaRPr lang="en-IN"/>
          </a:p>
        </p:txBody>
      </p:sp>
    </p:spTree>
    <p:extLst>
      <p:ext uri="{BB962C8B-B14F-4D97-AF65-F5344CB8AC3E}">
        <p14:creationId xmlns:p14="http://schemas.microsoft.com/office/powerpoint/2010/main" val="3302553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
        <p:nvSpPr>
          <p:cNvPr id="2" name="Text Placeholder 1">
            <a:extLst>
              <a:ext uri="{FF2B5EF4-FFF2-40B4-BE49-F238E27FC236}">
                <a16:creationId xmlns:a16="http://schemas.microsoft.com/office/drawing/2014/main" id="{8A922E20-F83F-47CA-BD3B-A363F79934CB}"/>
              </a:ext>
            </a:extLst>
          </p:cNvPr>
          <p:cNvSpPr>
            <a:spLocks noGrp="1"/>
          </p:cNvSpPr>
          <p:nvPr>
            <p:ph type="body" sz="quarter" idx="10"/>
          </p:nvPr>
        </p:nvSpPr>
        <p:spPr>
          <a:xfrm>
            <a:off x="2551580" y="1542559"/>
            <a:ext cx="8801271" cy="1520425"/>
          </a:xfrm>
        </p:spPr>
        <p:txBody>
          <a:bodyPr>
            <a:normAutofit/>
          </a:bodyPr>
          <a:lstStyle/>
          <a:p>
            <a:r>
              <a:rPr lang="en-US" sz="3600" dirty="0">
                <a:latin typeface="+mn-lt"/>
              </a:rPr>
              <a:t>ICICI – </a:t>
            </a:r>
            <a:r>
              <a:rPr lang="en-IN" sz="2800" dirty="0">
                <a:latin typeface="+mn-lt"/>
                <a:ea typeface="Times New Roman" panose="02020603050405020304" pitchFamily="18" charset="0"/>
              </a:rPr>
              <a:t>Converged Risk Assessment Framework</a:t>
            </a:r>
            <a:endParaRPr lang="en-US" sz="3600" dirty="0">
              <a:latin typeface="+mn-lt"/>
            </a:endParaRPr>
          </a:p>
          <a:p>
            <a:r>
              <a:rPr lang="en-US" sz="2000" dirty="0">
                <a:latin typeface="+mn-lt"/>
              </a:rPr>
              <a:t>SAS Governance and Compliance Manager</a:t>
            </a:r>
          </a:p>
        </p:txBody>
      </p:sp>
    </p:spTree>
    <p:extLst>
      <p:ext uri="{BB962C8B-B14F-4D97-AF65-F5344CB8AC3E}">
        <p14:creationId xmlns:p14="http://schemas.microsoft.com/office/powerpoint/2010/main" val="244700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884C10-106B-4A4D-574B-9A916B6B21C2}"/>
              </a:ext>
            </a:extLst>
          </p:cNvPr>
          <p:cNvSpPr>
            <a:spLocks noGrp="1"/>
          </p:cNvSpPr>
          <p:nvPr>
            <p:ph type="body" sz="quarter" idx="10"/>
          </p:nvPr>
        </p:nvSpPr>
        <p:spPr>
          <a:xfrm>
            <a:off x="2451385" y="858843"/>
            <a:ext cx="9445340" cy="5075232"/>
          </a:xfrm>
        </p:spPr>
        <p:txBody>
          <a:bodyPr>
            <a:noAutofit/>
          </a:bodyPr>
          <a:lstStyle/>
          <a:p>
            <a:r>
              <a:rPr lang="en-IN" sz="1600" b="0" dirty="0" smtClean="0">
                <a:latin typeface="+mn-lt"/>
              </a:rPr>
              <a:t>The document aims to establish a Converged Risk Assessment Framework, focusing on evaluating Compliance and Financial Reporting Risks that affect Bank’s operations at the Business, operations and support levels.</a:t>
            </a:r>
          </a:p>
          <a:p>
            <a:r>
              <a:rPr lang="en-IN" sz="1600" b="0" dirty="0" smtClean="0">
                <a:latin typeface="+mn-lt"/>
              </a:rPr>
              <a:t>This involves identifying applicable compliance requirements, assessing materiality for significant accounts and employing a methodology with stakeholder inputs to evaluate inherent risk, followed by implementation of the risk assessment methodology by the Bank.</a:t>
            </a:r>
          </a:p>
          <a:p>
            <a:pPr>
              <a:spcBef>
                <a:spcPts val="0"/>
              </a:spcBef>
            </a:pPr>
            <a:r>
              <a:rPr lang="en-IN" sz="1600" b="0" dirty="0"/>
              <a:t>Inherent Risk - Inherent risk is a form of baseline risk that exists due to natural level of risk associated with bank’s operations and activities. This type of risk  occurs naturally due to a factor other than a failure of internal control.</a:t>
            </a:r>
          </a:p>
          <a:p>
            <a:pPr>
              <a:spcBef>
                <a:spcPts val="0"/>
              </a:spcBef>
            </a:pPr>
            <a:endParaRPr lang="en-IN" sz="1600" b="0" dirty="0"/>
          </a:p>
          <a:p>
            <a:pPr>
              <a:spcBef>
                <a:spcPts val="0"/>
              </a:spcBef>
            </a:pPr>
            <a:r>
              <a:rPr lang="en-IN" sz="1600" i="1" u="sng" dirty="0"/>
              <a:t>Inherent Risk </a:t>
            </a:r>
            <a:r>
              <a:rPr lang="en-IN" sz="1600" i="1" u="sng" dirty="0" smtClean="0"/>
              <a:t>Assessment:</a:t>
            </a:r>
            <a:r>
              <a:rPr lang="en-IN" sz="1600" b="0" i="1" dirty="0" smtClean="0"/>
              <a:t> </a:t>
            </a:r>
            <a:r>
              <a:rPr lang="en-IN" sz="1600" b="0" dirty="0"/>
              <a:t>Inherent risk is defined as ‘the status of risk (measured through impact and/or likelihood) without considering any direct controls that the Bank may already have in place</a:t>
            </a:r>
            <a:r>
              <a:rPr lang="en-IN" sz="1600" b="0" dirty="0" smtClean="0"/>
              <a:t>.</a:t>
            </a:r>
          </a:p>
          <a:p>
            <a:pPr>
              <a:spcBef>
                <a:spcPts val="0"/>
              </a:spcBef>
            </a:pPr>
            <a:endParaRPr lang="en-IN" sz="1600" b="0" dirty="0"/>
          </a:p>
          <a:p>
            <a:pPr>
              <a:spcBef>
                <a:spcPts val="0"/>
              </a:spcBef>
            </a:pPr>
            <a:r>
              <a:rPr lang="en-IN" sz="1600" i="1" u="sng" dirty="0" smtClean="0"/>
              <a:t>Regulation:</a:t>
            </a:r>
            <a:r>
              <a:rPr lang="en-IN" sz="1600" b="0" dirty="0" smtClean="0"/>
              <a:t> </a:t>
            </a:r>
            <a:r>
              <a:rPr lang="en-IN" sz="1600" b="0" dirty="0"/>
              <a:t>Regulation is the process of developing policies or establishing guidelines to enforce rules and regulations on the banking system</a:t>
            </a:r>
            <a:r>
              <a:rPr lang="en-IN" sz="1600" b="0" dirty="0" smtClean="0"/>
              <a:t>.</a:t>
            </a:r>
          </a:p>
          <a:p>
            <a:pPr>
              <a:spcBef>
                <a:spcPts val="0"/>
              </a:spcBef>
            </a:pPr>
            <a:endParaRPr lang="en-IN" sz="1600" b="0" dirty="0"/>
          </a:p>
          <a:p>
            <a:pPr>
              <a:spcBef>
                <a:spcPts val="0"/>
              </a:spcBef>
            </a:pPr>
            <a:r>
              <a:rPr lang="en-IN" sz="1600" i="1" u="sng" dirty="0" smtClean="0"/>
              <a:t>Compliance:</a:t>
            </a:r>
            <a:r>
              <a:rPr lang="en-IN" sz="1600" b="0" dirty="0" smtClean="0"/>
              <a:t> Bank </a:t>
            </a:r>
            <a:r>
              <a:rPr lang="en-IN" sz="1600" b="0" dirty="0"/>
              <a:t>compliance is an intricate and essential aspect of the banking industry, intertwining adherence to a diverse array of rules, regulations, and standards</a:t>
            </a:r>
            <a:r>
              <a:rPr lang="en-IN" sz="1600" b="0" dirty="0" smtClean="0"/>
              <a:t>.</a:t>
            </a:r>
          </a:p>
          <a:p>
            <a:pPr>
              <a:spcBef>
                <a:spcPts val="0"/>
              </a:spcBef>
            </a:pPr>
            <a:endParaRPr lang="en-IN" sz="1600" b="0" dirty="0"/>
          </a:p>
          <a:p>
            <a:pPr>
              <a:spcBef>
                <a:spcPts val="0"/>
              </a:spcBef>
            </a:pPr>
            <a:r>
              <a:rPr lang="en-IN" sz="1600" i="1" u="sng" dirty="0" smtClean="0"/>
              <a:t>Obligation:</a:t>
            </a:r>
            <a:r>
              <a:rPr lang="en-IN" sz="1600" b="0" u="sng" dirty="0" smtClean="0"/>
              <a:t> </a:t>
            </a:r>
            <a:r>
              <a:rPr lang="en-IN" sz="1600" b="0" dirty="0" smtClean="0"/>
              <a:t>Obligation </a:t>
            </a:r>
            <a:r>
              <a:rPr lang="en-IN" sz="1600" b="0" dirty="0"/>
              <a:t>is the responsibility or commitment of the bank that bank is bound to </a:t>
            </a:r>
            <a:r>
              <a:rPr lang="en-IN" sz="1600" b="0" dirty="0" smtClean="0"/>
              <a:t>fulfil. </a:t>
            </a:r>
            <a:r>
              <a:rPr lang="en-IN" sz="1600" b="0" dirty="0"/>
              <a:t>This includes obligations to customers such as honouring withdrawals, processing transactions, </a:t>
            </a:r>
            <a:r>
              <a:rPr lang="en-IN" sz="1600" b="0" dirty="0" smtClean="0"/>
              <a:t>etc. </a:t>
            </a:r>
            <a:r>
              <a:rPr lang="en-IN" sz="1600" b="0" dirty="0"/>
              <a:t>and obligations to regulatory authorities involving compliance with laws, reporting requirements, maintaining financial stability, etc</a:t>
            </a:r>
            <a:r>
              <a:rPr lang="en-IN" sz="1600" b="0" dirty="0" smtClean="0"/>
              <a:t>.</a:t>
            </a:r>
            <a:endParaRPr lang="en-IN" sz="1600" b="0" dirty="0"/>
          </a:p>
        </p:txBody>
      </p:sp>
      <p:sp>
        <p:nvSpPr>
          <p:cNvPr id="9" name="TextBox 8"/>
          <p:cNvSpPr txBox="1"/>
          <p:nvPr/>
        </p:nvSpPr>
        <p:spPr>
          <a:xfrm>
            <a:off x="2946496" y="335623"/>
            <a:ext cx="7397598" cy="523220"/>
          </a:xfrm>
          <a:prstGeom prst="rect">
            <a:avLst/>
          </a:prstGeom>
          <a:noFill/>
        </p:spPr>
        <p:txBody>
          <a:bodyPr wrap="square" rtlCol="0">
            <a:spAutoFit/>
          </a:bodyPr>
          <a:lstStyle/>
          <a:p>
            <a:pPr algn="ctr"/>
            <a:r>
              <a:rPr lang="en-IN" sz="2800" b="1" i="1" dirty="0" smtClean="0">
                <a:solidFill>
                  <a:srgbClr val="00B0F0"/>
                </a:solidFill>
              </a:rPr>
              <a:t>Objective</a:t>
            </a:r>
            <a:endParaRPr lang="en-US" sz="2800" b="1" i="1" dirty="0">
              <a:solidFill>
                <a:srgbClr val="00B0F0"/>
              </a:solidFill>
            </a:endParaRPr>
          </a:p>
        </p:txBody>
      </p:sp>
      <p:pic>
        <p:nvPicPr>
          <p:cNvPr id="5" name="Picture 4">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108449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F8135F7-571F-E392-CDD3-19253C2F524C}"/>
              </a:ext>
            </a:extLst>
          </p:cNvPr>
          <p:cNvSpPr>
            <a:spLocks noGrp="1"/>
          </p:cNvSpPr>
          <p:nvPr>
            <p:ph type="body" sz="quarter" idx="10"/>
          </p:nvPr>
        </p:nvSpPr>
        <p:spPr>
          <a:xfrm>
            <a:off x="1891296" y="1289781"/>
            <a:ext cx="9230628" cy="4116822"/>
          </a:xfrm>
        </p:spPr>
        <p:txBody>
          <a:bodyPr>
            <a:noAutofit/>
          </a:bodyPr>
          <a:lstStyle/>
          <a:p>
            <a:pPr>
              <a:spcBef>
                <a:spcPts val="0"/>
              </a:spcBef>
            </a:pPr>
            <a:r>
              <a:rPr lang="en-IN" sz="1800" dirty="0"/>
              <a:t>Inherent Risk </a:t>
            </a:r>
            <a:r>
              <a:rPr lang="en-IN" sz="1800" b="0" dirty="0"/>
              <a:t>- Inherent risk is a form of </a:t>
            </a:r>
            <a:r>
              <a:rPr lang="en-IN" sz="1800" b="0" dirty="0" smtClean="0"/>
              <a:t>baseline risk that exists due to natural level of risk associated with bank’s operations and activities.</a:t>
            </a:r>
            <a:r>
              <a:rPr lang="en-IN" sz="1800" b="0" dirty="0"/>
              <a:t> This type of risk  </a:t>
            </a:r>
            <a:r>
              <a:rPr lang="en-IN" sz="1800" b="0" dirty="0" smtClean="0"/>
              <a:t>occurs </a:t>
            </a:r>
            <a:r>
              <a:rPr lang="en-IN" sz="1800" b="0" dirty="0"/>
              <a:t>naturally due to a factor other than a failure of internal control</a:t>
            </a:r>
            <a:r>
              <a:rPr lang="en-IN" sz="1800" b="0" dirty="0" smtClean="0"/>
              <a:t>.</a:t>
            </a:r>
          </a:p>
          <a:p>
            <a:pPr>
              <a:spcBef>
                <a:spcPts val="0"/>
              </a:spcBef>
            </a:pPr>
            <a:endParaRPr lang="en-IN" sz="1000" b="0" dirty="0"/>
          </a:p>
          <a:p>
            <a:pPr>
              <a:spcBef>
                <a:spcPts val="0"/>
              </a:spcBef>
            </a:pPr>
            <a:r>
              <a:rPr lang="en-IN" sz="1800" dirty="0"/>
              <a:t>Inherent Risk Assessment </a:t>
            </a:r>
            <a:r>
              <a:rPr lang="en-IN" sz="1800" b="0" dirty="0"/>
              <a:t>- Inherent risk is defined as ‘the status of risk (measured through impact and/or likelihood) without considering any direct controls that the Bank may already have in place</a:t>
            </a:r>
            <a:r>
              <a:rPr lang="en-IN" sz="1800" b="0" dirty="0" smtClean="0"/>
              <a:t>.</a:t>
            </a:r>
          </a:p>
          <a:p>
            <a:pPr>
              <a:spcBef>
                <a:spcPts val="0"/>
              </a:spcBef>
            </a:pPr>
            <a:endParaRPr lang="en-IN" sz="1000" b="0" dirty="0"/>
          </a:p>
          <a:p>
            <a:pPr>
              <a:spcBef>
                <a:spcPts val="0"/>
              </a:spcBef>
            </a:pPr>
            <a:r>
              <a:rPr lang="en-IN" sz="1800" dirty="0" smtClean="0"/>
              <a:t>Regulation</a:t>
            </a:r>
            <a:r>
              <a:rPr lang="en-IN" sz="1800" b="0" dirty="0" smtClean="0"/>
              <a:t> - Regulation </a:t>
            </a:r>
            <a:r>
              <a:rPr lang="en-IN" sz="1800" b="0" dirty="0"/>
              <a:t>is the process of developing policies or establishing guidelines to enforce rules and regulations on the banking system</a:t>
            </a:r>
            <a:r>
              <a:rPr lang="en-IN" sz="1800" b="0" dirty="0" smtClean="0"/>
              <a:t>.</a:t>
            </a:r>
          </a:p>
          <a:p>
            <a:pPr>
              <a:spcBef>
                <a:spcPts val="0"/>
              </a:spcBef>
            </a:pPr>
            <a:endParaRPr lang="en-IN" sz="1000" b="0" dirty="0"/>
          </a:p>
          <a:p>
            <a:pPr>
              <a:spcBef>
                <a:spcPts val="0"/>
              </a:spcBef>
            </a:pPr>
            <a:r>
              <a:rPr lang="en-IN" sz="1800" dirty="0" smtClean="0"/>
              <a:t>Compliance</a:t>
            </a:r>
            <a:r>
              <a:rPr lang="en-IN" sz="1800" b="0" dirty="0" smtClean="0"/>
              <a:t> - Bank </a:t>
            </a:r>
            <a:r>
              <a:rPr lang="en-IN" sz="1800" b="0" dirty="0"/>
              <a:t>compliance is an intricate and essential aspect of the banking industry, intertwining adherence to a diverse array of rules, regulations, and standards</a:t>
            </a:r>
            <a:r>
              <a:rPr lang="en-IN" sz="1800" b="0" dirty="0" smtClean="0"/>
              <a:t>.</a:t>
            </a:r>
          </a:p>
          <a:p>
            <a:pPr>
              <a:spcBef>
                <a:spcPts val="0"/>
              </a:spcBef>
            </a:pPr>
            <a:endParaRPr lang="en-IN" sz="1000" b="0" dirty="0"/>
          </a:p>
          <a:p>
            <a:pPr>
              <a:spcBef>
                <a:spcPts val="0"/>
              </a:spcBef>
            </a:pPr>
            <a:r>
              <a:rPr lang="en-IN" sz="1800" dirty="0" smtClean="0"/>
              <a:t>Obligation</a:t>
            </a:r>
            <a:r>
              <a:rPr lang="en-IN" sz="1800" b="0" dirty="0" smtClean="0"/>
              <a:t> - Obligation </a:t>
            </a:r>
            <a:r>
              <a:rPr lang="en-IN" sz="1800" b="0" dirty="0"/>
              <a:t>is the responsibility </a:t>
            </a:r>
            <a:r>
              <a:rPr lang="en-IN" sz="1800" b="0" dirty="0" smtClean="0"/>
              <a:t>or commitment of the bank that bank is bound to fulfill. This includes obligations to customers such as honouring withdrawals, processing transactions, </a:t>
            </a:r>
            <a:r>
              <a:rPr lang="en-IN" sz="1800" b="0" dirty="0" err="1" smtClean="0"/>
              <a:t>etc</a:t>
            </a:r>
            <a:r>
              <a:rPr lang="en-IN" sz="1800" b="0" dirty="0" smtClean="0"/>
              <a:t> and obligations to regulatory authorities involving compliance with laws, reporting requirements, maintaining financial stability, etc.</a:t>
            </a:r>
          </a:p>
        </p:txBody>
      </p:sp>
      <p:sp>
        <p:nvSpPr>
          <p:cNvPr id="9" name="TextBox 8"/>
          <p:cNvSpPr txBox="1"/>
          <p:nvPr/>
        </p:nvSpPr>
        <p:spPr>
          <a:xfrm>
            <a:off x="560173" y="792854"/>
            <a:ext cx="11219546" cy="400110"/>
          </a:xfrm>
          <a:prstGeom prst="rect">
            <a:avLst/>
          </a:prstGeom>
          <a:noFill/>
        </p:spPr>
        <p:txBody>
          <a:bodyPr wrap="square" rtlCol="0">
            <a:spAutoFit/>
          </a:bodyPr>
          <a:lstStyle/>
          <a:p>
            <a:pPr algn="ctr"/>
            <a:r>
              <a:rPr lang="en-IN" sz="2000" b="1" dirty="0" smtClean="0">
                <a:solidFill>
                  <a:schemeClr val="bg1"/>
                </a:solidFill>
              </a:rPr>
              <a:t>Basic Definitions</a:t>
            </a:r>
            <a:endParaRPr lang="en-US" sz="2000" b="1" dirty="0">
              <a:solidFill>
                <a:schemeClr val="bg1"/>
              </a:solidFill>
            </a:endParaRPr>
          </a:p>
        </p:txBody>
      </p:sp>
      <p:pic>
        <p:nvPicPr>
          <p:cNvPr id="5" name="Picture 4">
            <a:extLst>
              <a:ext uri="{FF2B5EF4-FFF2-40B4-BE49-F238E27FC236}">
                <a16:creationId xmlns:a16="http://schemas.microsoft.com/office/drawing/2014/main" id="{7D9EC8F7-B2A2-C106-478F-E5920F605F79}"/>
              </a:ext>
            </a:extLst>
          </p:cNvPr>
          <p:cNvPicPr>
            <a:picLocks noChangeAspect="1"/>
          </p:cNvPicPr>
          <p:nvPr/>
        </p:nvPicPr>
        <p:blipFill rotWithShape="1">
          <a:blip r:embed="rId3"/>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25678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B4DAD9-B0BF-9CD2-544B-BF92923D85D4}"/>
              </a:ext>
            </a:extLst>
          </p:cNvPr>
          <p:cNvSpPr txBox="1">
            <a:spLocks/>
          </p:cNvSpPr>
          <p:nvPr/>
        </p:nvSpPr>
        <p:spPr>
          <a:xfrm>
            <a:off x="1704465" y="480627"/>
            <a:ext cx="9940998" cy="9017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800" smtClean="0">
                <a:latin typeface="Calibri" panose="020F0502020204030204" pitchFamily="34" charset="0"/>
                <a:ea typeface="Calibri" panose="020F0502020204030204" pitchFamily="34" charset="0"/>
                <a:cs typeface="Times New Roman" panose="02020603050405020304" pitchFamily="18" charset="0"/>
              </a:rPr>
              <a:t/>
            </a:r>
            <a:br>
              <a:rPr lang="en-IN" sz="1800" smtClean="0">
                <a:latin typeface="Calibri" panose="020F0502020204030204" pitchFamily="34" charset="0"/>
                <a:ea typeface="Calibri" panose="020F0502020204030204" pitchFamily="34" charset="0"/>
                <a:cs typeface="Times New Roman" panose="02020603050405020304" pitchFamily="18" charset="0"/>
              </a:rPr>
            </a:br>
            <a:endParaRPr lang="en-IN" sz="3200" b="1" dirty="0">
              <a:solidFill>
                <a:schemeClr val="bg1"/>
              </a:solidFill>
              <a:latin typeface="Calibri" panose="020F0502020204030204" pitchFamily="34" charset="0"/>
              <a:ea typeface="+mn-ea"/>
              <a:cs typeface="Calibri" panose="020F0502020204030204" pitchFamily="34" charset="0"/>
            </a:endParaRPr>
          </a:p>
        </p:txBody>
      </p:sp>
      <p:sp>
        <p:nvSpPr>
          <p:cNvPr id="5" name="Content Placeholder 4">
            <a:extLst>
              <a:ext uri="{FF2B5EF4-FFF2-40B4-BE49-F238E27FC236}">
                <a16:creationId xmlns:a16="http://schemas.microsoft.com/office/drawing/2014/main" id="{BD8390B9-9640-FE87-E01D-D6FD75796BC9}"/>
              </a:ext>
            </a:extLst>
          </p:cNvPr>
          <p:cNvSpPr txBox="1">
            <a:spLocks/>
          </p:cNvSpPr>
          <p:nvPr/>
        </p:nvSpPr>
        <p:spPr>
          <a:xfrm>
            <a:off x="1901228" y="1311384"/>
            <a:ext cx="9547471" cy="37332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700" b="1" u="sng" dirty="0" smtClean="0">
                <a:solidFill>
                  <a:schemeClr val="bg1"/>
                </a:solidFill>
                <a:latin typeface="Calibri" panose="020F0502020204030204" pitchFamily="34" charset="0"/>
                <a:cs typeface="Calibri" panose="020F0502020204030204" pitchFamily="34" charset="0"/>
              </a:rPr>
              <a:t>Likelihood Parameters</a:t>
            </a:r>
          </a:p>
          <a:p>
            <a:r>
              <a:rPr lang="en-IN" sz="1700" dirty="0" smtClean="0">
                <a:solidFill>
                  <a:schemeClr val="bg1"/>
                </a:solidFill>
                <a:latin typeface="Calibri" panose="020F0502020204030204" pitchFamily="34" charset="0"/>
                <a:cs typeface="Calibri" panose="020F0502020204030204" pitchFamily="34" charset="0"/>
              </a:rPr>
              <a:t>Increase in business/ transaction volumes</a:t>
            </a:r>
          </a:p>
          <a:p>
            <a:r>
              <a:rPr lang="en-IN" sz="1700" dirty="0" smtClean="0">
                <a:solidFill>
                  <a:schemeClr val="bg1"/>
                </a:solidFill>
                <a:latin typeface="Calibri" panose="020F0502020204030204" pitchFamily="34" charset="0"/>
                <a:cs typeface="Calibri" panose="020F0502020204030204" pitchFamily="34" charset="0"/>
              </a:rPr>
              <a:t>Complexity or changes in products and systems</a:t>
            </a:r>
          </a:p>
          <a:p>
            <a:r>
              <a:rPr lang="en-IN" sz="1700" dirty="0" smtClean="0">
                <a:solidFill>
                  <a:schemeClr val="bg1"/>
                </a:solidFill>
                <a:latin typeface="Calibri" panose="020F0502020204030204" pitchFamily="34" charset="0"/>
                <a:cs typeface="Calibri" panose="020F0502020204030204" pitchFamily="34" charset="0"/>
              </a:rPr>
              <a:t>Number of regulatory returns (Critical/ non-critical returns/ feeder units to regulatory returns)</a:t>
            </a:r>
          </a:p>
          <a:p>
            <a:r>
              <a:rPr lang="en-IN" sz="1700" dirty="0" smtClean="0">
                <a:solidFill>
                  <a:schemeClr val="bg1"/>
                </a:solidFill>
                <a:latin typeface="Calibri" panose="020F0502020204030204" pitchFamily="34" charset="0"/>
                <a:cs typeface="Calibri" panose="020F0502020204030204" pitchFamily="34" charset="0"/>
              </a:rPr>
              <a:t>Number of compliance breaches reported in the previous 12 months</a:t>
            </a:r>
          </a:p>
          <a:p>
            <a:r>
              <a:rPr lang="en-IN" sz="1700" dirty="0" smtClean="0">
                <a:solidFill>
                  <a:schemeClr val="bg1"/>
                </a:solidFill>
                <a:latin typeface="Calibri" panose="020F0502020204030204" pitchFamily="34" charset="0"/>
                <a:cs typeface="Calibri" panose="020F0502020204030204" pitchFamily="34" charset="0"/>
              </a:rPr>
              <a:t>Number of ICOFR control failures in previous 12 months</a:t>
            </a:r>
          </a:p>
          <a:p>
            <a:pPr algn="just">
              <a:lnSpc>
                <a:spcPct val="105000"/>
              </a:lnSpc>
              <a:spcAft>
                <a:spcPts val="800"/>
              </a:spcAft>
            </a:pPr>
            <a:r>
              <a:rPr lang="en-IN" sz="1700" dirty="0" smtClean="0">
                <a:solidFill>
                  <a:schemeClr val="bg1"/>
                </a:solidFill>
                <a:latin typeface="Calibri" panose="020F0502020204030204" pitchFamily="34" charset="0"/>
                <a:cs typeface="Calibri" panose="020F0502020204030204" pitchFamily="34" charset="0"/>
              </a:rPr>
              <a:t>No. of Customer Complaints </a:t>
            </a:r>
          </a:p>
        </p:txBody>
      </p:sp>
      <p:sp>
        <p:nvSpPr>
          <p:cNvPr id="12" name="TextBox 11"/>
          <p:cNvSpPr txBox="1"/>
          <p:nvPr/>
        </p:nvSpPr>
        <p:spPr>
          <a:xfrm>
            <a:off x="560173" y="792854"/>
            <a:ext cx="11219546" cy="400110"/>
          </a:xfrm>
          <a:prstGeom prst="rect">
            <a:avLst/>
          </a:prstGeom>
          <a:noFill/>
        </p:spPr>
        <p:txBody>
          <a:bodyPr wrap="square" rtlCol="0">
            <a:spAutoFit/>
          </a:bodyPr>
          <a:lstStyle/>
          <a:p>
            <a:pPr algn="ctr"/>
            <a:r>
              <a:rPr lang="en-IN" sz="2000" b="1" dirty="0" smtClean="0">
                <a:solidFill>
                  <a:schemeClr val="bg1"/>
                </a:solidFill>
              </a:rPr>
              <a:t>Inherent Risk Parameters </a:t>
            </a:r>
            <a:endParaRPr lang="en-US" sz="2000" b="1" dirty="0">
              <a:solidFill>
                <a:schemeClr val="bg1"/>
              </a:solidFill>
            </a:endParaRPr>
          </a:p>
        </p:txBody>
      </p:sp>
      <p:pic>
        <p:nvPicPr>
          <p:cNvPr id="6" name="Picture 5">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301994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5921397"/>
              </p:ext>
            </p:extLst>
          </p:nvPr>
        </p:nvGraphicFramePr>
        <p:xfrm>
          <a:off x="1482293" y="2187115"/>
          <a:ext cx="10145026" cy="3823514"/>
        </p:xfrm>
        <a:graphic>
          <a:graphicData uri="http://schemas.openxmlformats.org/drawingml/2006/table">
            <a:tbl>
              <a:tblPr firstRow="1" firstCol="1" bandRow="1">
                <a:tableStyleId>{5C22544A-7EE6-4342-B048-85BDC9FD1C3A}</a:tableStyleId>
              </a:tblPr>
              <a:tblGrid>
                <a:gridCol w="365215">
                  <a:extLst>
                    <a:ext uri="{9D8B030D-6E8A-4147-A177-3AD203B41FA5}">
                      <a16:colId xmlns:a16="http://schemas.microsoft.com/office/drawing/2014/main" val="3929371093"/>
                    </a:ext>
                  </a:extLst>
                </a:gridCol>
                <a:gridCol w="3148004">
                  <a:extLst>
                    <a:ext uri="{9D8B030D-6E8A-4147-A177-3AD203B41FA5}">
                      <a16:colId xmlns:a16="http://schemas.microsoft.com/office/drawing/2014/main" val="4192094423"/>
                    </a:ext>
                  </a:extLst>
                </a:gridCol>
                <a:gridCol w="1294938">
                  <a:extLst>
                    <a:ext uri="{9D8B030D-6E8A-4147-A177-3AD203B41FA5}">
                      <a16:colId xmlns:a16="http://schemas.microsoft.com/office/drawing/2014/main" val="842575076"/>
                    </a:ext>
                  </a:extLst>
                </a:gridCol>
                <a:gridCol w="1378625">
                  <a:extLst>
                    <a:ext uri="{9D8B030D-6E8A-4147-A177-3AD203B41FA5}">
                      <a16:colId xmlns:a16="http://schemas.microsoft.com/office/drawing/2014/main" val="3083269558"/>
                    </a:ext>
                  </a:extLst>
                </a:gridCol>
                <a:gridCol w="1378625">
                  <a:extLst>
                    <a:ext uri="{9D8B030D-6E8A-4147-A177-3AD203B41FA5}">
                      <a16:colId xmlns:a16="http://schemas.microsoft.com/office/drawing/2014/main" val="960376824"/>
                    </a:ext>
                  </a:extLst>
                </a:gridCol>
                <a:gridCol w="1378625">
                  <a:extLst>
                    <a:ext uri="{9D8B030D-6E8A-4147-A177-3AD203B41FA5}">
                      <a16:colId xmlns:a16="http://schemas.microsoft.com/office/drawing/2014/main" val="2702622224"/>
                    </a:ext>
                  </a:extLst>
                </a:gridCol>
                <a:gridCol w="1200994">
                  <a:extLst>
                    <a:ext uri="{9D8B030D-6E8A-4147-A177-3AD203B41FA5}">
                      <a16:colId xmlns:a16="http://schemas.microsoft.com/office/drawing/2014/main" val="2936489067"/>
                    </a:ext>
                  </a:extLst>
                </a:gridCol>
              </a:tblGrid>
              <a:tr h="265290">
                <a:tc rowSpan="2">
                  <a:txBody>
                    <a:bodyPr/>
                    <a:lstStyle/>
                    <a:p>
                      <a:pPr marL="0" marR="0" algn="just">
                        <a:lnSpc>
                          <a:spcPct val="105000"/>
                        </a:lnSpc>
                        <a:spcBef>
                          <a:spcPts val="0"/>
                        </a:spcBef>
                        <a:spcAft>
                          <a:spcPts val="0"/>
                        </a:spcAft>
                      </a:pPr>
                      <a:r>
                        <a:rPr lang="en-US" sz="1200">
                          <a:effectLst/>
                        </a:rPr>
                        <a:t>Sr. No</a:t>
                      </a:r>
                      <a:endParaRPr lang="en-US" sz="1200">
                        <a:effectLst/>
                        <a:latin typeface="Calibri" panose="020F0502020204030204" pitchFamily="34" charset="0"/>
                        <a:ea typeface="Calibri" panose="020F0502020204030204" pitchFamily="34" charset="0"/>
                        <a:cs typeface="Mangal"/>
                      </a:endParaRPr>
                    </a:p>
                  </a:txBody>
                  <a:tcPr marL="48188" marR="48188" marT="0" marB="0"/>
                </a:tc>
                <a:tc rowSpan="2">
                  <a:txBody>
                    <a:bodyPr/>
                    <a:lstStyle/>
                    <a:p>
                      <a:pPr marL="0" marR="0" algn="ctr">
                        <a:lnSpc>
                          <a:spcPct val="105000"/>
                        </a:lnSpc>
                        <a:spcBef>
                          <a:spcPts val="0"/>
                        </a:spcBef>
                        <a:spcAft>
                          <a:spcPts val="0"/>
                        </a:spcAft>
                      </a:pPr>
                      <a:r>
                        <a:rPr lang="en-US" sz="1400" dirty="0">
                          <a:effectLst/>
                        </a:rPr>
                        <a:t>Parameter</a:t>
                      </a:r>
                      <a:endParaRPr lang="en-US" sz="1400" dirty="0">
                        <a:effectLst/>
                        <a:latin typeface="Calibri" panose="020F0502020204030204" pitchFamily="34" charset="0"/>
                        <a:ea typeface="Calibri" panose="020F0502020204030204" pitchFamily="34" charset="0"/>
                        <a:cs typeface="Mangal"/>
                      </a:endParaRPr>
                    </a:p>
                  </a:txBody>
                  <a:tcPr marL="48188" marR="48188" marT="0" marB="0"/>
                </a:tc>
                <a:tc gridSpan="5">
                  <a:txBody>
                    <a:bodyPr/>
                    <a:lstStyle/>
                    <a:p>
                      <a:pPr marL="0" marR="0" algn="ctr">
                        <a:lnSpc>
                          <a:spcPct val="105000"/>
                        </a:lnSpc>
                        <a:spcBef>
                          <a:spcPts val="0"/>
                        </a:spcBef>
                        <a:spcAft>
                          <a:spcPts val="0"/>
                        </a:spcAft>
                      </a:pPr>
                      <a:r>
                        <a:rPr lang="en-US" sz="1400" dirty="0">
                          <a:effectLst/>
                        </a:rPr>
                        <a:t>Rating</a:t>
                      </a:r>
                      <a:endParaRPr lang="en-US" sz="1400" dirty="0">
                        <a:effectLst/>
                        <a:latin typeface="Calibri" panose="020F0502020204030204" pitchFamily="34" charset="0"/>
                        <a:ea typeface="Calibri" panose="020F0502020204030204" pitchFamily="34" charset="0"/>
                        <a:cs typeface="Mangal"/>
                      </a:endParaRPr>
                    </a:p>
                  </a:txBody>
                  <a:tcPr marL="48188" marR="48188"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41206158"/>
                  </a:ext>
                </a:extLst>
              </a:tr>
              <a:tr h="211264">
                <a:tc vMerge="1">
                  <a:txBody>
                    <a:bodyPr/>
                    <a:lstStyle/>
                    <a:p>
                      <a:endParaRPr lang="en-US"/>
                    </a:p>
                  </a:txBody>
                  <a:tcPr/>
                </a:tc>
                <a:tc vMerge="1">
                  <a:txBody>
                    <a:bodyPr/>
                    <a:lstStyle/>
                    <a:p>
                      <a:endParaRPr lang="en-US"/>
                    </a:p>
                  </a:txBody>
                  <a:tcPr/>
                </a:tc>
                <a:tc>
                  <a:txBody>
                    <a:bodyPr/>
                    <a:lstStyle/>
                    <a:p>
                      <a:pPr marL="0" marR="0" algn="ctr">
                        <a:lnSpc>
                          <a:spcPct val="105000"/>
                        </a:lnSpc>
                        <a:spcBef>
                          <a:spcPts val="0"/>
                        </a:spcBef>
                        <a:spcAft>
                          <a:spcPts val="0"/>
                        </a:spcAft>
                      </a:pPr>
                      <a:r>
                        <a:rPr lang="en-US" sz="1100" b="1" dirty="0">
                          <a:effectLst/>
                        </a:rPr>
                        <a:t>Almost certain (25)</a:t>
                      </a:r>
                      <a:endParaRPr lang="en-US" sz="1100" b="1"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100" b="1" dirty="0">
                          <a:effectLst/>
                        </a:rPr>
                        <a:t>Likely (20)</a:t>
                      </a:r>
                      <a:endParaRPr lang="en-US" sz="1100" b="1"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100" b="1" dirty="0">
                          <a:effectLst/>
                        </a:rPr>
                        <a:t>Possible (15)</a:t>
                      </a:r>
                      <a:endParaRPr lang="en-US" sz="1100" b="1"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100" b="1" dirty="0">
                          <a:effectLst/>
                        </a:rPr>
                        <a:t>Unlikely (10)</a:t>
                      </a:r>
                      <a:endParaRPr lang="en-US" sz="1100" b="1"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100" b="1" dirty="0">
                          <a:effectLst/>
                        </a:rPr>
                        <a:t>Rare (5)</a:t>
                      </a:r>
                      <a:endParaRPr lang="en-US" sz="1100" b="1" dirty="0">
                        <a:effectLst/>
                        <a:latin typeface="Calibri" panose="020F0502020204030204" pitchFamily="34" charset="0"/>
                        <a:ea typeface="Calibri" panose="020F0502020204030204" pitchFamily="34" charset="0"/>
                        <a:cs typeface="Mangal"/>
                      </a:endParaRPr>
                    </a:p>
                  </a:txBody>
                  <a:tcPr marL="48188" marR="48188" marT="0" marB="0"/>
                </a:tc>
                <a:extLst>
                  <a:ext uri="{0D108BD9-81ED-4DB2-BD59-A6C34878D82A}">
                    <a16:rowId xmlns:a16="http://schemas.microsoft.com/office/drawing/2014/main" val="2762998626"/>
                  </a:ext>
                </a:extLst>
              </a:tr>
              <a:tr h="530903">
                <a:tc>
                  <a:txBody>
                    <a:bodyPr/>
                    <a:lstStyle/>
                    <a:p>
                      <a:pPr marL="0" marR="0" algn="just">
                        <a:lnSpc>
                          <a:spcPct val="105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just">
                        <a:lnSpc>
                          <a:spcPct val="105000"/>
                        </a:lnSpc>
                        <a:spcBef>
                          <a:spcPts val="0"/>
                        </a:spcBef>
                        <a:spcAft>
                          <a:spcPts val="0"/>
                        </a:spcAft>
                      </a:pPr>
                      <a:r>
                        <a:rPr lang="en-US" sz="1200" dirty="0">
                          <a:effectLst/>
                        </a:rPr>
                        <a:t>Increase in business/ transaction volumes</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Very High increase – more than 50%</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Substantial increase – more than 30% - 50%</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Moderate increase – (20 to 30%)</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Low increase – (5 to 20%)</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Very low or no increase &lt;5%</a:t>
                      </a:r>
                    </a:p>
                    <a:p>
                      <a:pPr marL="0" marR="0" algn="ctr">
                        <a:lnSpc>
                          <a:spcPct val="105000"/>
                        </a:lnSpc>
                        <a:spcBef>
                          <a:spcPts val="0"/>
                        </a:spcBef>
                        <a:spcAft>
                          <a:spcPts val="0"/>
                        </a:spcAft>
                      </a:pPr>
                      <a:r>
                        <a:rPr lang="en-US" sz="1200" dirty="0">
                          <a:effectLst/>
                        </a:rPr>
                        <a:t> </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extLst>
                  <a:ext uri="{0D108BD9-81ED-4DB2-BD59-A6C34878D82A}">
                    <a16:rowId xmlns:a16="http://schemas.microsoft.com/office/drawing/2014/main" val="1365414134"/>
                  </a:ext>
                </a:extLst>
              </a:tr>
              <a:tr h="889663">
                <a:tc>
                  <a:txBody>
                    <a:bodyPr/>
                    <a:lstStyle/>
                    <a:p>
                      <a:pPr marL="0" marR="0" algn="just">
                        <a:lnSpc>
                          <a:spcPct val="105000"/>
                        </a:lnSpc>
                        <a:spcBef>
                          <a:spcPts val="0"/>
                        </a:spcBef>
                        <a:spcAft>
                          <a:spcPts val="0"/>
                        </a:spcAft>
                      </a:pPr>
                      <a:r>
                        <a:rPr lang="en-US" sz="1200">
                          <a:effectLst/>
                        </a:rPr>
                        <a:t>2.</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just">
                        <a:lnSpc>
                          <a:spcPct val="105000"/>
                        </a:lnSpc>
                        <a:spcBef>
                          <a:spcPts val="0"/>
                        </a:spcBef>
                        <a:spcAft>
                          <a:spcPts val="0"/>
                        </a:spcAft>
                      </a:pPr>
                      <a:r>
                        <a:rPr lang="en-US" sz="1200">
                          <a:effectLst/>
                        </a:rPr>
                        <a:t>Complexity or changes in products and systems</a:t>
                      </a:r>
                    </a:p>
                    <a:p>
                      <a:pPr marL="0" marR="0" algn="just">
                        <a:lnSpc>
                          <a:spcPct val="105000"/>
                        </a:lnSpc>
                        <a:spcBef>
                          <a:spcPts val="0"/>
                        </a:spcBef>
                        <a:spcAft>
                          <a:spcPts val="0"/>
                        </a:spcAft>
                      </a:pPr>
                      <a:r>
                        <a:rPr lang="en-US" sz="1200">
                          <a:effectLst/>
                        </a:rPr>
                        <a:t> </a:t>
                      </a:r>
                    </a:p>
                    <a:p>
                      <a:pPr marL="0" marR="0" algn="just">
                        <a:lnSpc>
                          <a:spcPct val="105000"/>
                        </a:lnSpc>
                        <a:spcBef>
                          <a:spcPts val="0"/>
                        </a:spcBef>
                        <a:spcAft>
                          <a:spcPts val="0"/>
                        </a:spcAft>
                      </a:pPr>
                      <a:r>
                        <a:rPr lang="en-US" sz="1200">
                          <a:effectLst/>
                        </a:rPr>
                        <a:t>*Score of complexity will be taken highest of system and product)</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Product Complexity - High</a:t>
                      </a:r>
                    </a:p>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System Complexity &gt;=25</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Product Complexity - NA</a:t>
                      </a:r>
                    </a:p>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System Complexity &gt;=20 &amp; &lt;25</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Product Complexity - Medium</a:t>
                      </a:r>
                    </a:p>
                    <a:p>
                      <a:pPr marL="0" marR="0" algn="ctr">
                        <a:lnSpc>
                          <a:spcPct val="105000"/>
                        </a:lnSpc>
                        <a:spcBef>
                          <a:spcPts val="0"/>
                        </a:spcBef>
                        <a:spcAft>
                          <a:spcPts val="0"/>
                        </a:spcAft>
                      </a:pPr>
                      <a:r>
                        <a:rPr lang="en-US" sz="1200">
                          <a:effectLst/>
                        </a:rPr>
                        <a:t> </a:t>
                      </a:r>
                    </a:p>
                    <a:p>
                      <a:pPr marL="0" marR="0" algn="ctr">
                        <a:lnSpc>
                          <a:spcPct val="105000"/>
                        </a:lnSpc>
                        <a:spcBef>
                          <a:spcPts val="0"/>
                        </a:spcBef>
                        <a:spcAft>
                          <a:spcPts val="0"/>
                        </a:spcAft>
                      </a:pPr>
                      <a:r>
                        <a:rPr lang="en-US" sz="1200">
                          <a:effectLst/>
                        </a:rPr>
                        <a:t>System Complexity &gt;=15 &amp; &lt;20</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Product Complexity - NA</a:t>
                      </a:r>
                    </a:p>
                    <a:p>
                      <a:pPr marL="0" marR="0" algn="ctr">
                        <a:lnSpc>
                          <a:spcPct val="105000"/>
                        </a:lnSpc>
                        <a:spcBef>
                          <a:spcPts val="0"/>
                        </a:spcBef>
                        <a:spcAft>
                          <a:spcPts val="0"/>
                        </a:spcAft>
                      </a:pPr>
                      <a:r>
                        <a:rPr lang="en-US" sz="1200">
                          <a:effectLst/>
                        </a:rPr>
                        <a:t> </a:t>
                      </a:r>
                    </a:p>
                    <a:p>
                      <a:pPr marL="0" marR="0" algn="ctr">
                        <a:lnSpc>
                          <a:spcPct val="105000"/>
                        </a:lnSpc>
                        <a:spcBef>
                          <a:spcPts val="0"/>
                        </a:spcBef>
                        <a:spcAft>
                          <a:spcPts val="0"/>
                        </a:spcAft>
                      </a:pPr>
                      <a:r>
                        <a:rPr lang="en-US" sz="1200">
                          <a:effectLst/>
                        </a:rPr>
                        <a:t>System Complexity</a:t>
                      </a:r>
                    </a:p>
                    <a:p>
                      <a:pPr marL="0" marR="0" algn="ctr">
                        <a:lnSpc>
                          <a:spcPct val="105000"/>
                        </a:lnSpc>
                        <a:spcBef>
                          <a:spcPts val="0"/>
                        </a:spcBef>
                        <a:spcAft>
                          <a:spcPts val="0"/>
                        </a:spcAft>
                      </a:pPr>
                      <a:r>
                        <a:rPr lang="en-US" sz="1200">
                          <a:effectLst/>
                        </a:rPr>
                        <a:t>&gt;=5 &amp; &lt;15</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Product Complexity – Low</a:t>
                      </a:r>
                    </a:p>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System Complexity &lt;5</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extLst>
                  <a:ext uri="{0D108BD9-81ED-4DB2-BD59-A6C34878D82A}">
                    <a16:rowId xmlns:a16="http://schemas.microsoft.com/office/drawing/2014/main" val="2606544359"/>
                  </a:ext>
                </a:extLst>
              </a:tr>
              <a:tr h="530903">
                <a:tc>
                  <a:txBody>
                    <a:bodyPr/>
                    <a:lstStyle/>
                    <a:p>
                      <a:pPr marL="0" marR="0" algn="just">
                        <a:lnSpc>
                          <a:spcPct val="105000"/>
                        </a:lnSpc>
                        <a:spcBef>
                          <a:spcPts val="0"/>
                        </a:spcBef>
                        <a:spcAft>
                          <a:spcPts val="0"/>
                        </a:spcAft>
                      </a:pPr>
                      <a:r>
                        <a:rPr lang="en-US" sz="1200">
                          <a:effectLst/>
                        </a:rPr>
                        <a:t>3.</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just">
                        <a:lnSpc>
                          <a:spcPct val="105000"/>
                        </a:lnSpc>
                        <a:spcBef>
                          <a:spcPts val="0"/>
                        </a:spcBef>
                        <a:spcAft>
                          <a:spcPts val="0"/>
                        </a:spcAft>
                      </a:pPr>
                      <a:r>
                        <a:rPr lang="en-US" sz="1200" dirty="0">
                          <a:effectLst/>
                        </a:rPr>
                        <a:t>Number of regulatory returns (Critical/ non-critical returns/ feeder units to regulatory returns)</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More than 15 returns</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11-15 returns</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6-10 returns</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1-5 returns</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No returns</a:t>
                      </a:r>
                      <a:endParaRPr lang="en-US" sz="1200">
                        <a:effectLst/>
                        <a:latin typeface="Calibri" panose="020F0502020204030204" pitchFamily="34" charset="0"/>
                        <a:ea typeface="Calibri" panose="020F0502020204030204" pitchFamily="34" charset="0"/>
                        <a:cs typeface="Mangal"/>
                      </a:endParaRPr>
                    </a:p>
                  </a:txBody>
                  <a:tcPr marL="48188" marR="48188" marT="0" marB="0"/>
                </a:tc>
                <a:extLst>
                  <a:ext uri="{0D108BD9-81ED-4DB2-BD59-A6C34878D82A}">
                    <a16:rowId xmlns:a16="http://schemas.microsoft.com/office/drawing/2014/main" val="3521835786"/>
                  </a:ext>
                </a:extLst>
              </a:tr>
              <a:tr h="351523">
                <a:tc>
                  <a:txBody>
                    <a:bodyPr/>
                    <a:lstStyle/>
                    <a:p>
                      <a:pPr marL="0" marR="0" algn="just">
                        <a:lnSpc>
                          <a:spcPct val="105000"/>
                        </a:lnSpc>
                        <a:spcBef>
                          <a:spcPts val="0"/>
                        </a:spcBef>
                        <a:spcAft>
                          <a:spcPts val="0"/>
                        </a:spcAft>
                      </a:pPr>
                      <a:r>
                        <a:rPr lang="en-US" sz="1200">
                          <a:effectLst/>
                        </a:rPr>
                        <a:t>4.</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just">
                        <a:lnSpc>
                          <a:spcPct val="105000"/>
                        </a:lnSpc>
                        <a:spcBef>
                          <a:spcPts val="0"/>
                        </a:spcBef>
                        <a:spcAft>
                          <a:spcPts val="0"/>
                        </a:spcAft>
                      </a:pPr>
                      <a:r>
                        <a:rPr lang="en-US" sz="1200">
                          <a:effectLst/>
                        </a:rPr>
                        <a:t>Number of compliance breaches reported in the previous 12 months</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More than 1</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NA</a:t>
                      </a:r>
                    </a:p>
                    <a:p>
                      <a:pPr marL="0" marR="0" algn="ctr">
                        <a:lnSpc>
                          <a:spcPct val="105000"/>
                        </a:lnSpc>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1</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NA</a:t>
                      </a:r>
                    </a:p>
                    <a:p>
                      <a:pPr marL="0" marR="0" algn="ctr">
                        <a:lnSpc>
                          <a:spcPct val="105000"/>
                        </a:lnSpc>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0</a:t>
                      </a:r>
                    </a:p>
                    <a:p>
                      <a:pPr marL="0" marR="0" algn="ctr">
                        <a:lnSpc>
                          <a:spcPct val="105000"/>
                        </a:lnSpc>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Mangal"/>
                      </a:endParaRPr>
                    </a:p>
                  </a:txBody>
                  <a:tcPr marL="48188" marR="48188" marT="0" marB="0"/>
                </a:tc>
                <a:extLst>
                  <a:ext uri="{0D108BD9-81ED-4DB2-BD59-A6C34878D82A}">
                    <a16:rowId xmlns:a16="http://schemas.microsoft.com/office/drawing/2014/main" val="3451643460"/>
                  </a:ext>
                </a:extLst>
              </a:tr>
              <a:tr h="351523">
                <a:tc>
                  <a:txBody>
                    <a:bodyPr/>
                    <a:lstStyle/>
                    <a:p>
                      <a:pPr marL="0" marR="0" algn="just">
                        <a:lnSpc>
                          <a:spcPct val="105000"/>
                        </a:lnSpc>
                        <a:spcBef>
                          <a:spcPts val="0"/>
                        </a:spcBef>
                        <a:spcAft>
                          <a:spcPts val="0"/>
                        </a:spcAft>
                      </a:pPr>
                      <a:r>
                        <a:rPr lang="en-US" sz="1200">
                          <a:effectLst/>
                        </a:rPr>
                        <a:t>5. </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just">
                        <a:lnSpc>
                          <a:spcPct val="105000"/>
                        </a:lnSpc>
                        <a:spcBef>
                          <a:spcPts val="0"/>
                        </a:spcBef>
                        <a:spcAft>
                          <a:spcPts val="0"/>
                        </a:spcAft>
                      </a:pPr>
                      <a:r>
                        <a:rPr lang="en-US" sz="1200" dirty="0">
                          <a:effectLst/>
                        </a:rPr>
                        <a:t>Number of ICOFR control failures in previous 12 months</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More than 1</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NA</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NA</a:t>
                      </a:r>
                    </a:p>
                    <a:p>
                      <a:pPr marL="0" marR="0" algn="ctr">
                        <a:lnSpc>
                          <a:spcPct val="105000"/>
                        </a:lnSpc>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a:effectLst/>
                        </a:rPr>
                        <a:t>0</a:t>
                      </a:r>
                    </a:p>
                    <a:p>
                      <a:pPr marL="0" marR="0" algn="ctr">
                        <a:lnSpc>
                          <a:spcPct val="105000"/>
                        </a:lnSpc>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Mangal"/>
                      </a:endParaRPr>
                    </a:p>
                  </a:txBody>
                  <a:tcPr marL="48188" marR="48188" marT="0" marB="0"/>
                </a:tc>
                <a:extLst>
                  <a:ext uri="{0D108BD9-81ED-4DB2-BD59-A6C34878D82A}">
                    <a16:rowId xmlns:a16="http://schemas.microsoft.com/office/drawing/2014/main" val="225667525"/>
                  </a:ext>
                </a:extLst>
              </a:tr>
              <a:tr h="466600">
                <a:tc>
                  <a:txBody>
                    <a:bodyPr/>
                    <a:lstStyle/>
                    <a:p>
                      <a:pPr marL="0" marR="0" algn="just">
                        <a:lnSpc>
                          <a:spcPct val="105000"/>
                        </a:lnSpc>
                        <a:spcBef>
                          <a:spcPts val="0"/>
                        </a:spcBef>
                        <a:spcAft>
                          <a:spcPts val="0"/>
                        </a:spcAft>
                      </a:pPr>
                      <a:r>
                        <a:rPr lang="en-US" sz="1200" dirty="0">
                          <a:effectLst/>
                        </a:rPr>
                        <a:t>6.</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just">
                        <a:lnSpc>
                          <a:spcPct val="105000"/>
                        </a:lnSpc>
                        <a:spcBef>
                          <a:spcPts val="0"/>
                        </a:spcBef>
                        <a:spcAft>
                          <a:spcPts val="0"/>
                        </a:spcAft>
                      </a:pPr>
                      <a:r>
                        <a:rPr lang="en-US" sz="1200" dirty="0">
                          <a:effectLst/>
                        </a:rPr>
                        <a:t>No. of Customer </a:t>
                      </a:r>
                      <a:r>
                        <a:rPr lang="en-US" sz="1200" dirty="0" smtClean="0">
                          <a:effectLst/>
                        </a:rPr>
                        <a:t>Complaints</a:t>
                      </a:r>
                      <a:endParaRPr lang="en-US" sz="1200" dirty="0">
                        <a:effectLst/>
                      </a:endParaRPr>
                    </a:p>
                  </a:txBody>
                  <a:tcPr marL="48188" marR="48188" marT="0" marB="0"/>
                </a:tc>
                <a:tc>
                  <a:txBody>
                    <a:bodyPr/>
                    <a:lstStyle/>
                    <a:p>
                      <a:pPr marL="0" marR="0" algn="ctr">
                        <a:lnSpc>
                          <a:spcPct val="105000"/>
                        </a:lnSpc>
                        <a:spcBef>
                          <a:spcPts val="0"/>
                        </a:spcBef>
                        <a:spcAft>
                          <a:spcPts val="0"/>
                        </a:spcAft>
                      </a:pPr>
                      <a:r>
                        <a:rPr lang="en-US" sz="1200" dirty="0">
                          <a:effectLst/>
                        </a:rPr>
                        <a:t>&gt;=25</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&gt;=20 &amp; &lt;25</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&gt;=15 &amp; &lt;20</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&gt;=5 &amp; &lt;15</a:t>
                      </a:r>
                      <a:endParaRPr lang="en-US" sz="1200" dirty="0">
                        <a:effectLst/>
                        <a:latin typeface="Calibri" panose="020F0502020204030204" pitchFamily="34" charset="0"/>
                        <a:ea typeface="Calibri" panose="020F0502020204030204" pitchFamily="34" charset="0"/>
                        <a:cs typeface="Mangal"/>
                      </a:endParaRPr>
                    </a:p>
                  </a:txBody>
                  <a:tcPr marL="48188" marR="48188" marT="0" marB="0"/>
                </a:tc>
                <a:tc>
                  <a:txBody>
                    <a:bodyPr/>
                    <a:lstStyle/>
                    <a:p>
                      <a:pPr marL="0" marR="0" algn="ctr">
                        <a:lnSpc>
                          <a:spcPct val="105000"/>
                        </a:lnSpc>
                        <a:spcBef>
                          <a:spcPts val="0"/>
                        </a:spcBef>
                        <a:spcAft>
                          <a:spcPts val="0"/>
                        </a:spcAft>
                      </a:pPr>
                      <a:r>
                        <a:rPr lang="en-US" sz="1200" dirty="0">
                          <a:effectLst/>
                        </a:rPr>
                        <a:t>&lt;</a:t>
                      </a:r>
                      <a:r>
                        <a:rPr lang="en-US" sz="1200" dirty="0" smtClean="0">
                          <a:effectLst/>
                        </a:rPr>
                        <a:t>5</a:t>
                      </a:r>
                    </a:p>
                  </a:txBody>
                  <a:tcPr marL="48188" marR="48188" marT="0" marB="0"/>
                </a:tc>
                <a:extLst>
                  <a:ext uri="{0D108BD9-81ED-4DB2-BD59-A6C34878D82A}">
                    <a16:rowId xmlns:a16="http://schemas.microsoft.com/office/drawing/2014/main" val="2625761187"/>
                  </a:ext>
                </a:extLst>
              </a:tr>
            </a:tbl>
          </a:graphicData>
        </a:graphic>
      </p:graphicFrame>
      <p:sp>
        <p:nvSpPr>
          <p:cNvPr id="12" name="TextBox 11"/>
          <p:cNvSpPr txBox="1"/>
          <p:nvPr/>
        </p:nvSpPr>
        <p:spPr>
          <a:xfrm>
            <a:off x="560173" y="792854"/>
            <a:ext cx="11219546" cy="400110"/>
          </a:xfrm>
          <a:prstGeom prst="rect">
            <a:avLst/>
          </a:prstGeom>
          <a:noFill/>
        </p:spPr>
        <p:txBody>
          <a:bodyPr wrap="square" rtlCol="0">
            <a:spAutoFit/>
          </a:bodyPr>
          <a:lstStyle/>
          <a:p>
            <a:pPr algn="ctr"/>
            <a:r>
              <a:rPr lang="en-IN" sz="2000" b="1" dirty="0" smtClean="0">
                <a:solidFill>
                  <a:schemeClr val="bg1"/>
                </a:solidFill>
              </a:rPr>
              <a:t>Inherent Risk Parameters </a:t>
            </a:r>
            <a:endParaRPr lang="en-US" sz="2000" b="1" dirty="0">
              <a:solidFill>
                <a:schemeClr val="bg1"/>
              </a:solidFill>
            </a:endParaRPr>
          </a:p>
        </p:txBody>
      </p:sp>
      <p:sp>
        <p:nvSpPr>
          <p:cNvPr id="14" name="Content Placeholder 4">
            <a:extLst>
              <a:ext uri="{FF2B5EF4-FFF2-40B4-BE49-F238E27FC236}">
                <a16:creationId xmlns:a16="http://schemas.microsoft.com/office/drawing/2014/main" id="{BD8390B9-9640-FE87-E01D-D6FD75796BC9}"/>
              </a:ext>
            </a:extLst>
          </p:cNvPr>
          <p:cNvSpPr txBox="1">
            <a:spLocks/>
          </p:cNvSpPr>
          <p:nvPr/>
        </p:nvSpPr>
        <p:spPr>
          <a:xfrm>
            <a:off x="1901228" y="1311384"/>
            <a:ext cx="9547471" cy="9505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700" b="1" u="sng" dirty="0" smtClean="0">
                <a:solidFill>
                  <a:schemeClr val="bg1"/>
                </a:solidFill>
                <a:latin typeface="Calibri" panose="020F0502020204030204" pitchFamily="34" charset="0"/>
                <a:cs typeface="Calibri" panose="020F0502020204030204" pitchFamily="34" charset="0"/>
              </a:rPr>
              <a:t>Likelihood Parameters</a:t>
            </a:r>
          </a:p>
          <a:p>
            <a:pPr marL="0" indent="0">
              <a:buNone/>
            </a:pPr>
            <a:r>
              <a:rPr lang="en-IN" sz="1700" dirty="0">
                <a:solidFill>
                  <a:prstClr val="white"/>
                </a:solidFill>
              </a:rPr>
              <a:t>The assessment of likelihood of occurrence would be assessed for at assessment unit level as whole. The above-mentioned parameters need to be rated for each AU based on the following </a:t>
            </a:r>
            <a:r>
              <a:rPr lang="en-IN" sz="1700" dirty="0" smtClean="0">
                <a:solidFill>
                  <a:prstClr val="white"/>
                </a:solidFill>
              </a:rPr>
              <a:t>pattern : </a:t>
            </a:r>
            <a:endParaRPr lang="en-IN" sz="1700" dirty="0" smtClean="0">
              <a:solidFill>
                <a:schemeClr val="bg1"/>
              </a:solidFill>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94683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67913538"/>
              </p:ext>
            </p:extLst>
          </p:nvPr>
        </p:nvGraphicFramePr>
        <p:xfrm>
          <a:off x="2035980" y="3151985"/>
          <a:ext cx="3378468" cy="2054547"/>
        </p:xfrm>
        <a:graphic>
          <a:graphicData uri="http://schemas.openxmlformats.org/drawingml/2006/table">
            <a:tbl>
              <a:tblPr firstRow="1" firstCol="1" bandRow="1">
                <a:tableStyleId>{5C22544A-7EE6-4342-B048-85BDC9FD1C3A}</a:tableStyleId>
              </a:tblPr>
              <a:tblGrid>
                <a:gridCol w="1752718">
                  <a:extLst>
                    <a:ext uri="{9D8B030D-6E8A-4147-A177-3AD203B41FA5}">
                      <a16:colId xmlns:a16="http://schemas.microsoft.com/office/drawing/2014/main" val="2520081237"/>
                    </a:ext>
                  </a:extLst>
                </a:gridCol>
                <a:gridCol w="1625750">
                  <a:extLst>
                    <a:ext uri="{9D8B030D-6E8A-4147-A177-3AD203B41FA5}">
                      <a16:colId xmlns:a16="http://schemas.microsoft.com/office/drawing/2014/main" val="3799724839"/>
                    </a:ext>
                  </a:extLst>
                </a:gridCol>
              </a:tblGrid>
              <a:tr h="144145">
                <a:tc>
                  <a:txBody>
                    <a:bodyPr/>
                    <a:lstStyle/>
                    <a:p>
                      <a:pPr marL="0" marR="0" algn="ctr">
                        <a:lnSpc>
                          <a:spcPct val="107000"/>
                        </a:lnSpc>
                        <a:spcBef>
                          <a:spcPts val="0"/>
                        </a:spcBef>
                        <a:spcAft>
                          <a:spcPts val="0"/>
                        </a:spcAft>
                      </a:pPr>
                      <a:r>
                        <a:rPr lang="en-IN" sz="1400">
                          <a:effectLst/>
                        </a:rPr>
                        <a:t>Score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ctr"/>
                </a:tc>
                <a:tc>
                  <a:txBody>
                    <a:bodyPr/>
                    <a:lstStyle/>
                    <a:p>
                      <a:pPr marL="0" marR="0" algn="ctr">
                        <a:lnSpc>
                          <a:spcPct val="107000"/>
                        </a:lnSpc>
                        <a:spcBef>
                          <a:spcPts val="0"/>
                        </a:spcBef>
                        <a:spcAft>
                          <a:spcPts val="0"/>
                        </a:spcAft>
                      </a:pPr>
                      <a:r>
                        <a:rPr lang="en-IN" sz="1400">
                          <a:effectLst/>
                        </a:rPr>
                        <a:t>Scale down/up</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1956689696"/>
                  </a:ext>
                </a:extLst>
              </a:tr>
              <a:tr h="144145">
                <a:tc>
                  <a:txBody>
                    <a:bodyPr/>
                    <a:lstStyle/>
                    <a:p>
                      <a:pPr marL="0" marR="0">
                        <a:lnSpc>
                          <a:spcPct val="107000"/>
                        </a:lnSpc>
                        <a:spcBef>
                          <a:spcPts val="0"/>
                        </a:spcBef>
                        <a:spcAft>
                          <a:spcPts val="0"/>
                        </a:spcAft>
                      </a:pPr>
                      <a:r>
                        <a:rPr lang="en-IN" sz="1400">
                          <a:effectLst/>
                        </a:rPr>
                        <a:t>&gt;5 and &lt; 7.5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7000"/>
                        </a:lnSpc>
                        <a:spcBef>
                          <a:spcPts val="0"/>
                        </a:spcBef>
                        <a:spcAft>
                          <a:spcPts val="0"/>
                        </a:spcAft>
                      </a:pPr>
                      <a:r>
                        <a:rPr lang="en-IN" sz="1400">
                          <a:effectLst/>
                        </a:rPr>
                        <a:t>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3857894067"/>
                  </a:ext>
                </a:extLst>
              </a:tr>
              <a:tr h="144145">
                <a:tc>
                  <a:txBody>
                    <a:bodyPr/>
                    <a:lstStyle/>
                    <a:p>
                      <a:pPr marL="0" marR="0">
                        <a:lnSpc>
                          <a:spcPct val="107000"/>
                        </a:lnSpc>
                        <a:spcBef>
                          <a:spcPts val="0"/>
                        </a:spcBef>
                        <a:spcAft>
                          <a:spcPts val="0"/>
                        </a:spcAft>
                      </a:pPr>
                      <a:r>
                        <a:rPr lang="en-IN" sz="1400">
                          <a:effectLst/>
                        </a:rPr>
                        <a:t>&gt;=7.5 and &lt;= 10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7000"/>
                        </a:lnSpc>
                        <a:spcBef>
                          <a:spcPts val="0"/>
                        </a:spcBef>
                        <a:spcAft>
                          <a:spcPts val="0"/>
                        </a:spcAft>
                      </a:pPr>
                      <a:r>
                        <a:rPr lang="en-IN" sz="1400">
                          <a:effectLst/>
                        </a:rPr>
                        <a:t>10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3767556892"/>
                  </a:ext>
                </a:extLst>
              </a:tr>
              <a:tr h="144145">
                <a:tc>
                  <a:txBody>
                    <a:bodyPr/>
                    <a:lstStyle/>
                    <a:p>
                      <a:pPr marL="0" marR="0">
                        <a:lnSpc>
                          <a:spcPct val="107000"/>
                        </a:lnSpc>
                        <a:spcBef>
                          <a:spcPts val="0"/>
                        </a:spcBef>
                        <a:spcAft>
                          <a:spcPts val="0"/>
                        </a:spcAft>
                      </a:pPr>
                      <a:r>
                        <a:rPr lang="en-IN" sz="1400">
                          <a:effectLst/>
                        </a:rPr>
                        <a:t>&gt;10 and &lt;12.5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7000"/>
                        </a:lnSpc>
                        <a:spcBef>
                          <a:spcPts val="0"/>
                        </a:spcBef>
                        <a:spcAft>
                          <a:spcPts val="0"/>
                        </a:spcAft>
                      </a:pPr>
                      <a:r>
                        <a:rPr lang="en-IN" sz="1400">
                          <a:effectLst/>
                        </a:rPr>
                        <a:t>10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888223814"/>
                  </a:ext>
                </a:extLst>
              </a:tr>
              <a:tr h="144145">
                <a:tc>
                  <a:txBody>
                    <a:bodyPr/>
                    <a:lstStyle/>
                    <a:p>
                      <a:pPr marL="0" marR="0">
                        <a:lnSpc>
                          <a:spcPct val="107000"/>
                        </a:lnSpc>
                        <a:spcBef>
                          <a:spcPts val="0"/>
                        </a:spcBef>
                        <a:spcAft>
                          <a:spcPts val="0"/>
                        </a:spcAft>
                      </a:pPr>
                      <a:r>
                        <a:rPr lang="en-IN" sz="1400">
                          <a:effectLst/>
                        </a:rPr>
                        <a:t>&gt;=12.5 and &lt;= 15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7000"/>
                        </a:lnSpc>
                        <a:spcBef>
                          <a:spcPts val="0"/>
                        </a:spcBef>
                        <a:spcAft>
                          <a:spcPts val="0"/>
                        </a:spcAft>
                      </a:pPr>
                      <a:r>
                        <a:rPr lang="en-IN" sz="1400" dirty="0">
                          <a:effectLst/>
                        </a:rPr>
                        <a:t>15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623685571"/>
                  </a:ext>
                </a:extLst>
              </a:tr>
              <a:tr h="144145">
                <a:tc>
                  <a:txBody>
                    <a:bodyPr/>
                    <a:lstStyle/>
                    <a:p>
                      <a:pPr marL="0" marR="0">
                        <a:lnSpc>
                          <a:spcPct val="107000"/>
                        </a:lnSpc>
                        <a:spcBef>
                          <a:spcPts val="0"/>
                        </a:spcBef>
                        <a:spcAft>
                          <a:spcPts val="0"/>
                        </a:spcAft>
                      </a:pPr>
                      <a:r>
                        <a:rPr lang="en-IN" sz="1400">
                          <a:effectLst/>
                        </a:rPr>
                        <a:t>&gt;15 and &lt; 17.5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7000"/>
                        </a:lnSpc>
                        <a:spcBef>
                          <a:spcPts val="0"/>
                        </a:spcBef>
                        <a:spcAft>
                          <a:spcPts val="0"/>
                        </a:spcAft>
                      </a:pPr>
                      <a:r>
                        <a:rPr lang="en-IN" sz="1400">
                          <a:effectLst/>
                        </a:rPr>
                        <a:t>15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688407988"/>
                  </a:ext>
                </a:extLst>
              </a:tr>
              <a:tr h="144145">
                <a:tc>
                  <a:txBody>
                    <a:bodyPr/>
                    <a:lstStyle/>
                    <a:p>
                      <a:pPr marL="0" marR="0">
                        <a:lnSpc>
                          <a:spcPct val="107000"/>
                        </a:lnSpc>
                        <a:spcBef>
                          <a:spcPts val="0"/>
                        </a:spcBef>
                        <a:spcAft>
                          <a:spcPts val="0"/>
                        </a:spcAft>
                      </a:pPr>
                      <a:r>
                        <a:rPr lang="en-IN" sz="1400">
                          <a:effectLst/>
                        </a:rPr>
                        <a:t>&gt;=17.5 and &lt;= 20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7000"/>
                        </a:lnSpc>
                        <a:spcBef>
                          <a:spcPts val="0"/>
                        </a:spcBef>
                        <a:spcAft>
                          <a:spcPts val="0"/>
                        </a:spcAft>
                      </a:pPr>
                      <a:r>
                        <a:rPr lang="en-IN" sz="1400" dirty="0">
                          <a:effectLst/>
                        </a:rPr>
                        <a:t>20</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1566447302"/>
                  </a:ext>
                </a:extLst>
              </a:tr>
              <a:tr h="144145">
                <a:tc>
                  <a:txBody>
                    <a:bodyPr/>
                    <a:lstStyle/>
                    <a:p>
                      <a:pPr marL="0" marR="0">
                        <a:lnSpc>
                          <a:spcPct val="107000"/>
                        </a:lnSpc>
                        <a:spcBef>
                          <a:spcPts val="0"/>
                        </a:spcBef>
                        <a:spcAft>
                          <a:spcPts val="0"/>
                        </a:spcAft>
                      </a:pPr>
                      <a:r>
                        <a:rPr lang="en-IN" sz="1400">
                          <a:effectLst/>
                        </a:rPr>
                        <a:t>&gt;20 and &lt; 22.5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7000"/>
                        </a:lnSpc>
                        <a:spcBef>
                          <a:spcPts val="0"/>
                        </a:spcBef>
                        <a:spcAft>
                          <a:spcPts val="0"/>
                        </a:spcAft>
                      </a:pPr>
                      <a:r>
                        <a:rPr lang="en-IN" sz="1400" dirty="0">
                          <a:effectLst/>
                        </a:rPr>
                        <a:t>20</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977079783"/>
                  </a:ext>
                </a:extLst>
              </a:tr>
              <a:tr h="0">
                <a:tc>
                  <a:txBody>
                    <a:bodyPr/>
                    <a:lstStyle/>
                    <a:p>
                      <a:pPr marL="0" marR="0">
                        <a:lnSpc>
                          <a:spcPct val="107000"/>
                        </a:lnSpc>
                        <a:spcBef>
                          <a:spcPts val="0"/>
                        </a:spcBef>
                        <a:spcAft>
                          <a:spcPts val="0"/>
                        </a:spcAft>
                      </a:pPr>
                      <a:r>
                        <a:rPr lang="en-IN" sz="1400">
                          <a:effectLst/>
                        </a:rPr>
                        <a:t>&gt;=22.5 and &lt;= 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7000"/>
                        </a:lnSpc>
                        <a:spcBef>
                          <a:spcPts val="0"/>
                        </a:spcBef>
                        <a:spcAft>
                          <a:spcPts val="0"/>
                        </a:spcAft>
                      </a:pPr>
                      <a:r>
                        <a:rPr lang="en-IN" sz="1400" dirty="0">
                          <a:effectLst/>
                        </a:rPr>
                        <a:t>25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2169534396"/>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995756694"/>
              </p:ext>
            </p:extLst>
          </p:nvPr>
        </p:nvGraphicFramePr>
        <p:xfrm>
          <a:off x="7300936" y="3171236"/>
          <a:ext cx="3348807" cy="1344168"/>
        </p:xfrm>
        <a:graphic>
          <a:graphicData uri="http://schemas.openxmlformats.org/drawingml/2006/table">
            <a:tbl>
              <a:tblPr firstRow="1" firstCol="1" bandRow="1">
                <a:tableStyleId>{5C22544A-7EE6-4342-B048-85BDC9FD1C3A}</a:tableStyleId>
              </a:tblPr>
              <a:tblGrid>
                <a:gridCol w="1972189">
                  <a:extLst>
                    <a:ext uri="{9D8B030D-6E8A-4147-A177-3AD203B41FA5}">
                      <a16:colId xmlns:a16="http://schemas.microsoft.com/office/drawing/2014/main" val="577604296"/>
                    </a:ext>
                  </a:extLst>
                </a:gridCol>
                <a:gridCol w="1376618">
                  <a:extLst>
                    <a:ext uri="{9D8B030D-6E8A-4147-A177-3AD203B41FA5}">
                      <a16:colId xmlns:a16="http://schemas.microsoft.com/office/drawing/2014/main" val="609506719"/>
                    </a:ext>
                  </a:extLst>
                </a:gridCol>
              </a:tblGrid>
              <a:tr h="0">
                <a:tc>
                  <a:txBody>
                    <a:bodyPr/>
                    <a:lstStyle/>
                    <a:p>
                      <a:pPr marL="0" marR="0" algn="ctr">
                        <a:lnSpc>
                          <a:spcPct val="105000"/>
                        </a:lnSpc>
                        <a:spcBef>
                          <a:spcPts val="0"/>
                        </a:spcBef>
                        <a:spcAft>
                          <a:spcPts val="0"/>
                        </a:spcAft>
                        <a:tabLst>
                          <a:tab pos="270510" algn="l"/>
                        </a:tabLst>
                      </a:pPr>
                      <a:r>
                        <a:rPr lang="en-US" sz="1400">
                          <a:effectLst/>
                        </a:rPr>
                        <a:t>Likelihood Rating</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tabLst>
                          <a:tab pos="270510" algn="l"/>
                        </a:tabLst>
                      </a:pPr>
                      <a:r>
                        <a:rPr lang="en-US" sz="1400" dirty="0">
                          <a:effectLst/>
                        </a:rPr>
                        <a:t>Likelihood Score</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75225879"/>
                  </a:ext>
                </a:extLst>
              </a:tr>
              <a:tr h="0">
                <a:tc>
                  <a:txBody>
                    <a:bodyPr/>
                    <a:lstStyle/>
                    <a:p>
                      <a:pPr marL="0" marR="0" algn="ctr">
                        <a:lnSpc>
                          <a:spcPct val="105000"/>
                        </a:lnSpc>
                        <a:spcBef>
                          <a:spcPts val="0"/>
                        </a:spcBef>
                        <a:spcAft>
                          <a:spcPts val="0"/>
                        </a:spcAft>
                        <a:tabLst>
                          <a:tab pos="270510" algn="l"/>
                        </a:tabLst>
                      </a:pPr>
                      <a:r>
                        <a:rPr lang="en-US" sz="1400" dirty="0">
                          <a:effectLst/>
                        </a:rPr>
                        <a:t>Almost certain</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tabLst>
                          <a:tab pos="270510" algn="l"/>
                        </a:tabLst>
                      </a:pPr>
                      <a:r>
                        <a:rPr lang="en-US" sz="1400">
                          <a:effectLst/>
                        </a:rPr>
                        <a:t>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931850121"/>
                  </a:ext>
                </a:extLst>
              </a:tr>
              <a:tr h="0">
                <a:tc>
                  <a:txBody>
                    <a:bodyPr/>
                    <a:lstStyle/>
                    <a:p>
                      <a:pPr marL="0" marR="0" algn="ctr">
                        <a:lnSpc>
                          <a:spcPct val="105000"/>
                        </a:lnSpc>
                        <a:spcBef>
                          <a:spcPts val="0"/>
                        </a:spcBef>
                        <a:spcAft>
                          <a:spcPts val="0"/>
                        </a:spcAft>
                        <a:tabLst>
                          <a:tab pos="270510" algn="l"/>
                        </a:tabLst>
                      </a:pPr>
                      <a:r>
                        <a:rPr lang="en-US" sz="1400">
                          <a:effectLst/>
                        </a:rPr>
                        <a:t>Likely</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tabLst>
                          <a:tab pos="270510" algn="l"/>
                        </a:tabLst>
                      </a:pPr>
                      <a:r>
                        <a:rPr lang="en-US" sz="1400">
                          <a:effectLst/>
                        </a:rPr>
                        <a:t>20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596308677"/>
                  </a:ext>
                </a:extLst>
              </a:tr>
              <a:tr h="0">
                <a:tc>
                  <a:txBody>
                    <a:bodyPr/>
                    <a:lstStyle/>
                    <a:p>
                      <a:pPr marL="0" marR="0" algn="ctr">
                        <a:lnSpc>
                          <a:spcPct val="105000"/>
                        </a:lnSpc>
                        <a:spcBef>
                          <a:spcPts val="0"/>
                        </a:spcBef>
                        <a:spcAft>
                          <a:spcPts val="0"/>
                        </a:spcAft>
                        <a:tabLst>
                          <a:tab pos="270510" algn="l"/>
                        </a:tabLst>
                      </a:pPr>
                      <a:r>
                        <a:rPr lang="en-US" sz="1400">
                          <a:effectLst/>
                        </a:rPr>
                        <a:t>Possible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tabLst>
                          <a:tab pos="270510" algn="l"/>
                        </a:tabLst>
                      </a:pPr>
                      <a:r>
                        <a:rPr lang="en-US" sz="1400">
                          <a:effectLst/>
                        </a:rPr>
                        <a:t>15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397336653"/>
                  </a:ext>
                </a:extLst>
              </a:tr>
              <a:tr h="0">
                <a:tc>
                  <a:txBody>
                    <a:bodyPr/>
                    <a:lstStyle/>
                    <a:p>
                      <a:pPr marL="0" marR="0" algn="ctr">
                        <a:lnSpc>
                          <a:spcPct val="105000"/>
                        </a:lnSpc>
                        <a:spcBef>
                          <a:spcPts val="0"/>
                        </a:spcBef>
                        <a:spcAft>
                          <a:spcPts val="0"/>
                        </a:spcAft>
                        <a:tabLst>
                          <a:tab pos="270510" algn="l"/>
                        </a:tabLst>
                      </a:pPr>
                      <a:r>
                        <a:rPr lang="en-US" sz="1400">
                          <a:effectLst/>
                        </a:rPr>
                        <a:t>Unlikely</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tabLst>
                          <a:tab pos="270510" algn="l"/>
                        </a:tabLst>
                      </a:pPr>
                      <a:r>
                        <a:rPr lang="en-US" sz="1400">
                          <a:effectLst/>
                        </a:rPr>
                        <a:t>10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406589857"/>
                  </a:ext>
                </a:extLst>
              </a:tr>
              <a:tr h="0">
                <a:tc>
                  <a:txBody>
                    <a:bodyPr/>
                    <a:lstStyle/>
                    <a:p>
                      <a:pPr marL="0" marR="0" algn="ctr">
                        <a:lnSpc>
                          <a:spcPct val="105000"/>
                        </a:lnSpc>
                        <a:spcBef>
                          <a:spcPts val="0"/>
                        </a:spcBef>
                        <a:spcAft>
                          <a:spcPts val="0"/>
                        </a:spcAft>
                        <a:tabLst>
                          <a:tab pos="270510" algn="l"/>
                        </a:tabLst>
                      </a:pPr>
                      <a:r>
                        <a:rPr lang="en-US" sz="1400">
                          <a:effectLst/>
                        </a:rPr>
                        <a:t>Rare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tabLst>
                          <a:tab pos="270510" algn="l"/>
                        </a:tabLst>
                      </a:pPr>
                      <a:r>
                        <a:rPr lang="en-US" sz="1400" dirty="0">
                          <a:effectLst/>
                        </a:rPr>
                        <a:t>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392713607"/>
                  </a:ext>
                </a:extLst>
              </a:tr>
            </a:tbl>
          </a:graphicData>
        </a:graphic>
      </p:graphicFrame>
      <p:sp>
        <p:nvSpPr>
          <p:cNvPr id="8" name="Rectangle 7"/>
          <p:cNvSpPr/>
          <p:nvPr/>
        </p:nvSpPr>
        <p:spPr>
          <a:xfrm>
            <a:off x="1921095" y="2768803"/>
            <a:ext cx="2786404" cy="383182"/>
          </a:xfrm>
          <a:prstGeom prst="rect">
            <a:avLst/>
          </a:prstGeom>
        </p:spPr>
        <p:txBody>
          <a:bodyPr wrap="none">
            <a:spAutoFit/>
          </a:bodyPr>
          <a:lstStyle/>
          <a:p>
            <a:pPr algn="just">
              <a:lnSpc>
                <a:spcPct val="105000"/>
              </a:lnSpc>
              <a:spcAft>
                <a:spcPts val="800"/>
              </a:spcAft>
            </a:pPr>
            <a:r>
              <a:rPr lang="en-IN" dirty="0">
                <a:solidFill>
                  <a:schemeClr val="bg1"/>
                </a:solidFill>
                <a:latin typeface="Calibri" panose="020F0502020204030204" pitchFamily="34" charset="0"/>
                <a:cs typeface="Calibri" panose="020F0502020204030204" pitchFamily="34" charset="0"/>
              </a:rPr>
              <a:t>Scaling for Likelihood score-</a:t>
            </a:r>
          </a:p>
        </p:txBody>
      </p:sp>
      <p:sp>
        <p:nvSpPr>
          <p:cNvPr id="9" name="Rectangle 8"/>
          <p:cNvSpPr/>
          <p:nvPr/>
        </p:nvSpPr>
        <p:spPr>
          <a:xfrm>
            <a:off x="7300936" y="2788054"/>
            <a:ext cx="2786404" cy="383182"/>
          </a:xfrm>
          <a:prstGeom prst="rect">
            <a:avLst/>
          </a:prstGeom>
        </p:spPr>
        <p:txBody>
          <a:bodyPr wrap="none">
            <a:spAutoFit/>
          </a:bodyPr>
          <a:lstStyle/>
          <a:p>
            <a:pPr algn="just">
              <a:lnSpc>
                <a:spcPct val="105000"/>
              </a:lnSpc>
              <a:spcAft>
                <a:spcPts val="800"/>
              </a:spcAft>
            </a:pPr>
            <a:r>
              <a:rPr lang="en-IN" dirty="0">
                <a:solidFill>
                  <a:schemeClr val="bg1"/>
                </a:solidFill>
                <a:latin typeface="Calibri" panose="020F0502020204030204" pitchFamily="34" charset="0"/>
                <a:cs typeface="Calibri" panose="020F0502020204030204" pitchFamily="34" charset="0"/>
              </a:rPr>
              <a:t>Scaling for Likelihood score-</a:t>
            </a:r>
          </a:p>
        </p:txBody>
      </p:sp>
      <p:sp>
        <p:nvSpPr>
          <p:cNvPr id="13" name="TextBox 12"/>
          <p:cNvSpPr txBox="1"/>
          <p:nvPr/>
        </p:nvSpPr>
        <p:spPr>
          <a:xfrm>
            <a:off x="560173" y="792854"/>
            <a:ext cx="11219546" cy="400110"/>
          </a:xfrm>
          <a:prstGeom prst="rect">
            <a:avLst/>
          </a:prstGeom>
          <a:noFill/>
        </p:spPr>
        <p:txBody>
          <a:bodyPr wrap="square" rtlCol="0">
            <a:spAutoFit/>
          </a:bodyPr>
          <a:lstStyle/>
          <a:p>
            <a:pPr algn="ctr"/>
            <a:r>
              <a:rPr lang="en-IN" sz="2000" b="1" dirty="0" smtClean="0">
                <a:solidFill>
                  <a:schemeClr val="bg1"/>
                </a:solidFill>
              </a:rPr>
              <a:t>Inherent Risk Parameters </a:t>
            </a:r>
            <a:endParaRPr lang="en-US" sz="2000" b="1" dirty="0">
              <a:solidFill>
                <a:schemeClr val="bg1"/>
              </a:solidFill>
            </a:endParaRPr>
          </a:p>
        </p:txBody>
      </p:sp>
      <p:sp>
        <p:nvSpPr>
          <p:cNvPr id="18" name="Content Placeholder 4">
            <a:extLst>
              <a:ext uri="{FF2B5EF4-FFF2-40B4-BE49-F238E27FC236}">
                <a16:creationId xmlns:a16="http://schemas.microsoft.com/office/drawing/2014/main" id="{BD8390B9-9640-FE87-E01D-D6FD75796BC9}"/>
              </a:ext>
            </a:extLst>
          </p:cNvPr>
          <p:cNvSpPr txBox="1">
            <a:spLocks/>
          </p:cNvSpPr>
          <p:nvPr/>
        </p:nvSpPr>
        <p:spPr>
          <a:xfrm>
            <a:off x="1901228" y="1311384"/>
            <a:ext cx="9547471" cy="9505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700" b="1" u="sng" dirty="0" smtClean="0">
                <a:solidFill>
                  <a:schemeClr val="bg1"/>
                </a:solidFill>
                <a:latin typeface="Calibri" panose="020F0502020204030204" pitchFamily="34" charset="0"/>
                <a:cs typeface="Calibri" panose="020F0502020204030204" pitchFamily="34" charset="0"/>
              </a:rPr>
              <a:t>Likelihood Parameters</a:t>
            </a:r>
          </a:p>
          <a:p>
            <a:pPr marL="0" indent="0">
              <a:buNone/>
            </a:pPr>
            <a:r>
              <a:rPr lang="en-IN" sz="1700" dirty="0" smtClean="0">
                <a:solidFill>
                  <a:schemeClr val="bg1"/>
                </a:solidFill>
                <a:ea typeface="Calibri" panose="020F0502020204030204" pitchFamily="34" charset="0"/>
                <a:cs typeface="Mangal" panose="02040503050203030202"/>
              </a:rPr>
              <a:t>The </a:t>
            </a:r>
            <a:r>
              <a:rPr lang="en-IN" sz="1700" dirty="0">
                <a:solidFill>
                  <a:schemeClr val="bg1"/>
                </a:solidFill>
                <a:ea typeface="Calibri" panose="020F0502020204030204" pitchFamily="34" charset="0"/>
                <a:cs typeface="Mangal" panose="02040503050203030202"/>
              </a:rPr>
              <a:t>SAS GCM system will automatically assign the rating against each of the parameter and the likelihood rating will be derived by rounding of average score against each of the parameter. In case of non-availability of data, the compliance officer will assign the ratings.</a:t>
            </a:r>
            <a:endParaRPr lang="en-US" sz="1700" dirty="0">
              <a:solidFill>
                <a:schemeClr val="bg1"/>
              </a:solidFill>
              <a:ea typeface="Calibri" panose="020F0502020204030204" pitchFamily="34" charset="0"/>
              <a:cs typeface="Mangal" panose="02040503050203030202"/>
            </a:endParaRPr>
          </a:p>
        </p:txBody>
      </p:sp>
      <p:pic>
        <p:nvPicPr>
          <p:cNvPr id="11" name="Picture 10">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1586193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66059687"/>
              </p:ext>
            </p:extLst>
          </p:nvPr>
        </p:nvGraphicFramePr>
        <p:xfrm>
          <a:off x="1511164" y="3184613"/>
          <a:ext cx="9937535" cy="2828588"/>
        </p:xfrm>
        <a:graphic>
          <a:graphicData uri="http://schemas.openxmlformats.org/drawingml/2006/table">
            <a:tbl>
              <a:tblPr firstRow="1" firstCol="1" bandRow="1">
                <a:tableStyleId>{5C22544A-7EE6-4342-B048-85BDC9FD1C3A}</a:tableStyleId>
              </a:tblPr>
              <a:tblGrid>
                <a:gridCol w="2165688">
                  <a:extLst>
                    <a:ext uri="{9D8B030D-6E8A-4147-A177-3AD203B41FA5}">
                      <a16:colId xmlns:a16="http://schemas.microsoft.com/office/drawing/2014/main" val="2057019908"/>
                    </a:ext>
                  </a:extLst>
                </a:gridCol>
                <a:gridCol w="1146823">
                  <a:extLst>
                    <a:ext uri="{9D8B030D-6E8A-4147-A177-3AD203B41FA5}">
                      <a16:colId xmlns:a16="http://schemas.microsoft.com/office/drawing/2014/main" val="2622360109"/>
                    </a:ext>
                  </a:extLst>
                </a:gridCol>
                <a:gridCol w="614600">
                  <a:extLst>
                    <a:ext uri="{9D8B030D-6E8A-4147-A177-3AD203B41FA5}">
                      <a16:colId xmlns:a16="http://schemas.microsoft.com/office/drawing/2014/main" val="2527533439"/>
                    </a:ext>
                  </a:extLst>
                </a:gridCol>
                <a:gridCol w="1041656">
                  <a:extLst>
                    <a:ext uri="{9D8B030D-6E8A-4147-A177-3AD203B41FA5}">
                      <a16:colId xmlns:a16="http://schemas.microsoft.com/office/drawing/2014/main" val="1388352968"/>
                    </a:ext>
                  </a:extLst>
                </a:gridCol>
                <a:gridCol w="219253">
                  <a:extLst>
                    <a:ext uri="{9D8B030D-6E8A-4147-A177-3AD203B41FA5}">
                      <a16:colId xmlns:a16="http://schemas.microsoft.com/office/drawing/2014/main" val="1204259060"/>
                    </a:ext>
                  </a:extLst>
                </a:gridCol>
                <a:gridCol w="1437003">
                  <a:extLst>
                    <a:ext uri="{9D8B030D-6E8A-4147-A177-3AD203B41FA5}">
                      <a16:colId xmlns:a16="http://schemas.microsoft.com/office/drawing/2014/main" val="2967341696"/>
                    </a:ext>
                  </a:extLst>
                </a:gridCol>
                <a:gridCol w="189667">
                  <a:extLst>
                    <a:ext uri="{9D8B030D-6E8A-4147-A177-3AD203B41FA5}">
                      <a16:colId xmlns:a16="http://schemas.microsoft.com/office/drawing/2014/main" val="1200867512"/>
                    </a:ext>
                  </a:extLst>
                </a:gridCol>
                <a:gridCol w="1466589">
                  <a:extLst>
                    <a:ext uri="{9D8B030D-6E8A-4147-A177-3AD203B41FA5}">
                      <a16:colId xmlns:a16="http://schemas.microsoft.com/office/drawing/2014/main" val="2036975658"/>
                    </a:ext>
                  </a:extLst>
                </a:gridCol>
                <a:gridCol w="323710">
                  <a:extLst>
                    <a:ext uri="{9D8B030D-6E8A-4147-A177-3AD203B41FA5}">
                      <a16:colId xmlns:a16="http://schemas.microsoft.com/office/drawing/2014/main" val="2301127024"/>
                    </a:ext>
                  </a:extLst>
                </a:gridCol>
                <a:gridCol w="1332546">
                  <a:extLst>
                    <a:ext uri="{9D8B030D-6E8A-4147-A177-3AD203B41FA5}">
                      <a16:colId xmlns:a16="http://schemas.microsoft.com/office/drawing/2014/main" val="2901901546"/>
                    </a:ext>
                  </a:extLst>
                </a:gridCol>
              </a:tblGrid>
              <a:tr h="303828">
                <a:tc>
                  <a:txBody>
                    <a:bodyPr/>
                    <a:lstStyle/>
                    <a:p>
                      <a:pPr marL="0" marR="0" algn="ctr">
                        <a:lnSpc>
                          <a:spcPct val="105000"/>
                        </a:lnSpc>
                        <a:spcBef>
                          <a:spcPts val="0"/>
                        </a:spcBef>
                        <a:spcAft>
                          <a:spcPts val="0"/>
                        </a:spcAft>
                      </a:pPr>
                      <a:r>
                        <a:rPr lang="en-US" sz="1400" dirty="0">
                          <a:effectLst/>
                        </a:rPr>
                        <a:t>Criteria</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gridSpan="2">
                  <a:txBody>
                    <a:bodyPr/>
                    <a:lstStyle/>
                    <a:p>
                      <a:pPr marL="0" marR="0" algn="ctr">
                        <a:lnSpc>
                          <a:spcPct val="105000"/>
                        </a:lnSpc>
                        <a:spcBef>
                          <a:spcPts val="0"/>
                        </a:spcBef>
                        <a:spcAft>
                          <a:spcPts val="0"/>
                        </a:spcAft>
                      </a:pPr>
                      <a:r>
                        <a:rPr lang="en-US" sz="1400" dirty="0">
                          <a:effectLst/>
                        </a:rPr>
                        <a:t>Significantly High (25)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pPr marL="0" marR="0" algn="ctr">
                        <a:lnSpc>
                          <a:spcPct val="105000"/>
                        </a:lnSpc>
                        <a:spcBef>
                          <a:spcPts val="0"/>
                        </a:spcBef>
                        <a:spcAft>
                          <a:spcPts val="0"/>
                        </a:spcAft>
                      </a:pP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gridSpan="2">
                  <a:txBody>
                    <a:bodyPr/>
                    <a:lstStyle/>
                    <a:p>
                      <a:pPr marL="0" marR="0" algn="ctr">
                        <a:lnSpc>
                          <a:spcPct val="105000"/>
                        </a:lnSpc>
                        <a:spcBef>
                          <a:spcPts val="0"/>
                        </a:spcBef>
                        <a:spcAft>
                          <a:spcPts val="0"/>
                        </a:spcAft>
                      </a:pPr>
                      <a:r>
                        <a:rPr lang="en-US" sz="1400" dirty="0">
                          <a:effectLst/>
                        </a:rPr>
                        <a:t>Very High (20)</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pPr marL="0" marR="0" algn="ctr">
                        <a:lnSpc>
                          <a:spcPct val="105000"/>
                        </a:lnSpc>
                        <a:spcBef>
                          <a:spcPts val="0"/>
                        </a:spcBef>
                        <a:spcAft>
                          <a:spcPts val="0"/>
                        </a:spcAft>
                      </a:pP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gridSpan="2">
                  <a:txBody>
                    <a:bodyPr/>
                    <a:lstStyle/>
                    <a:p>
                      <a:pPr marL="0" marR="0" algn="ctr">
                        <a:lnSpc>
                          <a:spcPct val="105000"/>
                        </a:lnSpc>
                        <a:spcBef>
                          <a:spcPts val="0"/>
                        </a:spcBef>
                        <a:spcAft>
                          <a:spcPts val="0"/>
                        </a:spcAft>
                      </a:pPr>
                      <a:r>
                        <a:rPr lang="en-US" sz="1400" dirty="0">
                          <a:effectLst/>
                        </a:rPr>
                        <a:t>High (15)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pPr marL="0" marR="0" algn="ctr">
                        <a:lnSpc>
                          <a:spcPct val="105000"/>
                        </a:lnSpc>
                        <a:spcBef>
                          <a:spcPts val="0"/>
                        </a:spcBef>
                        <a:spcAft>
                          <a:spcPts val="0"/>
                        </a:spcAft>
                      </a:pP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gridSpan="2">
                  <a:txBody>
                    <a:bodyPr/>
                    <a:lstStyle/>
                    <a:p>
                      <a:pPr marL="0" marR="0" algn="ctr">
                        <a:lnSpc>
                          <a:spcPct val="105000"/>
                        </a:lnSpc>
                        <a:spcBef>
                          <a:spcPts val="0"/>
                        </a:spcBef>
                        <a:spcAft>
                          <a:spcPts val="0"/>
                        </a:spcAft>
                      </a:pPr>
                      <a:r>
                        <a:rPr lang="en-US" sz="1400" dirty="0">
                          <a:effectLst/>
                        </a:rPr>
                        <a:t>Medium (10)</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pPr marL="0" marR="0" algn="ctr">
                        <a:lnSpc>
                          <a:spcPct val="105000"/>
                        </a:lnSpc>
                        <a:spcBef>
                          <a:spcPts val="0"/>
                        </a:spcBef>
                        <a:spcAft>
                          <a:spcPts val="0"/>
                        </a:spcAft>
                      </a:pP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dirty="0">
                          <a:effectLst/>
                        </a:rPr>
                        <a:t>Low (5)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458242844"/>
                  </a:ext>
                </a:extLst>
              </a:tr>
              <a:tr h="801734">
                <a:tc>
                  <a:txBody>
                    <a:bodyPr/>
                    <a:lstStyle/>
                    <a:p>
                      <a:pPr marL="0" marR="0" algn="l">
                        <a:lnSpc>
                          <a:spcPct val="105000"/>
                        </a:lnSpc>
                        <a:spcBef>
                          <a:spcPts val="0"/>
                        </a:spcBef>
                        <a:spcAft>
                          <a:spcPts val="0"/>
                        </a:spcAft>
                      </a:pPr>
                      <a:r>
                        <a:rPr lang="en-US" sz="1200" dirty="0">
                          <a:effectLst/>
                        </a:rPr>
                        <a:t>Impact on business</a:t>
                      </a:r>
                      <a:endParaRPr lang="en-US" sz="1200" dirty="0">
                        <a:effectLst/>
                        <a:latin typeface="Calibri" panose="020F0502020204030204" pitchFamily="34" charset="0"/>
                        <a:ea typeface="Calibri" panose="020F0502020204030204" pitchFamily="34" charset="0"/>
                        <a:cs typeface="Mangal" panose="02040503050203030202"/>
                      </a:endParaRPr>
                    </a:p>
                  </a:txBody>
                  <a:tcPr marL="68580" marR="68580" marT="0" marB="0"/>
                </a:tc>
                <a:tc gridSpan="2">
                  <a:txBody>
                    <a:bodyPr/>
                    <a:lstStyle/>
                    <a:p>
                      <a:pPr marL="0" marR="0" indent="0" algn="ctr">
                        <a:spcBef>
                          <a:spcPts val="100"/>
                        </a:spcBef>
                        <a:spcAft>
                          <a:spcPts val="300"/>
                        </a:spcAft>
                        <a:tabLst>
                          <a:tab pos="180340" algn="l"/>
                          <a:tab pos="457200" algn="l"/>
                        </a:tabLst>
                      </a:pPr>
                      <a:r>
                        <a:rPr lang="en-GB" sz="1200">
                          <a:effectLst/>
                        </a:rPr>
                        <a:t>Complete closure of Branch/ Business</a:t>
                      </a:r>
                      <a:endParaRPr lang="en-US" sz="1200">
                        <a:effectLst/>
                      </a:endParaRPr>
                    </a:p>
                    <a:p>
                      <a:pPr marL="457200" marR="0" algn="ctr">
                        <a:lnSpc>
                          <a:spcPct val="105000"/>
                        </a:lnSpc>
                        <a:spcBef>
                          <a:spcPts val="0"/>
                        </a:spcBef>
                        <a:spcAft>
                          <a:spcPts val="0"/>
                        </a:spcAft>
                      </a:pPr>
                      <a:r>
                        <a:rPr lang="en-US" sz="1200">
                          <a:effectLst/>
                        </a:rPr>
                        <a:t> </a:t>
                      </a:r>
                      <a:endParaRPr lang="en-US" sz="120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pPr marL="0" marR="0" indent="0" algn="ctr">
                        <a:spcBef>
                          <a:spcPts val="100"/>
                        </a:spcBef>
                        <a:spcAft>
                          <a:spcPts val="300"/>
                        </a:spcAft>
                        <a:tabLst>
                          <a:tab pos="180340" algn="l"/>
                          <a:tab pos="457200" algn="l"/>
                        </a:tabLst>
                      </a:pPr>
                      <a:endParaRPr lang="en-US" sz="1200" dirty="0">
                        <a:effectLst/>
                        <a:latin typeface="EYInterstate Light"/>
                        <a:ea typeface="Calibri" panose="020F0502020204030204" pitchFamily="34" charset="0"/>
                        <a:cs typeface="Times New Roman" panose="02020603050405020304" pitchFamily="18" charset="0"/>
                      </a:endParaRPr>
                    </a:p>
                  </a:txBody>
                  <a:tcPr marL="68580" marR="68580" marT="0" marB="0"/>
                </a:tc>
                <a:tc gridSpan="2">
                  <a:txBody>
                    <a:bodyPr/>
                    <a:lstStyle/>
                    <a:p>
                      <a:pPr marL="0" marR="0" indent="0" algn="ctr">
                        <a:spcBef>
                          <a:spcPts val="100"/>
                        </a:spcBef>
                        <a:spcAft>
                          <a:spcPts val="300"/>
                        </a:spcAft>
                        <a:tabLst>
                          <a:tab pos="180340" algn="l"/>
                          <a:tab pos="457200" algn="l"/>
                        </a:tabLst>
                      </a:pPr>
                      <a:r>
                        <a:rPr lang="en-GB" sz="1200" dirty="0">
                          <a:effectLst/>
                        </a:rPr>
                        <a:t>Closure of Branch/ Assessment Unit for long period (&gt;1 year)</a:t>
                      </a:r>
                      <a:endParaRPr lang="en-US" sz="1200" dirty="0">
                        <a:effectLst/>
                        <a:latin typeface="EYInterstate Light"/>
                        <a:ea typeface="Calibri" panose="020F0502020204030204" pitchFamily="34" charset="0"/>
                        <a:cs typeface="Times New Roman" panose="02020603050405020304" pitchFamily="18" charset="0"/>
                      </a:endParaRPr>
                    </a:p>
                  </a:txBody>
                  <a:tcPr marL="68580" marR="68580" marT="0" marB="0"/>
                </a:tc>
                <a:tc hMerge="1">
                  <a:txBody>
                    <a:bodyPr/>
                    <a:lstStyle/>
                    <a:p>
                      <a:pPr marL="0" marR="0" indent="0" algn="ctr">
                        <a:spcBef>
                          <a:spcPts val="100"/>
                        </a:spcBef>
                        <a:spcAft>
                          <a:spcPts val="300"/>
                        </a:spcAft>
                        <a:tabLst>
                          <a:tab pos="180340" algn="l"/>
                          <a:tab pos="457200" algn="l"/>
                        </a:tabLst>
                      </a:pPr>
                      <a:endParaRPr lang="en-US" sz="1200" dirty="0">
                        <a:effectLst/>
                        <a:latin typeface="EYInterstate Light"/>
                        <a:ea typeface="Calibri" panose="020F0502020204030204" pitchFamily="34" charset="0"/>
                        <a:cs typeface="Times New Roman" panose="02020603050405020304" pitchFamily="18" charset="0"/>
                      </a:endParaRPr>
                    </a:p>
                  </a:txBody>
                  <a:tcPr marL="68580" marR="68580" marT="0" marB="0"/>
                </a:tc>
                <a:tc gridSpan="2">
                  <a:txBody>
                    <a:bodyPr/>
                    <a:lstStyle/>
                    <a:p>
                      <a:pPr marL="0" marR="0" indent="0" algn="ctr">
                        <a:spcBef>
                          <a:spcPts val="100"/>
                        </a:spcBef>
                        <a:spcAft>
                          <a:spcPts val="300"/>
                        </a:spcAft>
                        <a:tabLst>
                          <a:tab pos="180340" algn="l"/>
                          <a:tab pos="457200" algn="l"/>
                        </a:tabLst>
                      </a:pPr>
                      <a:r>
                        <a:rPr lang="en-GB" sz="1200" dirty="0">
                          <a:effectLst/>
                        </a:rPr>
                        <a:t>Closure of Branch/ Assessment Unit for moderate period (&gt; 6 months and &lt;= 1 year)</a:t>
                      </a:r>
                      <a:endParaRPr lang="en-US" sz="1200" dirty="0">
                        <a:effectLst/>
                        <a:latin typeface="EYInterstate Light"/>
                        <a:ea typeface="Calibri" panose="020F0502020204030204" pitchFamily="34" charset="0"/>
                        <a:cs typeface="Times New Roman" panose="02020603050405020304" pitchFamily="18" charset="0"/>
                      </a:endParaRPr>
                    </a:p>
                  </a:txBody>
                  <a:tcPr marL="68580" marR="68580" marT="0" marB="0"/>
                </a:tc>
                <a:tc hMerge="1">
                  <a:txBody>
                    <a:bodyPr/>
                    <a:lstStyle/>
                    <a:p>
                      <a:pPr marL="0" marR="0" indent="0" algn="ctr">
                        <a:spcBef>
                          <a:spcPts val="100"/>
                        </a:spcBef>
                        <a:spcAft>
                          <a:spcPts val="300"/>
                        </a:spcAft>
                        <a:tabLst>
                          <a:tab pos="180340" algn="l"/>
                          <a:tab pos="457200" algn="l"/>
                        </a:tabLst>
                      </a:pP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gridSpan="2">
                  <a:txBody>
                    <a:bodyPr/>
                    <a:lstStyle/>
                    <a:p>
                      <a:pPr marL="0" marR="0" indent="0" algn="ctr">
                        <a:spcBef>
                          <a:spcPts val="100"/>
                        </a:spcBef>
                        <a:spcAft>
                          <a:spcPts val="300"/>
                        </a:spcAft>
                        <a:tabLst>
                          <a:tab pos="180340" algn="l"/>
                          <a:tab pos="457200" algn="l"/>
                        </a:tabLst>
                      </a:pPr>
                      <a:r>
                        <a:rPr lang="en-GB" sz="1200">
                          <a:effectLst/>
                        </a:rPr>
                        <a:t>Closure of Branch/ Assessment unit for little period (&gt; 3 months and &lt;= 6 months)</a:t>
                      </a: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hMerge="1">
                  <a:txBody>
                    <a:bodyPr/>
                    <a:lstStyle/>
                    <a:p>
                      <a:pPr marL="0" marR="0" indent="0" algn="ctr">
                        <a:spcBef>
                          <a:spcPts val="100"/>
                        </a:spcBef>
                        <a:spcAft>
                          <a:spcPts val="300"/>
                        </a:spcAft>
                        <a:tabLst>
                          <a:tab pos="180340" algn="l"/>
                          <a:tab pos="457200" algn="l"/>
                        </a:tabLst>
                      </a:pP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100"/>
                        </a:spcBef>
                        <a:spcAft>
                          <a:spcPts val="300"/>
                        </a:spcAft>
                        <a:tabLst>
                          <a:tab pos="180340" algn="l"/>
                          <a:tab pos="457200" algn="l"/>
                        </a:tabLst>
                      </a:pPr>
                      <a:r>
                        <a:rPr lang="en-GB" sz="1200">
                          <a:effectLst/>
                        </a:rPr>
                        <a:t>No closure of branch / Assessment unit</a:t>
                      </a: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1492942"/>
                  </a:ext>
                </a:extLst>
              </a:tr>
              <a:tr h="570122">
                <a:tc>
                  <a:txBody>
                    <a:bodyPr/>
                    <a:lstStyle/>
                    <a:p>
                      <a:pPr marL="0" marR="0" algn="l">
                        <a:lnSpc>
                          <a:spcPct val="105000"/>
                        </a:lnSpc>
                        <a:spcBef>
                          <a:spcPts val="0"/>
                        </a:spcBef>
                        <a:spcAft>
                          <a:spcPts val="0"/>
                        </a:spcAft>
                      </a:pPr>
                      <a:r>
                        <a:rPr lang="en-US" sz="1200" dirty="0">
                          <a:effectLst/>
                        </a:rPr>
                        <a:t>Impact from media coverage (reputational loss – reputational risk rating)</a:t>
                      </a:r>
                      <a:endParaRPr lang="en-US" sz="1200" dirty="0">
                        <a:effectLst/>
                        <a:latin typeface="Calibri" panose="020F0502020204030204" pitchFamily="34" charset="0"/>
                        <a:ea typeface="Calibri" panose="020F0502020204030204" pitchFamily="34" charset="0"/>
                        <a:cs typeface="Mangal" panose="02040503050203030202"/>
                      </a:endParaRPr>
                    </a:p>
                  </a:txBody>
                  <a:tcPr marL="68580" marR="68580" marT="0" marB="0"/>
                </a:tc>
                <a:tc gridSpan="2">
                  <a:txBody>
                    <a:bodyPr/>
                    <a:lstStyle/>
                    <a:p>
                      <a:pPr marL="0" marR="0" indent="0" algn="ctr">
                        <a:spcBef>
                          <a:spcPts val="100"/>
                        </a:spcBef>
                        <a:spcAft>
                          <a:spcPts val="300"/>
                        </a:spcAft>
                        <a:tabLst>
                          <a:tab pos="180340" algn="l"/>
                          <a:tab pos="457200" algn="l"/>
                        </a:tabLst>
                      </a:pPr>
                      <a:r>
                        <a:rPr lang="en-GB" sz="1200">
                          <a:effectLst/>
                        </a:rPr>
                        <a:t> </a:t>
                      </a:r>
                      <a:endParaRPr lang="en-US" sz="1200">
                        <a:effectLst/>
                      </a:endParaRPr>
                    </a:p>
                    <a:p>
                      <a:pPr marL="0" marR="0" indent="0" algn="ctr">
                        <a:spcBef>
                          <a:spcPts val="100"/>
                        </a:spcBef>
                        <a:spcAft>
                          <a:spcPts val="300"/>
                        </a:spcAft>
                        <a:tabLst>
                          <a:tab pos="180340" algn="l"/>
                          <a:tab pos="457200" algn="l"/>
                        </a:tabLst>
                      </a:pPr>
                      <a:r>
                        <a:rPr lang="en-GB" sz="1200">
                          <a:effectLst/>
                        </a:rPr>
                        <a:t>NA</a:t>
                      </a:r>
                      <a:endParaRPr lang="en-US" sz="1200">
                        <a:effectLst/>
                      </a:endParaRPr>
                    </a:p>
                    <a:p>
                      <a:pPr marL="0" marR="0" indent="0" algn="ctr">
                        <a:spcBef>
                          <a:spcPts val="100"/>
                        </a:spcBef>
                        <a:spcAft>
                          <a:spcPts val="300"/>
                        </a:spcAft>
                        <a:tabLst>
                          <a:tab pos="180340" algn="l"/>
                          <a:tab pos="457200" algn="l"/>
                        </a:tabLst>
                      </a:pPr>
                      <a:r>
                        <a:rPr lang="en-GB" sz="1200">
                          <a:effectLst/>
                        </a:rPr>
                        <a:t> </a:t>
                      </a: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hMerge="1">
                  <a:txBody>
                    <a:bodyPr/>
                    <a:lstStyle/>
                    <a:p>
                      <a:pPr marL="0" marR="0" indent="0" algn="ctr">
                        <a:spcBef>
                          <a:spcPts val="100"/>
                        </a:spcBef>
                        <a:spcAft>
                          <a:spcPts val="300"/>
                        </a:spcAft>
                        <a:tabLst>
                          <a:tab pos="180340" algn="l"/>
                          <a:tab pos="457200" algn="l"/>
                        </a:tabLst>
                      </a:pP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gridSpan="2">
                  <a:txBody>
                    <a:bodyPr/>
                    <a:lstStyle/>
                    <a:p>
                      <a:pPr marL="0" marR="0" indent="0" algn="ctr">
                        <a:spcBef>
                          <a:spcPts val="100"/>
                        </a:spcBef>
                        <a:spcAft>
                          <a:spcPts val="300"/>
                        </a:spcAft>
                        <a:tabLst>
                          <a:tab pos="180340" algn="l"/>
                          <a:tab pos="457200" algn="l"/>
                        </a:tabLst>
                      </a:pPr>
                      <a:r>
                        <a:rPr lang="en-GB" sz="1200">
                          <a:effectLst/>
                        </a:rPr>
                        <a:t> </a:t>
                      </a:r>
                      <a:endParaRPr lang="en-US" sz="1200">
                        <a:effectLst/>
                      </a:endParaRPr>
                    </a:p>
                    <a:p>
                      <a:pPr marL="0" marR="0" indent="0" algn="ctr">
                        <a:spcBef>
                          <a:spcPts val="100"/>
                        </a:spcBef>
                        <a:spcAft>
                          <a:spcPts val="300"/>
                        </a:spcAft>
                        <a:tabLst>
                          <a:tab pos="180340" algn="l"/>
                          <a:tab pos="457200" algn="l"/>
                        </a:tabLst>
                      </a:pPr>
                      <a:r>
                        <a:rPr lang="en-GB" sz="1200">
                          <a:effectLst/>
                        </a:rPr>
                        <a:t>Very High</a:t>
                      </a: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hMerge="1">
                  <a:txBody>
                    <a:bodyPr/>
                    <a:lstStyle/>
                    <a:p>
                      <a:pPr marL="0" marR="0" indent="0" algn="ctr">
                        <a:spcBef>
                          <a:spcPts val="100"/>
                        </a:spcBef>
                        <a:spcAft>
                          <a:spcPts val="300"/>
                        </a:spcAft>
                        <a:tabLst>
                          <a:tab pos="180340" algn="l"/>
                          <a:tab pos="457200" algn="l"/>
                        </a:tabLst>
                      </a:pP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gridSpan="2">
                  <a:txBody>
                    <a:bodyPr/>
                    <a:lstStyle/>
                    <a:p>
                      <a:pPr marL="0" marR="0" indent="0" algn="ctr">
                        <a:spcBef>
                          <a:spcPts val="100"/>
                        </a:spcBef>
                        <a:spcAft>
                          <a:spcPts val="300"/>
                        </a:spcAft>
                        <a:tabLst>
                          <a:tab pos="180340" algn="l"/>
                          <a:tab pos="457200" algn="l"/>
                        </a:tabLst>
                      </a:pPr>
                      <a:r>
                        <a:rPr lang="en-GB" sz="1200">
                          <a:effectLst/>
                        </a:rPr>
                        <a:t> </a:t>
                      </a:r>
                      <a:endParaRPr lang="en-US" sz="1200">
                        <a:effectLst/>
                      </a:endParaRPr>
                    </a:p>
                    <a:p>
                      <a:pPr marL="0" marR="0" indent="0" algn="ctr">
                        <a:spcBef>
                          <a:spcPts val="100"/>
                        </a:spcBef>
                        <a:spcAft>
                          <a:spcPts val="300"/>
                        </a:spcAft>
                        <a:tabLst>
                          <a:tab pos="180340" algn="l"/>
                          <a:tab pos="457200" algn="l"/>
                        </a:tabLst>
                      </a:pPr>
                      <a:r>
                        <a:rPr lang="en-GB" sz="1200">
                          <a:effectLst/>
                        </a:rPr>
                        <a:t>High</a:t>
                      </a: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hMerge="1">
                  <a:txBody>
                    <a:bodyPr/>
                    <a:lstStyle/>
                    <a:p>
                      <a:pPr marL="0" marR="0" indent="0" algn="ctr">
                        <a:spcBef>
                          <a:spcPts val="100"/>
                        </a:spcBef>
                        <a:spcAft>
                          <a:spcPts val="300"/>
                        </a:spcAft>
                        <a:tabLst>
                          <a:tab pos="180340" algn="l"/>
                          <a:tab pos="457200" algn="l"/>
                        </a:tabLst>
                      </a:pP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gridSpan="2">
                  <a:txBody>
                    <a:bodyPr/>
                    <a:lstStyle/>
                    <a:p>
                      <a:pPr marL="0" marR="0" indent="0" algn="ctr">
                        <a:spcBef>
                          <a:spcPts val="100"/>
                        </a:spcBef>
                        <a:spcAft>
                          <a:spcPts val="300"/>
                        </a:spcAft>
                        <a:tabLst>
                          <a:tab pos="180340" algn="l"/>
                          <a:tab pos="457200" algn="l"/>
                        </a:tabLst>
                      </a:pPr>
                      <a:r>
                        <a:rPr lang="en-GB" sz="1200">
                          <a:effectLst/>
                        </a:rPr>
                        <a:t> </a:t>
                      </a:r>
                      <a:endParaRPr lang="en-US" sz="1200">
                        <a:effectLst/>
                      </a:endParaRPr>
                    </a:p>
                    <a:p>
                      <a:pPr marL="0" marR="0" indent="0" algn="ctr">
                        <a:spcBef>
                          <a:spcPts val="100"/>
                        </a:spcBef>
                        <a:spcAft>
                          <a:spcPts val="300"/>
                        </a:spcAft>
                        <a:tabLst>
                          <a:tab pos="180340" algn="l"/>
                          <a:tab pos="457200" algn="l"/>
                        </a:tabLst>
                      </a:pPr>
                      <a:r>
                        <a:rPr lang="en-GB" sz="1200">
                          <a:effectLst/>
                        </a:rPr>
                        <a:t>Moderate</a:t>
                      </a: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hMerge="1">
                  <a:txBody>
                    <a:bodyPr/>
                    <a:lstStyle/>
                    <a:p>
                      <a:pPr marL="0" marR="0" indent="0" algn="ctr">
                        <a:spcBef>
                          <a:spcPts val="100"/>
                        </a:spcBef>
                        <a:spcAft>
                          <a:spcPts val="300"/>
                        </a:spcAft>
                        <a:tabLst>
                          <a:tab pos="180340" algn="l"/>
                          <a:tab pos="457200" algn="l"/>
                        </a:tabLst>
                      </a:pP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100"/>
                        </a:spcBef>
                        <a:spcAft>
                          <a:spcPts val="300"/>
                        </a:spcAft>
                        <a:tabLst>
                          <a:tab pos="180340" algn="l"/>
                          <a:tab pos="457200" algn="l"/>
                        </a:tabLst>
                      </a:pPr>
                      <a:r>
                        <a:rPr lang="en-GB" sz="1200">
                          <a:effectLst/>
                        </a:rPr>
                        <a:t> </a:t>
                      </a:r>
                      <a:endParaRPr lang="en-US" sz="1200">
                        <a:effectLst/>
                      </a:endParaRPr>
                    </a:p>
                    <a:p>
                      <a:pPr marL="0" marR="0" indent="0" algn="ctr">
                        <a:spcBef>
                          <a:spcPts val="100"/>
                        </a:spcBef>
                        <a:spcAft>
                          <a:spcPts val="300"/>
                        </a:spcAft>
                        <a:tabLst>
                          <a:tab pos="180340" algn="l"/>
                          <a:tab pos="457200" algn="l"/>
                        </a:tabLst>
                      </a:pPr>
                      <a:r>
                        <a:rPr lang="en-GB" sz="1200">
                          <a:effectLst/>
                        </a:rPr>
                        <a:t>Low</a:t>
                      </a:r>
                      <a:endParaRPr lang="en-US" sz="1200">
                        <a:effectLst/>
                        <a:latin typeface="EYInterstate Ligh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23912675"/>
                  </a:ext>
                </a:extLst>
              </a:tr>
              <a:tr h="329936">
                <a:tc>
                  <a:txBody>
                    <a:bodyPr/>
                    <a:lstStyle/>
                    <a:p>
                      <a:pPr marL="0" marR="0" algn="l">
                        <a:lnSpc>
                          <a:spcPct val="105000"/>
                        </a:lnSpc>
                        <a:spcBef>
                          <a:spcPts val="0"/>
                        </a:spcBef>
                        <a:spcAft>
                          <a:spcPts val="0"/>
                        </a:spcAft>
                      </a:pPr>
                      <a:r>
                        <a:rPr lang="en-US" sz="1200" dirty="0">
                          <a:effectLst/>
                        </a:rPr>
                        <a:t>Impact of financial penalties against Bank</a:t>
                      </a:r>
                      <a:endParaRPr lang="en-US" sz="1200" dirty="0">
                        <a:effectLst/>
                        <a:latin typeface="Calibri" panose="020F0502020204030204" pitchFamily="34" charset="0"/>
                        <a:ea typeface="Calibri" panose="020F0502020204030204" pitchFamily="34" charset="0"/>
                        <a:cs typeface="Mangal" panose="02040503050203030202"/>
                      </a:endParaRPr>
                    </a:p>
                  </a:txBody>
                  <a:tcPr marL="68580" marR="68580" marT="0" marB="0"/>
                </a:tc>
                <a:tc gridSpan="9">
                  <a:txBody>
                    <a:bodyPr/>
                    <a:lstStyle/>
                    <a:p>
                      <a:pPr marL="0" marR="0" algn="ctr">
                        <a:lnSpc>
                          <a:spcPct val="105000"/>
                        </a:lnSpc>
                        <a:spcBef>
                          <a:spcPts val="0"/>
                        </a:spcBef>
                        <a:spcAft>
                          <a:spcPts val="0"/>
                        </a:spcAft>
                      </a:pPr>
                      <a:r>
                        <a:rPr lang="en-US" sz="1200">
                          <a:effectLst/>
                        </a:rPr>
                        <a:t>Penalty levied to AU - 25</a:t>
                      </a:r>
                    </a:p>
                    <a:p>
                      <a:pPr marL="0" marR="0" algn="ctr">
                        <a:lnSpc>
                          <a:spcPct val="105000"/>
                        </a:lnSpc>
                        <a:spcBef>
                          <a:spcPts val="0"/>
                        </a:spcBef>
                        <a:spcAft>
                          <a:spcPts val="0"/>
                        </a:spcAft>
                      </a:pPr>
                      <a:r>
                        <a:rPr lang="en-US" sz="1200">
                          <a:effectLst/>
                        </a:rPr>
                        <a:t>No Penalty to AU - 5</a:t>
                      </a:r>
                      <a:endParaRPr lang="en-US" sz="120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95530291"/>
                  </a:ext>
                </a:extLst>
              </a:tr>
              <a:tr h="498300">
                <a:tc>
                  <a:txBody>
                    <a:bodyPr/>
                    <a:lstStyle/>
                    <a:p>
                      <a:pPr marL="0" marR="0" algn="l">
                        <a:lnSpc>
                          <a:spcPct val="105000"/>
                        </a:lnSpc>
                        <a:spcBef>
                          <a:spcPts val="0"/>
                        </a:spcBef>
                        <a:spcAft>
                          <a:spcPts val="0"/>
                        </a:spcAft>
                      </a:pPr>
                      <a:r>
                        <a:rPr lang="en-US" sz="1200" dirty="0">
                          <a:effectLst/>
                        </a:rPr>
                        <a:t>G/L impact (financial reporting impact)</a:t>
                      </a:r>
                      <a:endParaRPr lang="en-US" sz="12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200">
                          <a:effectLst/>
                        </a:rPr>
                        <a:t> </a:t>
                      </a:r>
                    </a:p>
                    <a:p>
                      <a:pPr marL="0" marR="0" algn="ctr">
                        <a:lnSpc>
                          <a:spcPct val="105000"/>
                        </a:lnSpc>
                        <a:spcBef>
                          <a:spcPts val="0"/>
                        </a:spcBef>
                        <a:spcAft>
                          <a:spcPts val="0"/>
                        </a:spcAft>
                      </a:pPr>
                      <a:r>
                        <a:rPr lang="en-US" sz="1200">
                          <a:effectLst/>
                        </a:rPr>
                        <a:t>Significantly High</a:t>
                      </a:r>
                      <a:endParaRPr lang="en-US" sz="1200">
                        <a:effectLst/>
                        <a:latin typeface="Calibri" panose="020F0502020204030204" pitchFamily="34" charset="0"/>
                        <a:ea typeface="Calibri" panose="020F0502020204030204" pitchFamily="34" charset="0"/>
                        <a:cs typeface="Mangal" panose="02040503050203030202"/>
                      </a:endParaRPr>
                    </a:p>
                  </a:txBody>
                  <a:tcPr marL="68580" marR="68580" marT="0" marB="0"/>
                </a:tc>
                <a:tc gridSpan="2">
                  <a:txBody>
                    <a:bodyPr/>
                    <a:lstStyle/>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High</a:t>
                      </a:r>
                      <a:endParaRPr lang="en-US" sz="1200" dirty="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endParaRPr lang="en-US"/>
                    </a:p>
                  </a:txBody>
                  <a:tcPr/>
                </a:tc>
                <a:tc gridSpan="2">
                  <a:txBody>
                    <a:bodyPr/>
                    <a:lstStyle/>
                    <a:p>
                      <a:pPr marL="0" marR="0" algn="ctr">
                        <a:lnSpc>
                          <a:spcPct val="105000"/>
                        </a:lnSpc>
                        <a:spcBef>
                          <a:spcPts val="0"/>
                        </a:spcBef>
                        <a:spcAft>
                          <a:spcPts val="0"/>
                        </a:spcAft>
                      </a:pPr>
                      <a:r>
                        <a:rPr lang="en-US" sz="1200">
                          <a:effectLst/>
                        </a:rPr>
                        <a:t> </a:t>
                      </a:r>
                    </a:p>
                    <a:p>
                      <a:pPr marL="0" marR="0" algn="ctr">
                        <a:lnSpc>
                          <a:spcPct val="105000"/>
                        </a:lnSpc>
                        <a:spcBef>
                          <a:spcPts val="0"/>
                        </a:spcBef>
                        <a:spcAft>
                          <a:spcPts val="0"/>
                        </a:spcAft>
                      </a:pPr>
                      <a:r>
                        <a:rPr lang="en-US" sz="1200">
                          <a:effectLst/>
                        </a:rPr>
                        <a:t> </a:t>
                      </a:r>
                    </a:p>
                    <a:p>
                      <a:pPr marL="0" marR="0" algn="ctr">
                        <a:lnSpc>
                          <a:spcPct val="105000"/>
                        </a:lnSpc>
                        <a:spcBef>
                          <a:spcPts val="0"/>
                        </a:spcBef>
                        <a:spcAft>
                          <a:spcPts val="0"/>
                        </a:spcAft>
                      </a:pPr>
                      <a:r>
                        <a:rPr lang="en-US" sz="1200">
                          <a:effectLst/>
                        </a:rPr>
                        <a:t>Medium</a:t>
                      </a:r>
                      <a:endParaRPr lang="en-US" sz="120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endParaRPr lang="en-US"/>
                    </a:p>
                  </a:txBody>
                  <a:tcPr/>
                </a:tc>
                <a:tc gridSpan="2">
                  <a:txBody>
                    <a:bodyPr/>
                    <a:lstStyle/>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NA</a:t>
                      </a:r>
                      <a:endParaRPr lang="en-US" sz="1200" dirty="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endParaRPr lang="en-US"/>
                    </a:p>
                  </a:txBody>
                  <a:tcPr/>
                </a:tc>
                <a:tc gridSpan="2">
                  <a:txBody>
                    <a:bodyPr/>
                    <a:lstStyle/>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 </a:t>
                      </a:r>
                    </a:p>
                    <a:p>
                      <a:pPr marL="0" marR="0" algn="ctr">
                        <a:lnSpc>
                          <a:spcPct val="105000"/>
                        </a:lnSpc>
                        <a:spcBef>
                          <a:spcPts val="0"/>
                        </a:spcBef>
                        <a:spcAft>
                          <a:spcPts val="0"/>
                        </a:spcAft>
                      </a:pPr>
                      <a:r>
                        <a:rPr lang="en-US" sz="1200" dirty="0">
                          <a:effectLst/>
                        </a:rPr>
                        <a:t>NA</a:t>
                      </a:r>
                      <a:endParaRPr lang="en-US" sz="1200" dirty="0">
                        <a:effectLst/>
                        <a:latin typeface="Calibri" panose="020F0502020204030204" pitchFamily="34" charset="0"/>
                        <a:ea typeface="Calibri" panose="020F0502020204030204" pitchFamily="34" charset="0"/>
                        <a:cs typeface="Mangal" panose="02040503050203030202"/>
                      </a:endParaRPr>
                    </a:p>
                  </a:txBody>
                  <a:tcPr marL="68580" marR="68580" marT="0" marB="0"/>
                </a:tc>
                <a:tc hMerge="1">
                  <a:txBody>
                    <a:bodyPr/>
                    <a:lstStyle/>
                    <a:p>
                      <a:endParaRPr lang="en-US"/>
                    </a:p>
                  </a:txBody>
                  <a:tcPr/>
                </a:tc>
                <a:extLst>
                  <a:ext uri="{0D108BD9-81ED-4DB2-BD59-A6C34878D82A}">
                    <a16:rowId xmlns:a16="http://schemas.microsoft.com/office/drawing/2014/main" val="1821797542"/>
                  </a:ext>
                </a:extLst>
              </a:tr>
            </a:tbl>
          </a:graphicData>
        </a:graphic>
      </p:graphicFrame>
      <p:sp>
        <p:nvSpPr>
          <p:cNvPr id="9" name="Content Placeholder 4">
            <a:extLst>
              <a:ext uri="{FF2B5EF4-FFF2-40B4-BE49-F238E27FC236}">
                <a16:creationId xmlns:a16="http://schemas.microsoft.com/office/drawing/2014/main" id="{BD8390B9-9640-FE87-E01D-D6FD75796BC9}"/>
              </a:ext>
            </a:extLst>
          </p:cNvPr>
          <p:cNvSpPr txBox="1">
            <a:spLocks/>
          </p:cNvSpPr>
          <p:nvPr/>
        </p:nvSpPr>
        <p:spPr>
          <a:xfrm>
            <a:off x="1901228" y="1311384"/>
            <a:ext cx="9547471" cy="37332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700" b="1" u="sng" dirty="0" smtClean="0">
                <a:solidFill>
                  <a:schemeClr val="bg1"/>
                </a:solidFill>
                <a:latin typeface="Calibri" panose="020F0502020204030204" pitchFamily="34" charset="0"/>
                <a:cs typeface="Calibri" panose="020F0502020204030204" pitchFamily="34" charset="0"/>
              </a:rPr>
              <a:t>Impact Parameters</a:t>
            </a:r>
          </a:p>
          <a:p>
            <a:r>
              <a:rPr lang="en-IN" sz="1700" dirty="0">
                <a:solidFill>
                  <a:schemeClr val="bg1"/>
                </a:solidFill>
                <a:latin typeface="Calibri" panose="020F0502020204030204" pitchFamily="34" charset="0"/>
                <a:cs typeface="Calibri" panose="020F0502020204030204" pitchFamily="34" charset="0"/>
              </a:rPr>
              <a:t>Impact on business</a:t>
            </a:r>
          </a:p>
          <a:p>
            <a:r>
              <a:rPr lang="en-IN" sz="1700" dirty="0">
                <a:solidFill>
                  <a:schemeClr val="bg1"/>
                </a:solidFill>
                <a:latin typeface="Calibri" panose="020F0502020204030204" pitchFamily="34" charset="0"/>
                <a:cs typeface="Calibri" panose="020F0502020204030204" pitchFamily="34" charset="0"/>
              </a:rPr>
              <a:t>Impact from media coverage (reputational loss – reputational risk rating)</a:t>
            </a:r>
          </a:p>
          <a:p>
            <a:r>
              <a:rPr lang="en-IN" sz="1700" dirty="0">
                <a:solidFill>
                  <a:schemeClr val="bg1"/>
                </a:solidFill>
                <a:latin typeface="Calibri" panose="020F0502020204030204" pitchFamily="34" charset="0"/>
                <a:cs typeface="Calibri" panose="020F0502020204030204" pitchFamily="34" charset="0"/>
              </a:rPr>
              <a:t>Impact of financial penalties against Bank</a:t>
            </a:r>
          </a:p>
          <a:p>
            <a:r>
              <a:rPr lang="en-IN" sz="1700" dirty="0">
                <a:solidFill>
                  <a:schemeClr val="bg1"/>
                </a:solidFill>
                <a:latin typeface="Calibri" panose="020F0502020204030204" pitchFamily="34" charset="0"/>
                <a:cs typeface="Calibri" panose="020F0502020204030204" pitchFamily="34" charset="0"/>
              </a:rPr>
              <a:t>G/L impact (financial reporting impact)</a:t>
            </a:r>
          </a:p>
        </p:txBody>
      </p:sp>
      <p:sp>
        <p:nvSpPr>
          <p:cNvPr id="10" name="TextBox 9"/>
          <p:cNvSpPr txBox="1"/>
          <p:nvPr/>
        </p:nvSpPr>
        <p:spPr>
          <a:xfrm>
            <a:off x="560173" y="792854"/>
            <a:ext cx="11219546" cy="400110"/>
          </a:xfrm>
          <a:prstGeom prst="rect">
            <a:avLst/>
          </a:prstGeom>
          <a:noFill/>
        </p:spPr>
        <p:txBody>
          <a:bodyPr wrap="square" rtlCol="0">
            <a:spAutoFit/>
          </a:bodyPr>
          <a:lstStyle/>
          <a:p>
            <a:pPr algn="ctr"/>
            <a:r>
              <a:rPr lang="en-IN" sz="2000" b="1" dirty="0" smtClean="0">
                <a:solidFill>
                  <a:schemeClr val="bg1"/>
                </a:solidFill>
              </a:rPr>
              <a:t>Inherent Risk Parameters </a:t>
            </a:r>
            <a:endParaRPr lang="en-US" sz="2000" b="1" dirty="0">
              <a:solidFill>
                <a:schemeClr val="bg1"/>
              </a:solidFill>
            </a:endParaRPr>
          </a:p>
        </p:txBody>
      </p:sp>
      <p:pic>
        <p:nvPicPr>
          <p:cNvPr id="6" name="Picture 5">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273055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B4DAD9-B0BF-9CD2-544B-BF92923D85D4}"/>
              </a:ext>
            </a:extLst>
          </p:cNvPr>
          <p:cNvSpPr txBox="1">
            <a:spLocks/>
          </p:cNvSpPr>
          <p:nvPr/>
        </p:nvSpPr>
        <p:spPr>
          <a:xfrm>
            <a:off x="1704465" y="480627"/>
            <a:ext cx="9940998" cy="9017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800" smtClean="0">
                <a:latin typeface="Calibri" panose="020F0502020204030204" pitchFamily="34" charset="0"/>
                <a:ea typeface="Calibri" panose="020F0502020204030204" pitchFamily="34" charset="0"/>
                <a:cs typeface="Times New Roman" panose="02020603050405020304" pitchFamily="18" charset="0"/>
              </a:rPr>
              <a:t/>
            </a:r>
            <a:br>
              <a:rPr lang="en-IN" sz="1800" smtClean="0">
                <a:latin typeface="Calibri" panose="020F0502020204030204" pitchFamily="34" charset="0"/>
                <a:ea typeface="Calibri" panose="020F0502020204030204" pitchFamily="34" charset="0"/>
                <a:cs typeface="Times New Roman" panose="02020603050405020304" pitchFamily="18" charset="0"/>
              </a:rPr>
            </a:br>
            <a:endParaRPr lang="en-IN" sz="3200" b="1" dirty="0">
              <a:solidFill>
                <a:schemeClr val="bg1"/>
              </a:solidFill>
              <a:latin typeface="Calibri" panose="020F0502020204030204" pitchFamily="34" charset="0"/>
              <a:ea typeface="+mn-ea"/>
              <a:cs typeface="Calibri" panose="020F0502020204030204" pitchFamily="34" charset="0"/>
            </a:endParaRPr>
          </a:p>
        </p:txBody>
      </p:sp>
      <p:sp>
        <p:nvSpPr>
          <p:cNvPr id="5" name="Content Placeholder 4">
            <a:extLst>
              <a:ext uri="{FF2B5EF4-FFF2-40B4-BE49-F238E27FC236}">
                <a16:creationId xmlns:a16="http://schemas.microsoft.com/office/drawing/2014/main" id="{BD8390B9-9640-FE87-E01D-D6FD75796BC9}"/>
              </a:ext>
            </a:extLst>
          </p:cNvPr>
          <p:cNvSpPr txBox="1">
            <a:spLocks/>
          </p:cNvSpPr>
          <p:nvPr/>
        </p:nvSpPr>
        <p:spPr>
          <a:xfrm>
            <a:off x="1915427" y="1357162"/>
            <a:ext cx="9533272" cy="37259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7000"/>
              </a:lnSpc>
              <a:spcAft>
                <a:spcPts val="800"/>
              </a:spcAft>
            </a:pPr>
            <a:r>
              <a:rPr lang="en-IN" sz="1700" dirty="0">
                <a:solidFill>
                  <a:schemeClr val="bg1"/>
                </a:solidFill>
                <a:ea typeface="Calibri" panose="020F0502020204030204" pitchFamily="34" charset="0"/>
                <a:cs typeface="Mangal" panose="02040503050203030202" pitchFamily="18" charset="0"/>
              </a:rPr>
              <a:t>To arrive at the inherent risk score for an AU, the rating score for likelihood and impact will be </a:t>
            </a:r>
            <a:r>
              <a:rPr lang="en-IN" sz="1700" dirty="0" smtClean="0">
                <a:solidFill>
                  <a:schemeClr val="bg1"/>
                </a:solidFill>
                <a:ea typeface="Calibri" panose="020F0502020204030204" pitchFamily="34" charset="0"/>
                <a:cs typeface="Mangal" panose="02040503050203030202" pitchFamily="18" charset="0"/>
              </a:rPr>
              <a:t>multiplied.</a:t>
            </a:r>
          </a:p>
          <a:p>
            <a:pPr marL="0" indent="0" algn="just">
              <a:lnSpc>
                <a:spcPct val="107000"/>
              </a:lnSpc>
              <a:spcAft>
                <a:spcPts val="800"/>
              </a:spcAft>
              <a:buNone/>
            </a:pPr>
            <a:r>
              <a:rPr lang="en-IN" sz="1700" b="1" dirty="0" smtClean="0">
                <a:solidFill>
                  <a:schemeClr val="bg1"/>
                </a:solidFill>
                <a:ea typeface="Calibri" panose="020F0502020204030204" pitchFamily="34" charset="0"/>
                <a:cs typeface="Mangal" panose="02040503050203030202" pitchFamily="18" charset="0"/>
              </a:rPr>
              <a:t>		         </a:t>
            </a:r>
            <a:r>
              <a:rPr lang="en-IN" sz="1800" b="1" dirty="0" smtClean="0">
                <a:solidFill>
                  <a:schemeClr val="bg1"/>
                </a:solidFill>
                <a:ea typeface="Calibri" panose="020F0502020204030204" pitchFamily="34" charset="0"/>
                <a:cs typeface="Mangal" panose="02040503050203030202" pitchFamily="18" charset="0"/>
              </a:rPr>
              <a:t>Inherent </a:t>
            </a:r>
            <a:r>
              <a:rPr lang="en-IN" sz="1800" b="1" dirty="0">
                <a:solidFill>
                  <a:schemeClr val="bg1"/>
                </a:solidFill>
                <a:ea typeface="Calibri" panose="020F0502020204030204" pitchFamily="34" charset="0"/>
                <a:cs typeface="Mangal" panose="02040503050203030202" pitchFamily="18" charset="0"/>
              </a:rPr>
              <a:t>risk </a:t>
            </a:r>
            <a:r>
              <a:rPr lang="en-IN" sz="1800" b="1" dirty="0" smtClean="0">
                <a:solidFill>
                  <a:schemeClr val="bg1"/>
                </a:solidFill>
                <a:ea typeface="Calibri" panose="020F0502020204030204" pitchFamily="34" charset="0"/>
                <a:cs typeface="Mangal" panose="02040503050203030202" pitchFamily="18" charset="0"/>
              </a:rPr>
              <a:t>score = </a:t>
            </a:r>
            <a:r>
              <a:rPr lang="en-IN" sz="1800" b="1" dirty="0">
                <a:solidFill>
                  <a:schemeClr val="bg1"/>
                </a:solidFill>
                <a:ea typeface="Calibri" panose="020F0502020204030204" pitchFamily="34" charset="0"/>
                <a:cs typeface="Mangal" panose="02040503050203030202" pitchFamily="18" charset="0"/>
              </a:rPr>
              <a:t>Likelihood * </a:t>
            </a:r>
            <a:r>
              <a:rPr lang="en-IN" sz="1800" b="1" dirty="0" smtClean="0">
                <a:solidFill>
                  <a:schemeClr val="bg1"/>
                </a:solidFill>
                <a:ea typeface="Calibri" panose="020F0502020204030204" pitchFamily="34" charset="0"/>
                <a:cs typeface="Mangal" panose="02040503050203030202" pitchFamily="18" charset="0"/>
              </a:rPr>
              <a:t>Impact</a:t>
            </a:r>
          </a:p>
          <a:p>
            <a:pPr algn="just">
              <a:lnSpc>
                <a:spcPct val="107000"/>
              </a:lnSpc>
              <a:spcAft>
                <a:spcPts val="800"/>
              </a:spcAft>
            </a:pPr>
            <a:endParaRPr lang="en-IN" sz="1700" dirty="0">
              <a:solidFill>
                <a:schemeClr val="bg1"/>
              </a:solidFill>
              <a:ea typeface="Calibri" panose="020F0502020204030204" pitchFamily="34" charset="0"/>
              <a:cs typeface="Mangal" panose="02040503050203030202" pitchFamily="18" charset="0"/>
            </a:endParaRPr>
          </a:p>
          <a:p>
            <a:pPr algn="just">
              <a:lnSpc>
                <a:spcPct val="107000"/>
              </a:lnSpc>
              <a:spcAft>
                <a:spcPts val="800"/>
              </a:spcAft>
            </a:pPr>
            <a:r>
              <a:rPr lang="en-IN" sz="1700" dirty="0" smtClean="0">
                <a:solidFill>
                  <a:schemeClr val="bg1"/>
                </a:solidFill>
                <a:ea typeface="Calibri" panose="020F0502020204030204" pitchFamily="34" charset="0"/>
                <a:cs typeface="Mangal" panose="02040503050203030202" pitchFamily="18" charset="0"/>
              </a:rPr>
              <a:t>The </a:t>
            </a:r>
            <a:r>
              <a:rPr lang="en-IN" sz="1700" dirty="0">
                <a:solidFill>
                  <a:schemeClr val="bg1"/>
                </a:solidFill>
                <a:ea typeface="Calibri" panose="020F0502020204030204" pitchFamily="34" charset="0"/>
                <a:cs typeface="Mangal" panose="02040503050203030202" pitchFamily="18" charset="0"/>
              </a:rPr>
              <a:t>SAS GCM system will assign the inherent risk rating based on the score as per following matrix:</a:t>
            </a:r>
          </a:p>
          <a:p>
            <a:pPr marL="0" indent="0" algn="just">
              <a:lnSpc>
                <a:spcPct val="105000"/>
              </a:lnSpc>
              <a:spcAft>
                <a:spcPts val="800"/>
              </a:spcAft>
              <a:buNone/>
            </a:pPr>
            <a:endParaRPr lang="en-IN" sz="1700" dirty="0" smtClean="0">
              <a:solidFill>
                <a:schemeClr val="bg1"/>
              </a:solidFill>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097129007"/>
              </p:ext>
            </p:extLst>
          </p:nvPr>
        </p:nvGraphicFramePr>
        <p:xfrm>
          <a:off x="4242403" y="3989179"/>
          <a:ext cx="3855085" cy="1344168"/>
        </p:xfrm>
        <a:graphic>
          <a:graphicData uri="http://schemas.openxmlformats.org/drawingml/2006/table">
            <a:tbl>
              <a:tblPr firstRow="1" firstCol="1" bandRow="1">
                <a:tableStyleId>{5C22544A-7EE6-4342-B048-85BDC9FD1C3A}</a:tableStyleId>
              </a:tblPr>
              <a:tblGrid>
                <a:gridCol w="1707515">
                  <a:extLst>
                    <a:ext uri="{9D8B030D-6E8A-4147-A177-3AD203B41FA5}">
                      <a16:colId xmlns:a16="http://schemas.microsoft.com/office/drawing/2014/main" val="580274545"/>
                    </a:ext>
                  </a:extLst>
                </a:gridCol>
                <a:gridCol w="2147570">
                  <a:extLst>
                    <a:ext uri="{9D8B030D-6E8A-4147-A177-3AD203B41FA5}">
                      <a16:colId xmlns:a16="http://schemas.microsoft.com/office/drawing/2014/main" val="1997177549"/>
                    </a:ext>
                  </a:extLst>
                </a:gridCol>
              </a:tblGrid>
              <a:tr h="0">
                <a:tc>
                  <a:txBody>
                    <a:bodyPr/>
                    <a:lstStyle/>
                    <a:p>
                      <a:pPr marL="0" marR="0" algn="ctr">
                        <a:lnSpc>
                          <a:spcPct val="105000"/>
                        </a:lnSpc>
                        <a:spcBef>
                          <a:spcPts val="0"/>
                        </a:spcBef>
                        <a:spcAft>
                          <a:spcPts val="0"/>
                        </a:spcAft>
                      </a:pPr>
                      <a:r>
                        <a:rPr lang="en-US" sz="1400" dirty="0">
                          <a:effectLst/>
                        </a:rPr>
                        <a:t>Score</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Rating</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001222500"/>
                  </a:ext>
                </a:extLst>
              </a:tr>
              <a:tr h="0">
                <a:tc>
                  <a:txBody>
                    <a:bodyPr/>
                    <a:lstStyle/>
                    <a:p>
                      <a:pPr marL="0" marR="0" algn="ctr">
                        <a:lnSpc>
                          <a:spcPct val="105000"/>
                        </a:lnSpc>
                        <a:spcBef>
                          <a:spcPts val="0"/>
                        </a:spcBef>
                        <a:spcAft>
                          <a:spcPts val="0"/>
                        </a:spcAft>
                      </a:pPr>
                      <a:r>
                        <a:rPr lang="en-US" sz="1400">
                          <a:effectLst/>
                        </a:rPr>
                        <a:t>&gt;=375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Extremely High</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889006585"/>
                  </a:ext>
                </a:extLst>
              </a:tr>
              <a:tr h="0">
                <a:tc>
                  <a:txBody>
                    <a:bodyPr/>
                    <a:lstStyle/>
                    <a:p>
                      <a:pPr marL="0" marR="0" algn="ctr">
                        <a:lnSpc>
                          <a:spcPct val="105000"/>
                        </a:lnSpc>
                        <a:spcBef>
                          <a:spcPts val="0"/>
                        </a:spcBef>
                        <a:spcAft>
                          <a:spcPts val="0"/>
                        </a:spcAft>
                      </a:pPr>
                      <a:r>
                        <a:rPr lang="en-US" sz="1400">
                          <a:effectLst/>
                        </a:rPr>
                        <a:t>&gt;=200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dirty="0">
                          <a:effectLst/>
                        </a:rPr>
                        <a:t>Very High</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025927303"/>
                  </a:ext>
                </a:extLst>
              </a:tr>
              <a:tr h="0">
                <a:tc>
                  <a:txBody>
                    <a:bodyPr/>
                    <a:lstStyle/>
                    <a:p>
                      <a:pPr marL="0" marR="0" algn="ctr">
                        <a:lnSpc>
                          <a:spcPct val="105000"/>
                        </a:lnSpc>
                        <a:spcBef>
                          <a:spcPts val="0"/>
                        </a:spcBef>
                        <a:spcAft>
                          <a:spcPts val="0"/>
                        </a:spcAft>
                      </a:pPr>
                      <a:r>
                        <a:rPr lang="en-US" sz="1400">
                          <a:effectLst/>
                        </a:rPr>
                        <a:t>&gt;=100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High</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993712965"/>
                  </a:ext>
                </a:extLst>
              </a:tr>
              <a:tr h="0">
                <a:tc>
                  <a:txBody>
                    <a:bodyPr/>
                    <a:lstStyle/>
                    <a:p>
                      <a:pPr marL="0" marR="0" algn="ctr">
                        <a:lnSpc>
                          <a:spcPct val="105000"/>
                        </a:lnSpc>
                        <a:spcBef>
                          <a:spcPts val="0"/>
                        </a:spcBef>
                        <a:spcAft>
                          <a:spcPts val="0"/>
                        </a:spcAft>
                      </a:pPr>
                      <a:r>
                        <a:rPr lang="en-US" sz="1400">
                          <a:effectLst/>
                        </a:rPr>
                        <a:t>&gt;=25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Minor</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550212305"/>
                  </a:ext>
                </a:extLst>
              </a:tr>
              <a:tr h="0">
                <a:tc>
                  <a:txBody>
                    <a:bodyPr/>
                    <a:lstStyle/>
                    <a:p>
                      <a:pPr marL="0" marR="0" algn="ctr">
                        <a:lnSpc>
                          <a:spcPct val="105000"/>
                        </a:lnSpc>
                        <a:spcBef>
                          <a:spcPts val="0"/>
                        </a:spcBef>
                        <a:spcAft>
                          <a:spcPts val="0"/>
                        </a:spcAft>
                      </a:pPr>
                      <a:r>
                        <a:rPr lang="en-US" sz="1400">
                          <a:effectLst/>
                        </a:rPr>
                        <a:t>&lt;25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dirty="0">
                          <a:effectLst/>
                        </a:rPr>
                        <a:t>Insignificant</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899950564"/>
                  </a:ext>
                </a:extLst>
              </a:tr>
            </a:tbl>
          </a:graphicData>
        </a:graphic>
      </p:graphicFrame>
      <p:sp>
        <p:nvSpPr>
          <p:cNvPr id="12" name="TextBox 11"/>
          <p:cNvSpPr txBox="1"/>
          <p:nvPr/>
        </p:nvSpPr>
        <p:spPr>
          <a:xfrm>
            <a:off x="560173" y="792854"/>
            <a:ext cx="11219546" cy="400110"/>
          </a:xfrm>
          <a:prstGeom prst="rect">
            <a:avLst/>
          </a:prstGeom>
          <a:noFill/>
        </p:spPr>
        <p:txBody>
          <a:bodyPr wrap="square" rtlCol="0">
            <a:spAutoFit/>
          </a:bodyPr>
          <a:lstStyle/>
          <a:p>
            <a:pPr algn="ctr"/>
            <a:r>
              <a:rPr lang="en-IN" sz="2000" b="1" dirty="0" smtClean="0">
                <a:solidFill>
                  <a:schemeClr val="bg1"/>
                </a:solidFill>
              </a:rPr>
              <a:t>Inherent Risk Calculation </a:t>
            </a:r>
            <a:endParaRPr lang="en-US" sz="2000" b="1" dirty="0">
              <a:solidFill>
                <a:schemeClr val="bg1"/>
              </a:solidFill>
            </a:endParaRPr>
          </a:p>
        </p:txBody>
      </p:sp>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3890955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F522CA4-3D8E-90DC-8481-921C9F9F5EA3}"/>
              </a:ext>
            </a:extLst>
          </p:cNvPr>
          <p:cNvSpPr>
            <a:spLocks noGrp="1"/>
          </p:cNvSpPr>
          <p:nvPr>
            <p:ph type="body" sz="quarter" idx="10"/>
          </p:nvPr>
        </p:nvSpPr>
        <p:spPr>
          <a:xfrm>
            <a:off x="1740676" y="1337912"/>
            <a:ext cx="9029993" cy="2829827"/>
          </a:xfrm>
        </p:spPr>
        <p:txBody>
          <a:bodyPr>
            <a:normAutofit/>
          </a:bodyPr>
          <a:lstStyle/>
          <a:p>
            <a:r>
              <a:rPr lang="en-IN" sz="1700" b="0" dirty="0" smtClean="0">
                <a:effectLst/>
                <a:latin typeface="+mn-lt"/>
                <a:ea typeface="Calibri" panose="020F0502020204030204" pitchFamily="34" charset="0"/>
                <a:cs typeface="Mangal" panose="02040503050203030202" pitchFamily="18" charset="0"/>
              </a:rPr>
              <a:t>On </a:t>
            </a:r>
            <a:r>
              <a:rPr lang="en-IN" sz="1700" b="0" dirty="0">
                <a:effectLst/>
                <a:latin typeface="+mn-lt"/>
                <a:ea typeface="Calibri" panose="020F0502020204030204" pitchFamily="34" charset="0"/>
                <a:cs typeface="Mangal" panose="02040503050203030202" pitchFamily="18" charset="0"/>
              </a:rPr>
              <a:t>completion of </a:t>
            </a:r>
            <a:r>
              <a:rPr lang="en-IN" sz="1700" b="0" dirty="0" smtClean="0">
                <a:effectLst/>
                <a:latin typeface="+mn-lt"/>
                <a:ea typeface="Calibri" panose="020F0502020204030204" pitchFamily="34" charset="0"/>
                <a:cs typeface="Mangal" panose="02040503050203030202" pitchFamily="18" charset="0"/>
              </a:rPr>
              <a:t>Inherent </a:t>
            </a:r>
            <a:r>
              <a:rPr lang="en-IN" sz="1700" b="0" dirty="0">
                <a:latin typeface="+mn-lt"/>
                <a:ea typeface="Calibri" panose="020F0502020204030204" pitchFamily="34" charset="0"/>
                <a:cs typeface="Mangal" panose="02040503050203030202" pitchFamily="18" charset="0"/>
              </a:rPr>
              <a:t>R</a:t>
            </a:r>
            <a:r>
              <a:rPr lang="en-IN" sz="1700" b="0" dirty="0" smtClean="0">
                <a:effectLst/>
                <a:latin typeface="+mn-lt"/>
                <a:ea typeface="Calibri" panose="020F0502020204030204" pitchFamily="34" charset="0"/>
                <a:cs typeface="Mangal" panose="02040503050203030202" pitchFamily="18" charset="0"/>
              </a:rPr>
              <a:t>isk </a:t>
            </a:r>
            <a:r>
              <a:rPr lang="en-IN" sz="1700" b="0" dirty="0">
                <a:latin typeface="+mn-lt"/>
                <a:ea typeface="Calibri" panose="020F0502020204030204" pitchFamily="34" charset="0"/>
                <a:cs typeface="Mangal" panose="02040503050203030202" pitchFamily="18" charset="0"/>
              </a:rPr>
              <a:t>A</a:t>
            </a:r>
            <a:r>
              <a:rPr lang="en-IN" sz="1700" b="0" dirty="0" smtClean="0">
                <a:effectLst/>
                <a:latin typeface="+mn-lt"/>
                <a:ea typeface="Calibri" panose="020F0502020204030204" pitchFamily="34" charset="0"/>
                <a:cs typeface="Mangal" panose="02040503050203030202" pitchFamily="18" charset="0"/>
              </a:rPr>
              <a:t>ssessment</a:t>
            </a:r>
            <a:r>
              <a:rPr lang="en-IN" sz="1700" b="0" dirty="0">
                <a:effectLst/>
                <a:latin typeface="+mn-lt"/>
                <a:ea typeface="Calibri" panose="020F0502020204030204" pitchFamily="34" charset="0"/>
                <a:cs typeface="Mangal" panose="02040503050203030202" pitchFamily="18" charset="0"/>
              </a:rPr>
              <a:t>, the next step is determining the existence and effectiveness of internal controls that mitigate the inherent compliance and financial reporting risk.</a:t>
            </a:r>
          </a:p>
          <a:p>
            <a:endParaRPr lang="en-IN" sz="1700" b="0" dirty="0">
              <a:effectLst/>
              <a:latin typeface="+mn-lt"/>
              <a:ea typeface="Calibri" panose="020F0502020204030204" pitchFamily="34" charset="0"/>
              <a:cs typeface="Mangal" panose="02040503050203030202" pitchFamily="18" charset="0"/>
            </a:endParaRPr>
          </a:p>
          <a:p>
            <a:pPr algn="just">
              <a:lnSpc>
                <a:spcPct val="105000"/>
              </a:lnSpc>
              <a:spcAft>
                <a:spcPts val="800"/>
              </a:spcAft>
            </a:pPr>
            <a:r>
              <a:rPr lang="en-IN" sz="1700" b="0" dirty="0">
                <a:effectLst/>
                <a:latin typeface="+mn-lt"/>
                <a:ea typeface="Calibri" panose="020F0502020204030204" pitchFamily="34" charset="0"/>
                <a:cs typeface="Mangal" panose="02040503050203030202" pitchFamily="18" charset="0"/>
              </a:rPr>
              <a:t>  This assessment will involve:</a:t>
            </a:r>
          </a:p>
          <a:p>
            <a:pPr marL="285750" lvl="0" indent="-285750" algn="just">
              <a:lnSpc>
                <a:spcPct val="105000"/>
              </a:lnSpc>
              <a:spcBef>
                <a:spcPts val="600"/>
              </a:spcBef>
              <a:spcAft>
                <a:spcPts val="800"/>
              </a:spcAft>
              <a:buSzPts val="1000"/>
              <a:buFont typeface="Arial" panose="020B0604020202020204" pitchFamily="34" charset="0"/>
              <a:buChar char="•"/>
              <a:tabLst>
                <a:tab pos="180340" algn="l"/>
              </a:tabLst>
            </a:pPr>
            <a:r>
              <a:rPr lang="en-IN" sz="1700" dirty="0">
                <a:effectLst/>
                <a:latin typeface="+mn-lt"/>
                <a:ea typeface="Calibri" panose="020F0502020204030204" pitchFamily="34" charset="0"/>
                <a:cs typeface="Times New Roman" panose="02020603050405020304" pitchFamily="18" charset="0"/>
              </a:rPr>
              <a:t>Control </a:t>
            </a:r>
            <a:r>
              <a:rPr lang="en-IN" sz="1700" dirty="0" smtClean="0">
                <a:effectLst/>
                <a:latin typeface="+mn-lt"/>
                <a:ea typeface="Calibri" panose="020F0502020204030204" pitchFamily="34" charset="0"/>
                <a:cs typeface="Times New Roman" panose="02020603050405020304" pitchFamily="18" charset="0"/>
              </a:rPr>
              <a:t>Quality </a:t>
            </a:r>
            <a:r>
              <a:rPr lang="en-IN" sz="1700" dirty="0">
                <a:latin typeface="+mn-lt"/>
                <a:ea typeface="Calibri" panose="020F0502020204030204" pitchFamily="34" charset="0"/>
                <a:cs typeface="Times New Roman" panose="02020603050405020304" pitchFamily="18" charset="0"/>
              </a:rPr>
              <a:t>A</a:t>
            </a:r>
            <a:r>
              <a:rPr lang="en-IN" sz="1700" dirty="0" smtClean="0">
                <a:effectLst/>
                <a:latin typeface="+mn-lt"/>
                <a:ea typeface="Calibri" panose="020F0502020204030204" pitchFamily="34" charset="0"/>
                <a:cs typeface="Times New Roman" panose="02020603050405020304" pitchFamily="18" charset="0"/>
              </a:rPr>
              <a:t>ssessment</a:t>
            </a:r>
            <a:r>
              <a:rPr lang="en-IN" sz="1700" b="0" dirty="0">
                <a:effectLst/>
                <a:latin typeface="+mn-lt"/>
                <a:ea typeface="Calibri" panose="020F0502020204030204" pitchFamily="34" charset="0"/>
                <a:cs typeface="Times New Roman" panose="02020603050405020304" pitchFamily="18" charset="0"/>
              </a:rPr>
              <a:t>, wherein an assessment of the design and operating effectiveness of controls established in the Assessment Unit is performed</a:t>
            </a:r>
          </a:p>
          <a:p>
            <a:pPr marL="285750" lvl="0" indent="-285750" algn="just">
              <a:lnSpc>
                <a:spcPct val="105000"/>
              </a:lnSpc>
              <a:spcBef>
                <a:spcPts val="600"/>
              </a:spcBef>
              <a:spcAft>
                <a:spcPts val="800"/>
              </a:spcAft>
              <a:buSzPts val="1000"/>
              <a:buFont typeface="Arial" panose="020B0604020202020204" pitchFamily="34" charset="0"/>
              <a:buChar char="•"/>
              <a:tabLst>
                <a:tab pos="180340" algn="l"/>
              </a:tabLst>
            </a:pPr>
            <a:r>
              <a:rPr lang="en-IN" sz="1700" dirty="0">
                <a:effectLst/>
                <a:latin typeface="+mn-lt"/>
                <a:ea typeface="Calibri" panose="020F0502020204030204" pitchFamily="34" charset="0"/>
                <a:cs typeface="Times New Roman" panose="02020603050405020304" pitchFamily="18" charset="0"/>
              </a:rPr>
              <a:t>Control </a:t>
            </a:r>
            <a:r>
              <a:rPr lang="en-IN" sz="1700" dirty="0" smtClean="0">
                <a:effectLst/>
                <a:latin typeface="+mn-lt"/>
                <a:ea typeface="Calibri" panose="020F0502020204030204" pitchFamily="34" charset="0"/>
                <a:cs typeface="Times New Roman" panose="02020603050405020304" pitchFamily="18" charset="0"/>
              </a:rPr>
              <a:t>Performance </a:t>
            </a:r>
            <a:r>
              <a:rPr lang="en-IN" sz="1700" dirty="0">
                <a:latin typeface="+mn-lt"/>
                <a:ea typeface="Calibri" panose="020F0502020204030204" pitchFamily="34" charset="0"/>
                <a:cs typeface="Times New Roman" panose="02020603050405020304" pitchFamily="18" charset="0"/>
              </a:rPr>
              <a:t>A</a:t>
            </a:r>
            <a:r>
              <a:rPr lang="en-IN" sz="1700" dirty="0" smtClean="0">
                <a:effectLst/>
                <a:latin typeface="+mn-lt"/>
                <a:ea typeface="Calibri" panose="020F0502020204030204" pitchFamily="34" charset="0"/>
                <a:cs typeface="Times New Roman" panose="02020603050405020304" pitchFamily="18" charset="0"/>
              </a:rPr>
              <a:t>ssessment</a:t>
            </a:r>
            <a:r>
              <a:rPr lang="en-IN" sz="1700" b="0" dirty="0">
                <a:effectLst/>
                <a:latin typeface="+mn-lt"/>
                <a:ea typeface="Calibri" panose="020F0502020204030204" pitchFamily="34" charset="0"/>
                <a:cs typeface="Times New Roman" panose="02020603050405020304" pitchFamily="18" charset="0"/>
              </a:rPr>
              <a:t>, wherein an assessment of the operating effectiveness of processes is performed.</a:t>
            </a:r>
          </a:p>
        </p:txBody>
      </p:sp>
      <p:sp>
        <p:nvSpPr>
          <p:cNvPr id="6" name="TextBox 5"/>
          <p:cNvSpPr txBox="1"/>
          <p:nvPr/>
        </p:nvSpPr>
        <p:spPr>
          <a:xfrm>
            <a:off x="560173" y="792854"/>
            <a:ext cx="11219546" cy="400110"/>
          </a:xfrm>
          <a:prstGeom prst="rect">
            <a:avLst/>
          </a:prstGeom>
          <a:noFill/>
        </p:spPr>
        <p:txBody>
          <a:bodyPr wrap="square" rtlCol="0">
            <a:spAutoFit/>
          </a:bodyPr>
          <a:lstStyle/>
          <a:p>
            <a:pPr algn="ctr"/>
            <a:r>
              <a:rPr lang="en-IN" sz="2000" b="1" dirty="0" smtClean="0">
                <a:solidFill>
                  <a:schemeClr val="bg1"/>
                </a:solidFill>
              </a:rPr>
              <a:t>Control Environment Assessment</a:t>
            </a:r>
            <a:endParaRPr lang="en-US" sz="2000" b="1" dirty="0">
              <a:solidFill>
                <a:schemeClr val="bg1"/>
              </a:solidFill>
            </a:endParaRPr>
          </a:p>
        </p:txBody>
      </p:sp>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883195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F522CA4-3D8E-90DC-8481-921C9F9F5EA3}"/>
              </a:ext>
            </a:extLst>
          </p:cNvPr>
          <p:cNvSpPr>
            <a:spLocks noGrp="1"/>
          </p:cNvSpPr>
          <p:nvPr>
            <p:ph type="body" sz="quarter" idx="10"/>
          </p:nvPr>
        </p:nvSpPr>
        <p:spPr>
          <a:xfrm>
            <a:off x="1740676" y="1337912"/>
            <a:ext cx="9029993" cy="2098307"/>
          </a:xfrm>
        </p:spPr>
        <p:txBody>
          <a:bodyPr>
            <a:normAutofit lnSpcReduction="10000"/>
          </a:bodyPr>
          <a:lstStyle/>
          <a:p>
            <a:r>
              <a:rPr lang="en-IN" sz="1700" dirty="0" smtClean="0">
                <a:latin typeface="+mn-lt"/>
              </a:rPr>
              <a:t>The </a:t>
            </a:r>
            <a:r>
              <a:rPr lang="en-IN" sz="1700" dirty="0">
                <a:latin typeface="+mn-lt"/>
              </a:rPr>
              <a:t>C</a:t>
            </a:r>
            <a:r>
              <a:rPr lang="en-IN" sz="1700" dirty="0" smtClean="0">
                <a:latin typeface="+mn-lt"/>
              </a:rPr>
              <a:t>ontrol </a:t>
            </a:r>
            <a:r>
              <a:rPr lang="en-IN" sz="1700" dirty="0">
                <a:latin typeface="+mn-lt"/>
              </a:rPr>
              <a:t>Q</a:t>
            </a:r>
            <a:r>
              <a:rPr lang="en-IN" sz="1700" dirty="0" smtClean="0">
                <a:latin typeface="+mn-lt"/>
              </a:rPr>
              <a:t>uality </a:t>
            </a:r>
            <a:r>
              <a:rPr lang="en-IN" sz="1700" dirty="0">
                <a:latin typeface="+mn-lt"/>
              </a:rPr>
              <a:t>A</a:t>
            </a:r>
            <a:r>
              <a:rPr lang="en-IN" sz="1700" dirty="0" smtClean="0">
                <a:latin typeface="+mn-lt"/>
              </a:rPr>
              <a:t>ssessment </a:t>
            </a:r>
            <a:r>
              <a:rPr lang="en-IN" sz="1700" dirty="0">
                <a:latin typeface="+mn-lt"/>
              </a:rPr>
              <a:t>is an assessment of the </a:t>
            </a:r>
            <a:r>
              <a:rPr lang="en-IN" sz="1700" dirty="0" smtClean="0">
                <a:latin typeface="+mn-lt"/>
              </a:rPr>
              <a:t>:</a:t>
            </a:r>
            <a:endParaRPr lang="en-US" sz="1700" dirty="0">
              <a:latin typeface="+mn-lt"/>
            </a:endParaRPr>
          </a:p>
          <a:p>
            <a:pPr marL="285750" lvl="0" indent="-285750">
              <a:buFont typeface="Arial" panose="020B0604020202020204" pitchFamily="34" charset="0"/>
              <a:buChar char="•"/>
            </a:pPr>
            <a:r>
              <a:rPr lang="en-IN" sz="1700" dirty="0">
                <a:latin typeface="+mn-lt"/>
              </a:rPr>
              <a:t>Control design effectiveness </a:t>
            </a:r>
            <a:endParaRPr lang="en-US" sz="1700" dirty="0">
              <a:latin typeface="+mn-lt"/>
            </a:endParaRPr>
          </a:p>
          <a:p>
            <a:pPr marL="285750" lvl="0" indent="-285750">
              <a:buFont typeface="Arial" panose="020B0604020202020204" pitchFamily="34" charset="0"/>
              <a:buChar char="•"/>
            </a:pPr>
            <a:r>
              <a:rPr lang="en-IN" sz="1700" dirty="0">
                <a:latin typeface="+mn-lt"/>
              </a:rPr>
              <a:t>Control operating effectiveness</a:t>
            </a:r>
            <a:endParaRPr lang="en-US" sz="1700" dirty="0">
              <a:latin typeface="+mn-lt"/>
            </a:endParaRPr>
          </a:p>
          <a:p>
            <a:r>
              <a:rPr lang="en-IN" sz="1700" dirty="0">
                <a:latin typeface="+mn-lt"/>
              </a:rPr>
              <a:t> </a:t>
            </a:r>
            <a:endParaRPr lang="en-US" sz="1700" dirty="0">
              <a:latin typeface="+mn-lt"/>
            </a:endParaRPr>
          </a:p>
          <a:p>
            <a:r>
              <a:rPr lang="en-IN" sz="1700" dirty="0">
                <a:latin typeface="+mn-lt"/>
              </a:rPr>
              <a:t>The outcome of this assessment is a Control Quality Index (CQI), which represents the health of the Assessment Unit with regards to the quality of processes and controls designed to mitigate compliance and financial reporting risk across the Assessment Unit</a:t>
            </a:r>
            <a:endParaRPr lang="en-IN" sz="1700" b="0" dirty="0">
              <a:effectLst/>
              <a:latin typeface="+mn-lt"/>
              <a:ea typeface="Calibri" panose="020F0502020204030204" pitchFamily="34" charset="0"/>
              <a:cs typeface="Times New Roman" panose="02020603050405020304" pitchFamily="18" charset="0"/>
            </a:endParaRPr>
          </a:p>
        </p:txBody>
      </p:sp>
      <p:sp>
        <p:nvSpPr>
          <p:cNvPr id="6" name="TextBox 5"/>
          <p:cNvSpPr txBox="1"/>
          <p:nvPr/>
        </p:nvSpPr>
        <p:spPr>
          <a:xfrm>
            <a:off x="560173" y="792854"/>
            <a:ext cx="11219546" cy="400110"/>
          </a:xfrm>
          <a:prstGeom prst="rect">
            <a:avLst/>
          </a:prstGeom>
          <a:noFill/>
        </p:spPr>
        <p:txBody>
          <a:bodyPr wrap="square" rtlCol="0">
            <a:spAutoFit/>
          </a:bodyPr>
          <a:lstStyle/>
          <a:p>
            <a:pPr algn="ctr"/>
            <a:r>
              <a:rPr lang="en-IN" sz="2000" b="1" dirty="0">
                <a:solidFill>
                  <a:schemeClr val="bg1"/>
                </a:solidFill>
              </a:rPr>
              <a:t>Control Quality Assessment</a:t>
            </a:r>
            <a:endParaRPr lang="en-US" sz="2000" dirty="0">
              <a:solidFill>
                <a:schemeClr val="bg1"/>
              </a:solidFill>
            </a:endParaRPr>
          </a:p>
        </p:txBody>
      </p:sp>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3703773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F522CA4-3D8E-90DC-8481-921C9F9F5EA3}"/>
              </a:ext>
            </a:extLst>
          </p:cNvPr>
          <p:cNvSpPr>
            <a:spLocks noGrp="1"/>
          </p:cNvSpPr>
          <p:nvPr>
            <p:ph type="body" sz="quarter" idx="10"/>
          </p:nvPr>
        </p:nvSpPr>
        <p:spPr>
          <a:xfrm>
            <a:off x="1735796" y="1742055"/>
            <a:ext cx="9386128" cy="2259263"/>
          </a:xfrm>
        </p:spPr>
        <p:txBody>
          <a:bodyPr>
            <a:noAutofit/>
          </a:bodyPr>
          <a:lstStyle/>
          <a:p>
            <a:pPr algn="just">
              <a:lnSpc>
                <a:spcPct val="105000"/>
              </a:lnSpc>
              <a:spcBef>
                <a:spcPts val="0"/>
              </a:spcBef>
              <a:spcAft>
                <a:spcPts val="800"/>
              </a:spcAft>
            </a:pPr>
            <a:r>
              <a:rPr lang="en-IN" sz="1700" dirty="0" smtClean="0">
                <a:latin typeface="+mn-lt"/>
                <a:ea typeface="Calibri" panose="020F0502020204030204" pitchFamily="34" charset="0"/>
                <a:cs typeface="Mangal"/>
              </a:rPr>
              <a:t>During </a:t>
            </a:r>
            <a:r>
              <a:rPr lang="en-IN" sz="1700" dirty="0">
                <a:latin typeface="+mn-lt"/>
                <a:ea typeface="Calibri" panose="020F0502020204030204" pitchFamily="34" charset="0"/>
                <a:cs typeface="Mangal"/>
              </a:rPr>
              <a:t>this assessment, the controls in place to address the risks are evaluated basis the RCM to assess whether the actual controls, if operated as designed, can effectively mitigate risk to an acceptable level. </a:t>
            </a:r>
            <a:endParaRPr lang="en-US" sz="1700" dirty="0">
              <a:latin typeface="+mn-lt"/>
              <a:ea typeface="Calibri" panose="020F0502020204030204" pitchFamily="34" charset="0"/>
              <a:cs typeface="Mangal"/>
            </a:endParaRPr>
          </a:p>
          <a:p>
            <a:pPr algn="just">
              <a:lnSpc>
                <a:spcPct val="105000"/>
              </a:lnSpc>
              <a:spcBef>
                <a:spcPts val="0"/>
              </a:spcBef>
              <a:spcAft>
                <a:spcPts val="800"/>
              </a:spcAft>
            </a:pPr>
            <a:r>
              <a:rPr lang="en-IN" sz="1700" dirty="0">
                <a:latin typeface="+mn-lt"/>
                <a:ea typeface="Calibri" panose="020F0502020204030204" pitchFamily="34" charset="0"/>
                <a:cs typeface="Mangal"/>
              </a:rPr>
              <a:t>Based on design of the control that has been rated during recording of controls, the control design effectiveness will be auto calculated by the SAS GCM system based on the following control </a:t>
            </a:r>
            <a:r>
              <a:rPr lang="en-IN" sz="1700" dirty="0" smtClean="0">
                <a:latin typeface="+mn-lt"/>
                <a:ea typeface="Calibri" panose="020F0502020204030204" pitchFamily="34" charset="0"/>
                <a:cs typeface="Mangal"/>
              </a:rPr>
              <a:t>attributes</a:t>
            </a:r>
            <a:r>
              <a:rPr lang="en-IN" sz="1700" dirty="0">
                <a:latin typeface="+mn-lt"/>
                <a:ea typeface="Calibri" panose="020F0502020204030204" pitchFamily="34" charset="0"/>
                <a:cs typeface="Mangal"/>
              </a:rPr>
              <a:t> </a:t>
            </a:r>
            <a:r>
              <a:rPr lang="en-IN" sz="1700" dirty="0" smtClean="0">
                <a:latin typeface="+mn-lt"/>
                <a:ea typeface="Calibri" panose="020F0502020204030204" pitchFamily="34" charset="0"/>
                <a:cs typeface="Mangal"/>
              </a:rPr>
              <a:t>:</a:t>
            </a:r>
          </a:p>
          <a:p>
            <a:pPr algn="just">
              <a:lnSpc>
                <a:spcPct val="105000"/>
              </a:lnSpc>
              <a:spcBef>
                <a:spcPts val="0"/>
              </a:spcBef>
              <a:spcAft>
                <a:spcPts val="800"/>
              </a:spcAft>
            </a:pPr>
            <a:endParaRPr lang="en-IN" sz="1700" dirty="0">
              <a:latin typeface="+mn-lt"/>
              <a:ea typeface="Calibri" panose="020F0502020204030204" pitchFamily="34" charset="0"/>
              <a:cs typeface="Mangal"/>
            </a:endParaRPr>
          </a:p>
          <a:p>
            <a:pPr algn="just">
              <a:lnSpc>
                <a:spcPct val="105000"/>
              </a:lnSpc>
              <a:spcBef>
                <a:spcPts val="0"/>
              </a:spcBef>
              <a:spcAft>
                <a:spcPts val="600"/>
              </a:spcAft>
            </a:pPr>
            <a:r>
              <a:rPr lang="en-IN" sz="1700" u="sng" dirty="0">
                <a:latin typeface="+mn-lt"/>
                <a:ea typeface="Calibri" panose="020F0502020204030204" pitchFamily="34" charset="0"/>
                <a:cs typeface="Mangal"/>
              </a:rPr>
              <a:t>Monitoring mechanism (Maker checker review)</a:t>
            </a:r>
            <a:endParaRPr lang="en-US" sz="1700" dirty="0">
              <a:latin typeface="+mn-lt"/>
              <a:ea typeface="Calibri" panose="020F0502020204030204" pitchFamily="34" charset="0"/>
              <a:cs typeface="Mangal"/>
            </a:endParaRPr>
          </a:p>
          <a:p>
            <a:pPr algn="just">
              <a:lnSpc>
                <a:spcPct val="105000"/>
              </a:lnSpc>
              <a:spcBef>
                <a:spcPts val="0"/>
              </a:spcBef>
              <a:spcAft>
                <a:spcPts val="800"/>
              </a:spcAft>
            </a:pPr>
            <a:endParaRPr lang="en-US" sz="1700" dirty="0">
              <a:latin typeface="+mn-lt"/>
              <a:ea typeface="Calibri" panose="020F0502020204030204" pitchFamily="34" charset="0"/>
              <a:cs typeface="Mangal"/>
            </a:endParaRPr>
          </a:p>
        </p:txBody>
      </p:sp>
      <p:sp>
        <p:nvSpPr>
          <p:cNvPr id="6" name="TextBox 5"/>
          <p:cNvSpPr txBox="1"/>
          <p:nvPr/>
        </p:nvSpPr>
        <p:spPr>
          <a:xfrm>
            <a:off x="560173" y="792854"/>
            <a:ext cx="11219546" cy="400110"/>
          </a:xfrm>
          <a:prstGeom prst="rect">
            <a:avLst/>
          </a:prstGeom>
          <a:noFill/>
        </p:spPr>
        <p:txBody>
          <a:bodyPr wrap="square" rtlCol="0">
            <a:spAutoFit/>
          </a:bodyPr>
          <a:lstStyle/>
          <a:p>
            <a:pPr algn="ctr"/>
            <a:r>
              <a:rPr lang="en-IN" sz="2000" b="1" dirty="0">
                <a:solidFill>
                  <a:schemeClr val="bg1"/>
                </a:solidFill>
              </a:rPr>
              <a:t>Control </a:t>
            </a:r>
            <a:r>
              <a:rPr lang="en-IN" sz="2000" b="1" dirty="0" smtClean="0">
                <a:solidFill>
                  <a:schemeClr val="bg1"/>
                </a:solidFill>
              </a:rPr>
              <a:t>Design Effectiveness</a:t>
            </a:r>
            <a:endParaRPr lang="en-US" sz="2000" dirty="0">
              <a:solidFill>
                <a:schemeClr val="bg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3697106633"/>
              </p:ext>
            </p:extLst>
          </p:nvPr>
        </p:nvGraphicFramePr>
        <p:xfrm>
          <a:off x="2906681" y="3779520"/>
          <a:ext cx="6526530" cy="2590387"/>
        </p:xfrm>
        <a:graphic>
          <a:graphicData uri="http://schemas.openxmlformats.org/drawingml/2006/table">
            <a:tbl>
              <a:tblPr firstRow="1" firstCol="1" bandRow="1">
                <a:tableStyleId>{5C22544A-7EE6-4342-B048-85BDC9FD1C3A}</a:tableStyleId>
              </a:tblPr>
              <a:tblGrid>
                <a:gridCol w="1786956">
                  <a:extLst>
                    <a:ext uri="{9D8B030D-6E8A-4147-A177-3AD203B41FA5}">
                      <a16:colId xmlns:a16="http://schemas.microsoft.com/office/drawing/2014/main" val="3233075019"/>
                    </a:ext>
                  </a:extLst>
                </a:gridCol>
                <a:gridCol w="830836">
                  <a:extLst>
                    <a:ext uri="{9D8B030D-6E8A-4147-A177-3AD203B41FA5}">
                      <a16:colId xmlns:a16="http://schemas.microsoft.com/office/drawing/2014/main" val="1982112682"/>
                    </a:ext>
                  </a:extLst>
                </a:gridCol>
                <a:gridCol w="3908738">
                  <a:extLst>
                    <a:ext uri="{9D8B030D-6E8A-4147-A177-3AD203B41FA5}">
                      <a16:colId xmlns:a16="http://schemas.microsoft.com/office/drawing/2014/main" val="4042322309"/>
                    </a:ext>
                  </a:extLst>
                </a:gridCol>
              </a:tblGrid>
              <a:tr h="350107">
                <a:tc>
                  <a:txBody>
                    <a:bodyPr/>
                    <a:lstStyle/>
                    <a:p>
                      <a:pPr marL="0" marR="0" algn="ctr">
                        <a:lnSpc>
                          <a:spcPct val="105000"/>
                        </a:lnSpc>
                        <a:spcBef>
                          <a:spcPts val="0"/>
                        </a:spcBef>
                        <a:spcAft>
                          <a:spcPts val="0"/>
                        </a:spcAft>
                      </a:pPr>
                      <a:r>
                        <a:rPr lang="en-US" sz="1400">
                          <a:effectLst/>
                        </a:rPr>
                        <a:t>Rating</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Score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dirty="0">
                          <a:effectLst/>
                        </a:rPr>
                        <a:t>Parameter</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097151854"/>
                  </a:ext>
                </a:extLst>
              </a:tr>
              <a:tr h="0">
                <a:tc>
                  <a:txBody>
                    <a:bodyPr/>
                    <a:lstStyle/>
                    <a:p>
                      <a:pPr marL="0" marR="0" algn="ctr">
                        <a:lnSpc>
                          <a:spcPct val="105000"/>
                        </a:lnSpc>
                        <a:spcBef>
                          <a:spcPts val="0"/>
                        </a:spcBef>
                        <a:spcAft>
                          <a:spcPts val="0"/>
                        </a:spcAft>
                      </a:pPr>
                      <a:r>
                        <a:rPr lang="en-US" sz="1400">
                          <a:effectLst/>
                        </a:rPr>
                        <a:t>Highly effective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Where there is automated maker checker control (MRC+IT) </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4046474831"/>
                  </a:ext>
                </a:extLst>
              </a:tr>
              <a:tr h="0">
                <a:tc>
                  <a:txBody>
                    <a:bodyPr/>
                    <a:lstStyle/>
                    <a:p>
                      <a:pPr marL="0" marR="0" algn="ctr">
                        <a:lnSpc>
                          <a:spcPct val="105000"/>
                        </a:lnSpc>
                        <a:spcBef>
                          <a:spcPts val="0"/>
                        </a:spcBef>
                        <a:spcAft>
                          <a:spcPts val="0"/>
                        </a:spcAft>
                      </a:pPr>
                      <a:r>
                        <a:rPr lang="en-US" sz="1400">
                          <a:effectLst/>
                        </a:rPr>
                        <a:t>Highly effective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Where there is HLC control (HLC) and fully automated control (NA+IT)</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986175457"/>
                  </a:ext>
                </a:extLst>
              </a:tr>
              <a:tr h="0">
                <a:tc>
                  <a:txBody>
                    <a:bodyPr/>
                    <a:lstStyle/>
                    <a:p>
                      <a:pPr marL="0" marR="0" algn="ctr">
                        <a:lnSpc>
                          <a:spcPct val="105000"/>
                        </a:lnSpc>
                        <a:spcBef>
                          <a:spcPts val="0"/>
                        </a:spcBef>
                        <a:spcAft>
                          <a:spcPts val="0"/>
                        </a:spcAft>
                      </a:pPr>
                      <a:r>
                        <a:rPr lang="en-US" sz="1400">
                          <a:effectLst/>
                        </a:rPr>
                        <a:t>Meets Requirement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Where there is manual maker checker control (MRC + Manual/IT Based Manual)</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227087350"/>
                  </a:ext>
                </a:extLst>
              </a:tr>
              <a:tr h="0">
                <a:tc>
                  <a:txBody>
                    <a:bodyPr/>
                    <a:lstStyle/>
                    <a:p>
                      <a:pPr marL="0" marR="0" algn="ctr">
                        <a:lnSpc>
                          <a:spcPct val="105000"/>
                        </a:lnSpc>
                        <a:spcBef>
                          <a:spcPts val="0"/>
                        </a:spcBef>
                        <a:spcAft>
                          <a:spcPts val="0"/>
                        </a:spcAft>
                      </a:pPr>
                      <a:r>
                        <a:rPr lang="en-US" sz="1400">
                          <a:effectLst/>
                        </a:rPr>
                        <a:t>Meets Requirement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Where control is IT based manual but no maker checker (NA+IT Based Manual</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623713056"/>
                  </a:ext>
                </a:extLst>
              </a:tr>
              <a:tr h="0">
                <a:tc>
                  <a:txBody>
                    <a:bodyPr/>
                    <a:lstStyle/>
                    <a:p>
                      <a:pPr marL="0" marR="0" algn="ctr">
                        <a:lnSpc>
                          <a:spcPct val="105000"/>
                        </a:lnSpc>
                        <a:spcBef>
                          <a:spcPts val="0"/>
                        </a:spcBef>
                        <a:spcAft>
                          <a:spcPts val="0"/>
                        </a:spcAft>
                      </a:pPr>
                      <a:r>
                        <a:rPr lang="en-US" sz="1400">
                          <a:effectLst/>
                        </a:rPr>
                        <a:t>Significant Improvement Needed</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dirty="0">
                          <a:effectLst/>
                        </a:rPr>
                        <a:t>There is manual control and no maker checker (NA + Manual)</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461439321"/>
                  </a:ext>
                </a:extLst>
              </a:tr>
            </a:tbl>
          </a:graphicData>
        </a:graphic>
      </p:graphicFrame>
      <p:pic>
        <p:nvPicPr>
          <p:cNvPr id="8" name="Picture 7">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4188736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IN" sz="2000" b="1" dirty="0">
                <a:solidFill>
                  <a:schemeClr val="bg1"/>
                </a:solidFill>
              </a:rPr>
              <a:t>Control </a:t>
            </a:r>
            <a:r>
              <a:rPr lang="en-IN" sz="2000" b="1" dirty="0" smtClean="0">
                <a:solidFill>
                  <a:schemeClr val="bg1"/>
                </a:solidFill>
              </a:rPr>
              <a:t>Design Effectiveness</a:t>
            </a:r>
            <a:endParaRPr lang="en-US" sz="2000" dirty="0">
              <a:solidFill>
                <a:schemeClr val="bg1"/>
              </a:solidFill>
            </a:endParaRPr>
          </a:p>
        </p:txBody>
      </p:sp>
      <p:sp>
        <p:nvSpPr>
          <p:cNvPr id="3" name="Rectangle 2"/>
          <p:cNvSpPr/>
          <p:nvPr/>
        </p:nvSpPr>
        <p:spPr>
          <a:xfrm>
            <a:off x="1815147" y="1287101"/>
            <a:ext cx="3388556" cy="355931"/>
          </a:xfrm>
          <a:prstGeom prst="rect">
            <a:avLst/>
          </a:prstGeom>
        </p:spPr>
        <p:txBody>
          <a:bodyPr wrap="none">
            <a:spAutoFit/>
          </a:bodyPr>
          <a:lstStyle/>
          <a:p>
            <a:pPr algn="just">
              <a:lnSpc>
                <a:spcPct val="105000"/>
              </a:lnSpc>
              <a:spcBef>
                <a:spcPts val="0"/>
              </a:spcBef>
              <a:spcAft>
                <a:spcPts val="600"/>
              </a:spcAft>
            </a:pPr>
            <a:r>
              <a:rPr lang="en-US" sz="1700" u="sng" dirty="0">
                <a:solidFill>
                  <a:schemeClr val="bg1"/>
                </a:solidFill>
                <a:ea typeface="Calibri" panose="020F0502020204030204" pitchFamily="34" charset="0"/>
                <a:cs typeface="Mangal"/>
              </a:rPr>
              <a:t>Manual / IT driven/ IT based manual</a:t>
            </a:r>
            <a:endParaRPr lang="en-US" sz="1700" dirty="0">
              <a:solidFill>
                <a:schemeClr val="bg1"/>
              </a:solidFill>
              <a:ea typeface="Calibri" panose="020F0502020204030204" pitchFamily="34" charset="0"/>
              <a:cs typeface="Mangal"/>
            </a:endParaRPr>
          </a:p>
        </p:txBody>
      </p:sp>
      <p:graphicFrame>
        <p:nvGraphicFramePr>
          <p:cNvPr id="8" name="Table 7"/>
          <p:cNvGraphicFramePr>
            <a:graphicFrameLocks noGrp="1"/>
          </p:cNvGraphicFramePr>
          <p:nvPr>
            <p:extLst>
              <p:ext uri="{D42A27DB-BD31-4B8C-83A1-F6EECF244321}">
                <p14:modId xmlns:p14="http://schemas.microsoft.com/office/powerpoint/2010/main" val="3660755402"/>
              </p:ext>
            </p:extLst>
          </p:nvPr>
        </p:nvGraphicFramePr>
        <p:xfrm>
          <a:off x="1845628" y="1751879"/>
          <a:ext cx="7562532" cy="896112"/>
        </p:xfrm>
        <a:graphic>
          <a:graphicData uri="http://schemas.openxmlformats.org/drawingml/2006/table">
            <a:tbl>
              <a:tblPr firstRow="1" firstCol="1" bandRow="1">
                <a:tableStyleId>{5C22544A-7EE6-4342-B048-85BDC9FD1C3A}</a:tableStyleId>
              </a:tblPr>
              <a:tblGrid>
                <a:gridCol w="2599797">
                  <a:extLst>
                    <a:ext uri="{9D8B030D-6E8A-4147-A177-3AD203B41FA5}">
                      <a16:colId xmlns:a16="http://schemas.microsoft.com/office/drawing/2014/main" val="3352872332"/>
                    </a:ext>
                  </a:extLst>
                </a:gridCol>
                <a:gridCol w="1598387">
                  <a:extLst>
                    <a:ext uri="{9D8B030D-6E8A-4147-A177-3AD203B41FA5}">
                      <a16:colId xmlns:a16="http://schemas.microsoft.com/office/drawing/2014/main" val="2098446316"/>
                    </a:ext>
                  </a:extLst>
                </a:gridCol>
                <a:gridCol w="3364348">
                  <a:extLst>
                    <a:ext uri="{9D8B030D-6E8A-4147-A177-3AD203B41FA5}">
                      <a16:colId xmlns:a16="http://schemas.microsoft.com/office/drawing/2014/main" val="985710666"/>
                    </a:ext>
                  </a:extLst>
                </a:gridCol>
              </a:tblGrid>
              <a:tr h="0">
                <a:tc>
                  <a:txBody>
                    <a:bodyPr/>
                    <a:lstStyle/>
                    <a:p>
                      <a:pPr marL="0" marR="0" algn="just">
                        <a:lnSpc>
                          <a:spcPct val="105000"/>
                        </a:lnSpc>
                        <a:spcBef>
                          <a:spcPts val="0"/>
                        </a:spcBef>
                        <a:spcAft>
                          <a:spcPts val="0"/>
                        </a:spcAft>
                      </a:pPr>
                      <a:r>
                        <a:rPr lang="en-US" sz="1400">
                          <a:effectLst/>
                        </a:rPr>
                        <a:t>Rating</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Score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a:effectLst/>
                        </a:rPr>
                        <a:t>Parameter</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592206623"/>
                  </a:ext>
                </a:extLst>
              </a:tr>
              <a:tr h="0">
                <a:tc>
                  <a:txBody>
                    <a:bodyPr/>
                    <a:lstStyle/>
                    <a:p>
                      <a:pPr marL="0" marR="0" algn="just">
                        <a:lnSpc>
                          <a:spcPct val="105000"/>
                        </a:lnSpc>
                        <a:spcBef>
                          <a:spcPts val="0"/>
                        </a:spcBef>
                        <a:spcAft>
                          <a:spcPts val="0"/>
                        </a:spcAft>
                      </a:pPr>
                      <a:r>
                        <a:rPr lang="en-US" sz="1400">
                          <a:effectLst/>
                        </a:rPr>
                        <a:t>Highly effective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dirty="0">
                          <a:effectLst/>
                        </a:rPr>
                        <a:t>5</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dirty="0">
                          <a:effectLst/>
                        </a:rPr>
                        <a:t>Where the control is completely IT driven</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92980706"/>
                  </a:ext>
                </a:extLst>
              </a:tr>
              <a:tr h="0">
                <a:tc>
                  <a:txBody>
                    <a:bodyPr/>
                    <a:lstStyle/>
                    <a:p>
                      <a:pPr marL="0" marR="0" algn="just">
                        <a:lnSpc>
                          <a:spcPct val="105000"/>
                        </a:lnSpc>
                        <a:spcBef>
                          <a:spcPts val="0"/>
                        </a:spcBef>
                        <a:spcAft>
                          <a:spcPts val="0"/>
                        </a:spcAft>
                      </a:pPr>
                      <a:r>
                        <a:rPr lang="en-US" sz="1400">
                          <a:effectLst/>
                        </a:rPr>
                        <a:t>Meets Requirement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a:effectLst/>
                        </a:rPr>
                        <a:t>Control is IT based manual</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61128377"/>
                  </a:ext>
                </a:extLst>
              </a:tr>
              <a:tr h="0">
                <a:tc>
                  <a:txBody>
                    <a:bodyPr/>
                    <a:lstStyle/>
                    <a:p>
                      <a:pPr marL="0" marR="0" algn="just">
                        <a:lnSpc>
                          <a:spcPct val="105000"/>
                        </a:lnSpc>
                        <a:spcBef>
                          <a:spcPts val="0"/>
                        </a:spcBef>
                        <a:spcAft>
                          <a:spcPts val="0"/>
                        </a:spcAft>
                      </a:pPr>
                      <a:r>
                        <a:rPr lang="en-US" sz="1400">
                          <a:effectLst/>
                        </a:rPr>
                        <a:t>Significant Improvement Needed</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dirty="0">
                          <a:effectLst/>
                        </a:rPr>
                        <a:t>Control is completely manual</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43974928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098158277"/>
              </p:ext>
            </p:extLst>
          </p:nvPr>
        </p:nvGraphicFramePr>
        <p:xfrm>
          <a:off x="1845628" y="3161442"/>
          <a:ext cx="7555865" cy="1568196"/>
        </p:xfrm>
        <a:graphic>
          <a:graphicData uri="http://schemas.openxmlformats.org/drawingml/2006/table">
            <a:tbl>
              <a:tblPr firstRow="1" firstCol="1" bandRow="1">
                <a:tableStyleId>{5C22544A-7EE6-4342-B048-85BDC9FD1C3A}</a:tableStyleId>
              </a:tblPr>
              <a:tblGrid>
                <a:gridCol w="2597505">
                  <a:extLst>
                    <a:ext uri="{9D8B030D-6E8A-4147-A177-3AD203B41FA5}">
                      <a16:colId xmlns:a16="http://schemas.microsoft.com/office/drawing/2014/main" val="64399726"/>
                    </a:ext>
                  </a:extLst>
                </a:gridCol>
                <a:gridCol w="1596978">
                  <a:extLst>
                    <a:ext uri="{9D8B030D-6E8A-4147-A177-3AD203B41FA5}">
                      <a16:colId xmlns:a16="http://schemas.microsoft.com/office/drawing/2014/main" val="1568851922"/>
                    </a:ext>
                  </a:extLst>
                </a:gridCol>
                <a:gridCol w="3361382">
                  <a:extLst>
                    <a:ext uri="{9D8B030D-6E8A-4147-A177-3AD203B41FA5}">
                      <a16:colId xmlns:a16="http://schemas.microsoft.com/office/drawing/2014/main" val="1518744258"/>
                    </a:ext>
                  </a:extLst>
                </a:gridCol>
              </a:tblGrid>
              <a:tr h="0">
                <a:tc>
                  <a:txBody>
                    <a:bodyPr/>
                    <a:lstStyle/>
                    <a:p>
                      <a:pPr marL="0" marR="0" algn="just">
                        <a:lnSpc>
                          <a:spcPct val="105000"/>
                        </a:lnSpc>
                        <a:spcBef>
                          <a:spcPts val="0"/>
                        </a:spcBef>
                        <a:spcAft>
                          <a:spcPts val="0"/>
                        </a:spcAft>
                      </a:pPr>
                      <a:r>
                        <a:rPr lang="en-US" sz="1400" dirty="0">
                          <a:effectLst/>
                        </a:rPr>
                        <a:t>Rating</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dirty="0">
                          <a:effectLst/>
                        </a:rPr>
                        <a:t>Score</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a:effectLst/>
                        </a:rPr>
                        <a:t>Parameter</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940543497"/>
                  </a:ext>
                </a:extLst>
              </a:tr>
              <a:tr h="0">
                <a:tc>
                  <a:txBody>
                    <a:bodyPr/>
                    <a:lstStyle/>
                    <a:p>
                      <a:pPr marL="0" marR="0" algn="just">
                        <a:lnSpc>
                          <a:spcPct val="105000"/>
                        </a:lnSpc>
                        <a:spcBef>
                          <a:spcPts val="0"/>
                        </a:spcBef>
                        <a:spcAft>
                          <a:spcPts val="0"/>
                        </a:spcAft>
                      </a:pPr>
                      <a:r>
                        <a:rPr lang="en-US" sz="1400">
                          <a:effectLst/>
                        </a:rPr>
                        <a:t>Highly effective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a:effectLst/>
                        </a:rPr>
                        <a:t>Where the control is preventive</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438857909"/>
                  </a:ext>
                </a:extLst>
              </a:tr>
              <a:tr h="0">
                <a:tc>
                  <a:txBody>
                    <a:bodyPr/>
                    <a:lstStyle/>
                    <a:p>
                      <a:pPr marL="0" marR="0" algn="just">
                        <a:lnSpc>
                          <a:spcPct val="105000"/>
                        </a:lnSpc>
                        <a:spcBef>
                          <a:spcPts val="0"/>
                        </a:spcBef>
                        <a:spcAft>
                          <a:spcPts val="0"/>
                        </a:spcAft>
                      </a:pPr>
                      <a:r>
                        <a:rPr lang="en-US" sz="1400" dirty="0">
                          <a:effectLst/>
                        </a:rPr>
                        <a:t>Meets Requirement</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dirty="0">
                          <a:effectLst/>
                        </a:rPr>
                        <a:t>Where the control is a detective control and is exercised at the frequency of the activity</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97053208"/>
                  </a:ext>
                </a:extLst>
              </a:tr>
              <a:tr h="0">
                <a:tc>
                  <a:txBody>
                    <a:bodyPr/>
                    <a:lstStyle/>
                    <a:p>
                      <a:pPr marL="0" marR="0" algn="just">
                        <a:lnSpc>
                          <a:spcPct val="105000"/>
                        </a:lnSpc>
                        <a:spcBef>
                          <a:spcPts val="0"/>
                        </a:spcBef>
                        <a:spcAft>
                          <a:spcPts val="0"/>
                        </a:spcAft>
                      </a:pPr>
                      <a:r>
                        <a:rPr lang="en-US" sz="1400" dirty="0">
                          <a:effectLst/>
                        </a:rPr>
                        <a:t>Significant Improvement Needed</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dirty="0">
                          <a:effectLst/>
                        </a:rPr>
                        <a:t>Where the control is a detective control and is exercised at a frequency lower than the frequency of the activity</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976766989"/>
                  </a:ext>
                </a:extLst>
              </a:tr>
            </a:tbl>
          </a:graphicData>
        </a:graphic>
      </p:graphicFrame>
      <p:sp>
        <p:nvSpPr>
          <p:cNvPr id="10" name="Rectangle 9"/>
          <p:cNvSpPr/>
          <p:nvPr/>
        </p:nvSpPr>
        <p:spPr>
          <a:xfrm>
            <a:off x="1815147" y="2747071"/>
            <a:ext cx="2150076" cy="355931"/>
          </a:xfrm>
          <a:prstGeom prst="rect">
            <a:avLst/>
          </a:prstGeom>
        </p:spPr>
        <p:txBody>
          <a:bodyPr wrap="none">
            <a:spAutoFit/>
          </a:bodyPr>
          <a:lstStyle/>
          <a:p>
            <a:pPr algn="just">
              <a:lnSpc>
                <a:spcPct val="105000"/>
              </a:lnSpc>
              <a:spcBef>
                <a:spcPts val="0"/>
              </a:spcBef>
              <a:spcAft>
                <a:spcPts val="600"/>
              </a:spcAft>
            </a:pPr>
            <a:r>
              <a:rPr lang="en-US" sz="1700" u="sng" dirty="0">
                <a:solidFill>
                  <a:schemeClr val="bg1"/>
                </a:solidFill>
                <a:ea typeface="Calibri" panose="020F0502020204030204" pitchFamily="34" charset="0"/>
                <a:cs typeface="Mangal"/>
              </a:rPr>
              <a:t>Preventive / Detective</a:t>
            </a:r>
            <a:endParaRPr lang="en-US" sz="1700" dirty="0">
              <a:solidFill>
                <a:schemeClr val="bg1"/>
              </a:solidFill>
              <a:ea typeface="Calibri" panose="020F0502020204030204" pitchFamily="34" charset="0"/>
              <a:cs typeface="Mangal"/>
            </a:endParaRPr>
          </a:p>
        </p:txBody>
      </p:sp>
      <p:sp>
        <p:nvSpPr>
          <p:cNvPr id="12" name="Rectangle 11"/>
          <p:cNvSpPr/>
          <p:nvPr/>
        </p:nvSpPr>
        <p:spPr>
          <a:xfrm>
            <a:off x="1815147" y="4784357"/>
            <a:ext cx="2468176" cy="355931"/>
          </a:xfrm>
          <a:prstGeom prst="rect">
            <a:avLst/>
          </a:prstGeom>
        </p:spPr>
        <p:txBody>
          <a:bodyPr wrap="none">
            <a:spAutoFit/>
          </a:bodyPr>
          <a:lstStyle/>
          <a:p>
            <a:pPr algn="just">
              <a:lnSpc>
                <a:spcPct val="105000"/>
              </a:lnSpc>
              <a:spcBef>
                <a:spcPts val="0"/>
              </a:spcBef>
              <a:spcAft>
                <a:spcPts val="600"/>
              </a:spcAft>
            </a:pPr>
            <a:r>
              <a:rPr lang="en-US" sz="1700" u="sng" dirty="0">
                <a:solidFill>
                  <a:schemeClr val="bg1"/>
                </a:solidFill>
                <a:ea typeface="Calibri" panose="020F0502020204030204" pitchFamily="34" charset="0"/>
                <a:cs typeface="Mangal"/>
              </a:rPr>
              <a:t>Training + Documentation</a:t>
            </a:r>
            <a:endParaRPr lang="en-US" sz="1700" dirty="0">
              <a:solidFill>
                <a:schemeClr val="bg1"/>
              </a:solidFill>
              <a:ea typeface="Calibri" panose="020F0502020204030204" pitchFamily="34" charset="0"/>
              <a:cs typeface="Mangal"/>
            </a:endParaRPr>
          </a:p>
        </p:txBody>
      </p:sp>
      <p:graphicFrame>
        <p:nvGraphicFramePr>
          <p:cNvPr id="13" name="Table 12"/>
          <p:cNvGraphicFramePr>
            <a:graphicFrameLocks noGrp="1"/>
          </p:cNvGraphicFramePr>
          <p:nvPr>
            <p:extLst>
              <p:ext uri="{D42A27DB-BD31-4B8C-83A1-F6EECF244321}">
                <p14:modId xmlns:p14="http://schemas.microsoft.com/office/powerpoint/2010/main" val="4160720676"/>
              </p:ext>
            </p:extLst>
          </p:nvPr>
        </p:nvGraphicFramePr>
        <p:xfrm>
          <a:off x="1845628" y="5195007"/>
          <a:ext cx="7562532" cy="672084"/>
        </p:xfrm>
        <a:graphic>
          <a:graphicData uri="http://schemas.openxmlformats.org/drawingml/2006/table">
            <a:tbl>
              <a:tblPr firstRow="1" firstCol="1" bandRow="1">
                <a:tableStyleId>{5C22544A-7EE6-4342-B048-85BDC9FD1C3A}</a:tableStyleId>
              </a:tblPr>
              <a:tblGrid>
                <a:gridCol w="2605282">
                  <a:extLst>
                    <a:ext uri="{9D8B030D-6E8A-4147-A177-3AD203B41FA5}">
                      <a16:colId xmlns:a16="http://schemas.microsoft.com/office/drawing/2014/main" val="3526152555"/>
                    </a:ext>
                  </a:extLst>
                </a:gridCol>
                <a:gridCol w="1600412">
                  <a:extLst>
                    <a:ext uri="{9D8B030D-6E8A-4147-A177-3AD203B41FA5}">
                      <a16:colId xmlns:a16="http://schemas.microsoft.com/office/drawing/2014/main" val="2868257366"/>
                    </a:ext>
                  </a:extLst>
                </a:gridCol>
                <a:gridCol w="3356838">
                  <a:extLst>
                    <a:ext uri="{9D8B030D-6E8A-4147-A177-3AD203B41FA5}">
                      <a16:colId xmlns:a16="http://schemas.microsoft.com/office/drawing/2014/main" val="4079456464"/>
                    </a:ext>
                  </a:extLst>
                </a:gridCol>
              </a:tblGrid>
              <a:tr h="0">
                <a:tc>
                  <a:txBody>
                    <a:bodyPr/>
                    <a:lstStyle/>
                    <a:p>
                      <a:pPr marL="0" marR="0" algn="just">
                        <a:lnSpc>
                          <a:spcPct val="105000"/>
                        </a:lnSpc>
                        <a:spcBef>
                          <a:spcPts val="0"/>
                        </a:spcBef>
                        <a:spcAft>
                          <a:spcPts val="0"/>
                        </a:spcAft>
                      </a:pPr>
                      <a:r>
                        <a:rPr lang="en-US" sz="1400">
                          <a:effectLst/>
                        </a:rPr>
                        <a:t>Rating</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Score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a:effectLst/>
                        </a:rPr>
                        <a:t>Parameter</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415951773"/>
                  </a:ext>
                </a:extLst>
              </a:tr>
              <a:tr h="0">
                <a:tc>
                  <a:txBody>
                    <a:bodyPr/>
                    <a:lstStyle/>
                    <a:p>
                      <a:pPr marL="0" marR="0" algn="just">
                        <a:lnSpc>
                          <a:spcPct val="105000"/>
                        </a:lnSpc>
                        <a:spcBef>
                          <a:spcPts val="0"/>
                        </a:spcBef>
                        <a:spcAft>
                          <a:spcPts val="0"/>
                        </a:spcAft>
                      </a:pPr>
                      <a:r>
                        <a:rPr lang="en-US" sz="1400" dirty="0">
                          <a:effectLst/>
                        </a:rPr>
                        <a:t>Highly effective</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a:effectLst/>
                        </a:rPr>
                        <a:t>Well-documented policy/ process </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407712103"/>
                  </a:ext>
                </a:extLst>
              </a:tr>
              <a:tr h="0">
                <a:tc>
                  <a:txBody>
                    <a:bodyPr/>
                    <a:lstStyle/>
                    <a:p>
                      <a:pPr marL="0" marR="0" algn="just">
                        <a:lnSpc>
                          <a:spcPct val="105000"/>
                        </a:lnSpc>
                        <a:spcBef>
                          <a:spcPts val="0"/>
                        </a:spcBef>
                        <a:spcAft>
                          <a:spcPts val="0"/>
                        </a:spcAft>
                      </a:pPr>
                      <a:r>
                        <a:rPr lang="en-US" sz="1400" dirty="0">
                          <a:effectLst/>
                        </a:rPr>
                        <a:t>Significant Improvement Needed</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just">
                        <a:lnSpc>
                          <a:spcPct val="105000"/>
                        </a:lnSpc>
                        <a:spcBef>
                          <a:spcPts val="0"/>
                        </a:spcBef>
                        <a:spcAft>
                          <a:spcPts val="0"/>
                        </a:spcAft>
                      </a:pPr>
                      <a:r>
                        <a:rPr lang="en-US" sz="1400" dirty="0">
                          <a:effectLst/>
                        </a:rPr>
                        <a:t>No documentation </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193495601"/>
                  </a:ext>
                </a:extLst>
              </a:tr>
            </a:tbl>
          </a:graphicData>
        </a:graphic>
      </p:graphicFrame>
      <p:pic>
        <p:nvPicPr>
          <p:cNvPr id="11" name="Picture 10">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33808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F522CA4-3D8E-90DC-8481-921C9F9F5EA3}"/>
              </a:ext>
            </a:extLst>
          </p:cNvPr>
          <p:cNvSpPr>
            <a:spLocks noGrp="1"/>
          </p:cNvSpPr>
          <p:nvPr>
            <p:ph type="body" sz="quarter" idx="10"/>
          </p:nvPr>
        </p:nvSpPr>
        <p:spPr>
          <a:xfrm>
            <a:off x="1735796" y="1491797"/>
            <a:ext cx="9468010" cy="2259263"/>
          </a:xfrm>
        </p:spPr>
        <p:txBody>
          <a:bodyPr>
            <a:noAutofit/>
          </a:bodyPr>
          <a:lstStyle/>
          <a:p>
            <a:pPr algn="just">
              <a:lnSpc>
                <a:spcPct val="105000"/>
              </a:lnSpc>
              <a:spcBef>
                <a:spcPts val="0"/>
              </a:spcBef>
              <a:spcAft>
                <a:spcPts val="800"/>
              </a:spcAft>
            </a:pPr>
            <a:r>
              <a:rPr lang="en-US" sz="1700" b="0" dirty="0">
                <a:latin typeface="+mn-lt"/>
                <a:ea typeface="Calibri" panose="020F0502020204030204" pitchFamily="34" charset="0"/>
                <a:cs typeface="Mangal"/>
              </a:rPr>
              <a:t>CQA score will be calculated for each control by multiplying the scores arrived </a:t>
            </a:r>
            <a:r>
              <a:rPr lang="en-US" sz="1700" b="0" dirty="0" smtClean="0">
                <a:latin typeface="+mn-lt"/>
                <a:ea typeface="Calibri" panose="020F0502020204030204" pitchFamily="34" charset="0"/>
                <a:cs typeface="Mangal"/>
              </a:rPr>
              <a:t>during </a:t>
            </a:r>
            <a:r>
              <a:rPr lang="en-US" sz="1700" b="0" dirty="0">
                <a:latin typeface="+mn-lt"/>
                <a:ea typeface="Calibri" panose="020F0502020204030204" pitchFamily="34" charset="0"/>
                <a:cs typeface="Mangal"/>
              </a:rPr>
              <a:t>assessment of each parameter</a:t>
            </a:r>
          </a:p>
          <a:p>
            <a:pPr algn="ctr">
              <a:lnSpc>
                <a:spcPct val="105000"/>
              </a:lnSpc>
              <a:spcBef>
                <a:spcPts val="0"/>
              </a:spcBef>
              <a:spcAft>
                <a:spcPts val="800"/>
              </a:spcAft>
            </a:pPr>
            <a:r>
              <a:rPr lang="en-US" sz="1700" dirty="0">
                <a:latin typeface="+mn-lt"/>
                <a:ea typeface="Calibri" panose="020F0502020204030204" pitchFamily="34" charset="0"/>
                <a:cs typeface="Mangal"/>
              </a:rPr>
              <a:t>CQA score = Design </a:t>
            </a:r>
            <a:r>
              <a:rPr lang="en-US" sz="1700" dirty="0" smtClean="0">
                <a:latin typeface="+mn-lt"/>
                <a:ea typeface="Calibri" panose="020F0502020204030204" pitchFamily="34" charset="0"/>
                <a:cs typeface="Mangal"/>
              </a:rPr>
              <a:t>Effectiveness Controls </a:t>
            </a:r>
            <a:r>
              <a:rPr lang="en-US" sz="1700" dirty="0">
                <a:latin typeface="+mn-lt"/>
                <a:ea typeface="Calibri" panose="020F0502020204030204" pitchFamily="34" charset="0"/>
                <a:cs typeface="Mangal"/>
              </a:rPr>
              <a:t>= design parameter 1 * design parameter 2 * design parameter 3 * design parameter 4</a:t>
            </a:r>
          </a:p>
          <a:p>
            <a:pPr algn="just">
              <a:lnSpc>
                <a:spcPct val="105000"/>
              </a:lnSpc>
              <a:spcBef>
                <a:spcPts val="0"/>
              </a:spcBef>
              <a:spcAft>
                <a:spcPts val="800"/>
              </a:spcAft>
            </a:pPr>
            <a:endParaRPr lang="en-IN" sz="1700" b="0" dirty="0" smtClean="0">
              <a:latin typeface="+mn-lt"/>
              <a:ea typeface="Calibri" panose="020F0502020204030204" pitchFamily="34" charset="0"/>
              <a:cs typeface="Mangal"/>
            </a:endParaRPr>
          </a:p>
          <a:p>
            <a:pPr algn="just">
              <a:lnSpc>
                <a:spcPct val="105000"/>
              </a:lnSpc>
              <a:spcBef>
                <a:spcPts val="0"/>
              </a:spcBef>
              <a:spcAft>
                <a:spcPts val="800"/>
              </a:spcAft>
            </a:pPr>
            <a:endParaRPr lang="en-IN" sz="1700" b="0" dirty="0">
              <a:latin typeface="+mn-lt"/>
              <a:ea typeface="Calibri" panose="020F0502020204030204" pitchFamily="34" charset="0"/>
              <a:cs typeface="Mangal"/>
            </a:endParaRPr>
          </a:p>
          <a:p>
            <a:pPr algn="just">
              <a:lnSpc>
                <a:spcPct val="105000"/>
              </a:lnSpc>
              <a:spcBef>
                <a:spcPts val="0"/>
              </a:spcBef>
              <a:spcAft>
                <a:spcPts val="800"/>
              </a:spcAft>
            </a:pPr>
            <a:endParaRPr lang="en-US" sz="1700" b="0" dirty="0">
              <a:latin typeface="+mn-lt"/>
              <a:ea typeface="Calibri" panose="020F0502020204030204" pitchFamily="34" charset="0"/>
              <a:cs typeface="Mangal"/>
            </a:endParaRPr>
          </a:p>
        </p:txBody>
      </p:sp>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smtClean="0">
                <a:solidFill>
                  <a:schemeClr val="bg1"/>
                </a:solidFill>
              </a:rPr>
              <a:t>Calculation of </a:t>
            </a:r>
            <a:r>
              <a:rPr lang="en-US" sz="2000" b="1" dirty="0">
                <a:solidFill>
                  <a:schemeClr val="bg1"/>
                </a:solidFill>
              </a:rPr>
              <a:t>Control Quality Assessment (CQA) score</a:t>
            </a:r>
            <a:endParaRPr lang="en-US" sz="2000" dirty="0">
              <a:solidFill>
                <a:schemeClr val="bg1"/>
              </a:solidFill>
            </a:endParaRPr>
          </a:p>
        </p:txBody>
      </p:sp>
      <p:sp>
        <p:nvSpPr>
          <p:cNvPr id="8" name="Rectangle 7"/>
          <p:cNvSpPr/>
          <p:nvPr/>
        </p:nvSpPr>
        <p:spPr>
          <a:xfrm>
            <a:off x="1801026" y="2730898"/>
            <a:ext cx="8737841" cy="355931"/>
          </a:xfrm>
          <a:prstGeom prst="rect">
            <a:avLst/>
          </a:prstGeom>
        </p:spPr>
        <p:txBody>
          <a:bodyPr wrap="non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The CQA score is arrived at post scaling down of the CQA. The scaling down logics are as </a:t>
            </a:r>
            <a:r>
              <a:rPr lang="en-US" sz="1700" dirty="0" smtClean="0">
                <a:solidFill>
                  <a:schemeClr val="bg1"/>
                </a:solidFill>
                <a:ea typeface="Calibri" panose="020F0502020204030204" pitchFamily="34" charset="0"/>
                <a:cs typeface="Mangal"/>
              </a:rPr>
              <a:t>follows :</a:t>
            </a:r>
            <a:endParaRPr lang="en-US" sz="1700" dirty="0">
              <a:solidFill>
                <a:schemeClr val="bg1"/>
              </a:solidFill>
              <a:ea typeface="Calibri" panose="020F0502020204030204" pitchFamily="34" charset="0"/>
              <a:cs typeface="Mangal"/>
            </a:endParaRPr>
          </a:p>
        </p:txBody>
      </p:sp>
      <p:graphicFrame>
        <p:nvGraphicFramePr>
          <p:cNvPr id="2" name="Table 1"/>
          <p:cNvGraphicFramePr>
            <a:graphicFrameLocks noGrp="1"/>
          </p:cNvGraphicFramePr>
          <p:nvPr>
            <p:extLst>
              <p:ext uri="{D42A27DB-BD31-4B8C-83A1-F6EECF244321}">
                <p14:modId xmlns:p14="http://schemas.microsoft.com/office/powerpoint/2010/main" val="398387286"/>
              </p:ext>
            </p:extLst>
          </p:nvPr>
        </p:nvGraphicFramePr>
        <p:xfrm>
          <a:off x="3233420" y="3154795"/>
          <a:ext cx="5725160" cy="1344168"/>
        </p:xfrm>
        <a:graphic>
          <a:graphicData uri="http://schemas.openxmlformats.org/drawingml/2006/table">
            <a:tbl>
              <a:tblPr firstRow="1" firstCol="1" bandRow="1">
                <a:tableStyleId>{5C22544A-7EE6-4342-B048-85BDC9FD1C3A}</a:tableStyleId>
              </a:tblPr>
              <a:tblGrid>
                <a:gridCol w="2862580">
                  <a:extLst>
                    <a:ext uri="{9D8B030D-6E8A-4147-A177-3AD203B41FA5}">
                      <a16:colId xmlns:a16="http://schemas.microsoft.com/office/drawing/2014/main" val="859775954"/>
                    </a:ext>
                  </a:extLst>
                </a:gridCol>
                <a:gridCol w="2862580">
                  <a:extLst>
                    <a:ext uri="{9D8B030D-6E8A-4147-A177-3AD203B41FA5}">
                      <a16:colId xmlns:a16="http://schemas.microsoft.com/office/drawing/2014/main" val="823886077"/>
                    </a:ext>
                  </a:extLst>
                </a:gridCol>
              </a:tblGrid>
              <a:tr h="0">
                <a:tc>
                  <a:txBody>
                    <a:bodyPr/>
                    <a:lstStyle/>
                    <a:p>
                      <a:pPr marL="0" marR="0" algn="just">
                        <a:lnSpc>
                          <a:spcPct val="105000"/>
                        </a:lnSpc>
                        <a:spcBef>
                          <a:spcPts val="0"/>
                        </a:spcBef>
                        <a:spcAft>
                          <a:spcPts val="0"/>
                        </a:spcAft>
                      </a:pPr>
                      <a:r>
                        <a:rPr lang="en-US" sz="1400">
                          <a:effectLst/>
                        </a:rPr>
                        <a:t>CQA</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Interpretation of Scaled down CQA</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384190130"/>
                  </a:ext>
                </a:extLst>
              </a:tr>
              <a:tr h="0">
                <a:tc>
                  <a:txBody>
                    <a:bodyPr/>
                    <a:lstStyle/>
                    <a:p>
                      <a:pPr marL="0" marR="0" algn="just">
                        <a:lnSpc>
                          <a:spcPct val="105000"/>
                        </a:lnSpc>
                        <a:spcBef>
                          <a:spcPts val="0"/>
                        </a:spcBef>
                        <a:spcAft>
                          <a:spcPts val="0"/>
                        </a:spcAft>
                      </a:pPr>
                      <a:r>
                        <a:rPr lang="en-US" sz="1400">
                          <a:effectLst/>
                        </a:rPr>
                        <a:t>&lt;9</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762463551"/>
                  </a:ext>
                </a:extLst>
              </a:tr>
              <a:tr h="0">
                <a:tc>
                  <a:txBody>
                    <a:bodyPr/>
                    <a:lstStyle/>
                    <a:p>
                      <a:pPr marL="0" marR="0" algn="just">
                        <a:lnSpc>
                          <a:spcPct val="105000"/>
                        </a:lnSpc>
                        <a:spcBef>
                          <a:spcPts val="0"/>
                        </a:spcBef>
                        <a:spcAft>
                          <a:spcPts val="0"/>
                        </a:spcAft>
                      </a:pPr>
                      <a:r>
                        <a:rPr lang="en-US" sz="1400">
                          <a:effectLst/>
                        </a:rPr>
                        <a:t>&gt;=9 and &lt;81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10</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50553104"/>
                  </a:ext>
                </a:extLst>
              </a:tr>
              <a:tr h="0">
                <a:tc>
                  <a:txBody>
                    <a:bodyPr/>
                    <a:lstStyle/>
                    <a:p>
                      <a:pPr marL="0" marR="0" algn="just">
                        <a:lnSpc>
                          <a:spcPct val="105000"/>
                        </a:lnSpc>
                        <a:spcBef>
                          <a:spcPts val="0"/>
                        </a:spcBef>
                        <a:spcAft>
                          <a:spcPts val="0"/>
                        </a:spcAft>
                      </a:pPr>
                      <a:r>
                        <a:rPr lang="en-US" sz="1400">
                          <a:effectLst/>
                        </a:rPr>
                        <a:t>&gt;=81 and &lt;225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15</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126048164"/>
                  </a:ext>
                </a:extLst>
              </a:tr>
              <a:tr h="0">
                <a:tc>
                  <a:txBody>
                    <a:bodyPr/>
                    <a:lstStyle/>
                    <a:p>
                      <a:pPr marL="0" marR="0" algn="just">
                        <a:lnSpc>
                          <a:spcPct val="105000"/>
                        </a:lnSpc>
                        <a:spcBef>
                          <a:spcPts val="0"/>
                        </a:spcBef>
                        <a:spcAft>
                          <a:spcPts val="0"/>
                        </a:spcAft>
                      </a:pPr>
                      <a:r>
                        <a:rPr lang="en-US" sz="1400">
                          <a:effectLst/>
                        </a:rPr>
                        <a:t>&gt;=225 and &lt;500</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20</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471456276"/>
                  </a:ext>
                </a:extLst>
              </a:tr>
              <a:tr h="0">
                <a:tc>
                  <a:txBody>
                    <a:bodyPr/>
                    <a:lstStyle/>
                    <a:p>
                      <a:pPr marL="0" marR="0" algn="just">
                        <a:lnSpc>
                          <a:spcPct val="105000"/>
                        </a:lnSpc>
                        <a:spcBef>
                          <a:spcPts val="0"/>
                        </a:spcBef>
                        <a:spcAft>
                          <a:spcPts val="0"/>
                        </a:spcAft>
                      </a:pPr>
                      <a:r>
                        <a:rPr lang="en-US" sz="1400">
                          <a:effectLst/>
                        </a:rPr>
                        <a:t>&gt;=500</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dirty="0">
                          <a:effectLst/>
                        </a:rPr>
                        <a:t>25</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480320194"/>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754588267"/>
              </p:ext>
            </p:extLst>
          </p:nvPr>
        </p:nvGraphicFramePr>
        <p:xfrm>
          <a:off x="3233420" y="5101674"/>
          <a:ext cx="5725160" cy="1344168"/>
        </p:xfrm>
        <a:graphic>
          <a:graphicData uri="http://schemas.openxmlformats.org/drawingml/2006/table">
            <a:tbl>
              <a:tblPr firstRow="1" firstCol="1" bandRow="1">
                <a:tableStyleId>{5C22544A-7EE6-4342-B048-85BDC9FD1C3A}</a:tableStyleId>
              </a:tblPr>
              <a:tblGrid>
                <a:gridCol w="2862580">
                  <a:extLst>
                    <a:ext uri="{9D8B030D-6E8A-4147-A177-3AD203B41FA5}">
                      <a16:colId xmlns:a16="http://schemas.microsoft.com/office/drawing/2014/main" val="4127950857"/>
                    </a:ext>
                  </a:extLst>
                </a:gridCol>
                <a:gridCol w="2862580">
                  <a:extLst>
                    <a:ext uri="{9D8B030D-6E8A-4147-A177-3AD203B41FA5}">
                      <a16:colId xmlns:a16="http://schemas.microsoft.com/office/drawing/2014/main" val="1051719261"/>
                    </a:ext>
                  </a:extLst>
                </a:gridCol>
              </a:tblGrid>
              <a:tr h="0">
                <a:tc>
                  <a:txBody>
                    <a:bodyPr/>
                    <a:lstStyle/>
                    <a:p>
                      <a:pPr marL="0" marR="0" algn="just">
                        <a:lnSpc>
                          <a:spcPct val="105000"/>
                        </a:lnSpc>
                        <a:spcBef>
                          <a:spcPts val="0"/>
                        </a:spcBef>
                        <a:spcAft>
                          <a:spcPts val="0"/>
                        </a:spcAft>
                      </a:pPr>
                      <a:r>
                        <a:rPr lang="en-US" sz="1400">
                          <a:effectLst/>
                        </a:rPr>
                        <a:t>Control Quality Category</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Scaled down Control Quality Score</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4025818033"/>
                  </a:ext>
                </a:extLst>
              </a:tr>
              <a:tr h="0">
                <a:tc>
                  <a:txBody>
                    <a:bodyPr/>
                    <a:lstStyle/>
                    <a:p>
                      <a:pPr marL="0" marR="0" algn="just">
                        <a:lnSpc>
                          <a:spcPct val="105000"/>
                        </a:lnSpc>
                        <a:spcBef>
                          <a:spcPts val="0"/>
                        </a:spcBef>
                        <a:spcAft>
                          <a:spcPts val="0"/>
                        </a:spcAft>
                      </a:pPr>
                      <a:r>
                        <a:rPr lang="en-US" sz="1400">
                          <a:effectLst/>
                        </a:rPr>
                        <a:t>Significant Improvement Needed</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4051700658"/>
                  </a:ext>
                </a:extLst>
              </a:tr>
              <a:tr h="0">
                <a:tc>
                  <a:txBody>
                    <a:bodyPr/>
                    <a:lstStyle/>
                    <a:p>
                      <a:pPr marL="0" marR="0" algn="just">
                        <a:lnSpc>
                          <a:spcPct val="105000"/>
                        </a:lnSpc>
                        <a:spcBef>
                          <a:spcPts val="0"/>
                        </a:spcBef>
                        <a:spcAft>
                          <a:spcPts val="0"/>
                        </a:spcAft>
                      </a:pPr>
                      <a:r>
                        <a:rPr lang="en-US" sz="1400">
                          <a:effectLst/>
                        </a:rPr>
                        <a:t>Improvement Needed</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10</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861858041"/>
                  </a:ext>
                </a:extLst>
              </a:tr>
              <a:tr h="0">
                <a:tc>
                  <a:txBody>
                    <a:bodyPr/>
                    <a:lstStyle/>
                    <a:p>
                      <a:pPr marL="0" marR="0" algn="just">
                        <a:lnSpc>
                          <a:spcPct val="105000"/>
                        </a:lnSpc>
                        <a:spcBef>
                          <a:spcPts val="0"/>
                        </a:spcBef>
                        <a:spcAft>
                          <a:spcPts val="0"/>
                        </a:spcAft>
                      </a:pPr>
                      <a:r>
                        <a:rPr lang="en-US" sz="1400">
                          <a:effectLst/>
                        </a:rPr>
                        <a:t>Meets Requirement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15</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743666497"/>
                  </a:ext>
                </a:extLst>
              </a:tr>
              <a:tr h="0">
                <a:tc>
                  <a:txBody>
                    <a:bodyPr/>
                    <a:lstStyle/>
                    <a:p>
                      <a:pPr marL="0" marR="0" algn="just">
                        <a:lnSpc>
                          <a:spcPct val="105000"/>
                        </a:lnSpc>
                        <a:spcBef>
                          <a:spcPts val="0"/>
                        </a:spcBef>
                        <a:spcAft>
                          <a:spcPts val="0"/>
                        </a:spcAft>
                      </a:pPr>
                      <a:r>
                        <a:rPr lang="en-US" sz="1400">
                          <a:effectLst/>
                        </a:rPr>
                        <a:t>Effective Control</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a:effectLst/>
                        </a:rPr>
                        <a:t>20</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797304673"/>
                  </a:ext>
                </a:extLst>
              </a:tr>
              <a:tr h="0">
                <a:tc>
                  <a:txBody>
                    <a:bodyPr/>
                    <a:lstStyle/>
                    <a:p>
                      <a:pPr marL="0" marR="0" algn="just">
                        <a:lnSpc>
                          <a:spcPct val="105000"/>
                        </a:lnSpc>
                        <a:spcBef>
                          <a:spcPts val="0"/>
                        </a:spcBef>
                        <a:spcAft>
                          <a:spcPts val="0"/>
                        </a:spcAft>
                      </a:pPr>
                      <a:r>
                        <a:rPr lang="en-US" sz="1400">
                          <a:effectLst/>
                        </a:rPr>
                        <a:t>Significantly Effective Control</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05000"/>
                        </a:lnSpc>
                        <a:spcBef>
                          <a:spcPts val="0"/>
                        </a:spcBef>
                        <a:spcAft>
                          <a:spcPts val="0"/>
                        </a:spcAft>
                      </a:pPr>
                      <a:r>
                        <a:rPr lang="en-US" sz="1400" dirty="0">
                          <a:effectLst/>
                        </a:rPr>
                        <a:t>25</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663043008"/>
                  </a:ext>
                </a:extLst>
              </a:tr>
            </a:tbl>
          </a:graphicData>
        </a:graphic>
      </p:graphicFrame>
      <p:sp>
        <p:nvSpPr>
          <p:cNvPr id="10" name="Rectangle 9"/>
          <p:cNvSpPr/>
          <p:nvPr/>
        </p:nvSpPr>
        <p:spPr>
          <a:xfrm>
            <a:off x="1801026" y="4595113"/>
            <a:ext cx="5217519" cy="355931"/>
          </a:xfrm>
          <a:prstGeom prst="rect">
            <a:avLst/>
          </a:prstGeom>
        </p:spPr>
        <p:txBody>
          <a:bodyPr wrap="non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Post scaling down, the CQA will be interpreted as </a:t>
            </a:r>
            <a:r>
              <a:rPr lang="en-US" sz="1700" dirty="0" smtClean="0">
                <a:solidFill>
                  <a:schemeClr val="bg1"/>
                </a:solidFill>
                <a:ea typeface="Calibri" panose="020F0502020204030204" pitchFamily="34" charset="0"/>
                <a:cs typeface="Mangal"/>
              </a:rPr>
              <a:t>below :</a:t>
            </a:r>
            <a:endParaRPr lang="en-US" sz="1700" dirty="0">
              <a:solidFill>
                <a:schemeClr val="bg1"/>
              </a:solidFill>
              <a:ea typeface="Calibri" panose="020F0502020204030204" pitchFamily="34" charset="0"/>
              <a:cs typeface="Mangal"/>
            </a:endParaRPr>
          </a:p>
        </p:txBody>
      </p:sp>
      <p:pic>
        <p:nvPicPr>
          <p:cNvPr id="11" name="Picture 10">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85356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a:solidFill>
                  <a:schemeClr val="bg1"/>
                </a:solidFill>
              </a:rPr>
              <a:t>Calculation of Weighted Average Control Quality Assessment (CQA) s</a:t>
            </a:r>
            <a:r>
              <a:rPr lang="en-US" sz="2000" b="1" dirty="0" smtClean="0">
                <a:solidFill>
                  <a:schemeClr val="bg1"/>
                </a:solidFill>
              </a:rPr>
              <a:t>core</a:t>
            </a:r>
            <a:endParaRPr lang="en-US" sz="2000" dirty="0">
              <a:solidFill>
                <a:schemeClr val="bg1"/>
              </a:solidFill>
            </a:endParaRPr>
          </a:p>
        </p:txBody>
      </p:sp>
      <p:sp>
        <p:nvSpPr>
          <p:cNvPr id="8" name="Rectangle 7"/>
          <p:cNvSpPr/>
          <p:nvPr/>
        </p:nvSpPr>
        <p:spPr>
          <a:xfrm>
            <a:off x="1656647" y="1372469"/>
            <a:ext cx="9576035" cy="641714"/>
          </a:xfrm>
          <a:prstGeom prst="rect">
            <a:avLst/>
          </a:prstGeom>
        </p:spPr>
        <p:txBody>
          <a:bodyPr wrap="squar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The number of controls under each Control Quality Category arrived during interpretation of CQA score will be multiplied with applied weights as below to arrive at weighted average CQA</a:t>
            </a:r>
          </a:p>
        </p:txBody>
      </p:sp>
      <p:sp>
        <p:nvSpPr>
          <p:cNvPr id="10" name="Rectangle 9"/>
          <p:cNvSpPr/>
          <p:nvPr/>
        </p:nvSpPr>
        <p:spPr>
          <a:xfrm>
            <a:off x="1724024" y="3981729"/>
            <a:ext cx="9508658" cy="718658"/>
          </a:xfrm>
          <a:prstGeom prst="rect">
            <a:avLst/>
          </a:prstGeom>
        </p:spPr>
        <p:txBody>
          <a:bodyPr wrap="squar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The weighted average CQA arrived will be added to arrive at Control Quality Index (CQI)</a:t>
            </a:r>
          </a:p>
          <a:p>
            <a:pPr algn="ctr">
              <a:lnSpc>
                <a:spcPct val="105000"/>
              </a:lnSpc>
              <a:spcBef>
                <a:spcPts val="0"/>
              </a:spcBef>
              <a:spcAft>
                <a:spcPts val="600"/>
              </a:spcAft>
            </a:pPr>
            <a:r>
              <a:rPr lang="en-US" sz="1700" b="1" dirty="0">
                <a:solidFill>
                  <a:schemeClr val="bg1"/>
                </a:solidFill>
                <a:ea typeface="Calibri" panose="020F0502020204030204" pitchFamily="34" charset="0"/>
                <a:cs typeface="Mangal"/>
              </a:rPr>
              <a:t>CQI Score = 100% - weighted average CQA</a:t>
            </a:r>
          </a:p>
        </p:txBody>
      </p:sp>
      <p:graphicFrame>
        <p:nvGraphicFramePr>
          <p:cNvPr id="7" name="Table 6"/>
          <p:cNvGraphicFramePr>
            <a:graphicFrameLocks noGrp="1"/>
          </p:cNvGraphicFramePr>
          <p:nvPr>
            <p:extLst>
              <p:ext uri="{D42A27DB-BD31-4B8C-83A1-F6EECF244321}">
                <p14:modId xmlns:p14="http://schemas.microsoft.com/office/powerpoint/2010/main" val="2466884985"/>
              </p:ext>
            </p:extLst>
          </p:nvPr>
        </p:nvGraphicFramePr>
        <p:xfrm>
          <a:off x="2445528" y="2022859"/>
          <a:ext cx="7300943" cy="1828735"/>
        </p:xfrm>
        <a:graphic>
          <a:graphicData uri="http://schemas.openxmlformats.org/drawingml/2006/table">
            <a:tbl>
              <a:tblPr firstRow="1" firstCol="1" bandRow="1">
                <a:tableStyleId>{5C22544A-7EE6-4342-B048-85BDC9FD1C3A}</a:tableStyleId>
              </a:tblPr>
              <a:tblGrid>
                <a:gridCol w="2925369">
                  <a:extLst>
                    <a:ext uri="{9D8B030D-6E8A-4147-A177-3AD203B41FA5}">
                      <a16:colId xmlns:a16="http://schemas.microsoft.com/office/drawing/2014/main" val="1357353735"/>
                    </a:ext>
                  </a:extLst>
                </a:gridCol>
                <a:gridCol w="2319688">
                  <a:extLst>
                    <a:ext uri="{9D8B030D-6E8A-4147-A177-3AD203B41FA5}">
                      <a16:colId xmlns:a16="http://schemas.microsoft.com/office/drawing/2014/main" val="664608067"/>
                    </a:ext>
                  </a:extLst>
                </a:gridCol>
                <a:gridCol w="2055886">
                  <a:extLst>
                    <a:ext uri="{9D8B030D-6E8A-4147-A177-3AD203B41FA5}">
                      <a16:colId xmlns:a16="http://schemas.microsoft.com/office/drawing/2014/main" val="3964406179"/>
                    </a:ext>
                  </a:extLst>
                </a:gridCol>
              </a:tblGrid>
              <a:tr h="0">
                <a:tc>
                  <a:txBody>
                    <a:bodyPr/>
                    <a:lstStyle/>
                    <a:p>
                      <a:pPr marL="0" marR="0" algn="l">
                        <a:lnSpc>
                          <a:spcPct val="107000"/>
                        </a:lnSpc>
                        <a:spcBef>
                          <a:spcPts val="0"/>
                        </a:spcBef>
                        <a:spcAft>
                          <a:spcPts val="0"/>
                        </a:spcAft>
                      </a:pPr>
                      <a:r>
                        <a:rPr lang="en-US" sz="1400" dirty="0">
                          <a:effectLst/>
                        </a:rPr>
                        <a:t>Control Quality Category</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Criteria for Control Quality Score</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Weights for Control Quality Category</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123739456"/>
                  </a:ext>
                </a:extLst>
              </a:tr>
              <a:tr h="0">
                <a:tc>
                  <a:txBody>
                    <a:bodyPr/>
                    <a:lstStyle/>
                    <a:p>
                      <a:pPr marL="0" marR="0" algn="l">
                        <a:lnSpc>
                          <a:spcPct val="107000"/>
                        </a:lnSpc>
                        <a:spcBef>
                          <a:spcPts val="0"/>
                        </a:spcBef>
                        <a:spcAft>
                          <a:spcPts val="0"/>
                        </a:spcAft>
                      </a:pPr>
                      <a:r>
                        <a:rPr lang="en-US" sz="1400" dirty="0">
                          <a:effectLst/>
                        </a:rPr>
                        <a:t>No Control</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Obligations without control</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100%</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310102497"/>
                  </a:ext>
                </a:extLst>
              </a:tr>
              <a:tr h="0">
                <a:tc>
                  <a:txBody>
                    <a:bodyPr/>
                    <a:lstStyle/>
                    <a:p>
                      <a:pPr marL="0" marR="0" algn="l">
                        <a:lnSpc>
                          <a:spcPct val="107000"/>
                        </a:lnSpc>
                        <a:spcBef>
                          <a:spcPts val="0"/>
                        </a:spcBef>
                        <a:spcAft>
                          <a:spcPts val="0"/>
                        </a:spcAft>
                      </a:pPr>
                      <a:r>
                        <a:rPr lang="en-US" sz="1400">
                          <a:effectLst/>
                        </a:rPr>
                        <a:t>Significant 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&lt;15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80%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413423708"/>
                  </a:ext>
                </a:extLst>
              </a:tr>
              <a:tr h="0">
                <a:tc>
                  <a:txBody>
                    <a:bodyPr/>
                    <a:lstStyle/>
                    <a:p>
                      <a:pPr marL="0" marR="0" algn="l">
                        <a:lnSpc>
                          <a:spcPct val="107000"/>
                        </a:lnSpc>
                        <a:spcBef>
                          <a:spcPts val="0"/>
                        </a:spcBef>
                        <a:spcAft>
                          <a:spcPts val="0"/>
                        </a:spcAft>
                      </a:pPr>
                      <a:r>
                        <a:rPr lang="en-US" sz="1400">
                          <a:effectLst/>
                        </a:rPr>
                        <a:t>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&gt;=15 &amp; &lt;30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60%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4187503511"/>
                  </a:ext>
                </a:extLst>
              </a:tr>
              <a:tr h="0">
                <a:tc>
                  <a:txBody>
                    <a:bodyPr/>
                    <a:lstStyle/>
                    <a:p>
                      <a:pPr marL="0" marR="0" algn="l">
                        <a:lnSpc>
                          <a:spcPct val="107000"/>
                        </a:lnSpc>
                        <a:spcBef>
                          <a:spcPts val="0"/>
                        </a:spcBef>
                        <a:spcAft>
                          <a:spcPts val="0"/>
                        </a:spcAft>
                      </a:pPr>
                      <a:r>
                        <a:rPr lang="en-US" sz="1400">
                          <a:effectLst/>
                        </a:rPr>
                        <a:t>Meets Requirements</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&gt;=30 &amp; &lt;60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40%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433040222"/>
                  </a:ext>
                </a:extLst>
              </a:tr>
              <a:tr h="0">
                <a:tc>
                  <a:txBody>
                    <a:bodyPr/>
                    <a:lstStyle/>
                    <a:p>
                      <a:pPr marL="0" marR="0" algn="l">
                        <a:lnSpc>
                          <a:spcPct val="107000"/>
                        </a:lnSpc>
                        <a:spcBef>
                          <a:spcPts val="0"/>
                        </a:spcBef>
                        <a:spcAft>
                          <a:spcPts val="0"/>
                        </a:spcAft>
                      </a:pPr>
                      <a:r>
                        <a:rPr lang="en-US" sz="1400">
                          <a:effectLst/>
                        </a:rPr>
                        <a:t>Effective Control</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&gt;=60 &amp; &lt;125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30%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040912915"/>
                  </a:ext>
                </a:extLst>
              </a:tr>
              <a:tr h="230755">
                <a:tc>
                  <a:txBody>
                    <a:bodyPr/>
                    <a:lstStyle/>
                    <a:p>
                      <a:pPr marL="0" marR="0" algn="l">
                        <a:lnSpc>
                          <a:spcPct val="107000"/>
                        </a:lnSpc>
                        <a:spcBef>
                          <a:spcPts val="0"/>
                        </a:spcBef>
                        <a:spcAft>
                          <a:spcPts val="0"/>
                        </a:spcAft>
                      </a:pPr>
                      <a:r>
                        <a:rPr lang="en-US" sz="1400" dirty="0">
                          <a:effectLst/>
                        </a:rPr>
                        <a:t>Significantly Effective Control</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=125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20%</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66478395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936453049"/>
              </p:ext>
            </p:extLst>
          </p:nvPr>
        </p:nvGraphicFramePr>
        <p:xfrm>
          <a:off x="2500224" y="4830523"/>
          <a:ext cx="7300944" cy="1597980"/>
        </p:xfrm>
        <a:graphic>
          <a:graphicData uri="http://schemas.openxmlformats.org/drawingml/2006/table">
            <a:tbl>
              <a:tblPr firstRow="1" firstCol="1" bandRow="1">
                <a:tableStyleId>{5C22544A-7EE6-4342-B048-85BDC9FD1C3A}</a:tableStyleId>
              </a:tblPr>
              <a:tblGrid>
                <a:gridCol w="2880299">
                  <a:extLst>
                    <a:ext uri="{9D8B030D-6E8A-4147-A177-3AD203B41FA5}">
                      <a16:colId xmlns:a16="http://schemas.microsoft.com/office/drawing/2014/main" val="4083699844"/>
                    </a:ext>
                  </a:extLst>
                </a:gridCol>
                <a:gridCol w="2281187">
                  <a:extLst>
                    <a:ext uri="{9D8B030D-6E8A-4147-A177-3AD203B41FA5}">
                      <a16:colId xmlns:a16="http://schemas.microsoft.com/office/drawing/2014/main" val="1524267075"/>
                    </a:ext>
                  </a:extLst>
                </a:gridCol>
                <a:gridCol w="2139458">
                  <a:extLst>
                    <a:ext uri="{9D8B030D-6E8A-4147-A177-3AD203B41FA5}">
                      <a16:colId xmlns:a16="http://schemas.microsoft.com/office/drawing/2014/main" val="3764194242"/>
                    </a:ext>
                  </a:extLst>
                </a:gridCol>
              </a:tblGrid>
              <a:tr h="0">
                <a:tc>
                  <a:txBody>
                    <a:bodyPr/>
                    <a:lstStyle/>
                    <a:p>
                      <a:pPr marL="0" marR="0" algn="l">
                        <a:lnSpc>
                          <a:spcPct val="107000"/>
                        </a:lnSpc>
                        <a:spcBef>
                          <a:spcPts val="0"/>
                        </a:spcBef>
                        <a:spcAft>
                          <a:spcPts val="0"/>
                        </a:spcAft>
                      </a:pPr>
                      <a:r>
                        <a:rPr lang="en-US" sz="1400">
                          <a:effectLst/>
                        </a:rPr>
                        <a:t>Interpretation of Control Quality Assessment</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Index</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Score</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19271251"/>
                  </a:ext>
                </a:extLst>
              </a:tr>
              <a:tr h="0">
                <a:tc>
                  <a:txBody>
                    <a:bodyPr/>
                    <a:lstStyle/>
                    <a:p>
                      <a:pPr marL="0" marR="0" algn="l">
                        <a:lnSpc>
                          <a:spcPct val="107000"/>
                        </a:lnSpc>
                        <a:spcBef>
                          <a:spcPts val="0"/>
                        </a:spcBef>
                        <a:spcAft>
                          <a:spcPts val="0"/>
                        </a:spcAft>
                      </a:pPr>
                      <a:r>
                        <a:rPr lang="en-US" sz="1400">
                          <a:effectLst/>
                        </a:rPr>
                        <a:t>Significant 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&lt;40%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112762430"/>
                  </a:ext>
                </a:extLst>
              </a:tr>
              <a:tr h="0">
                <a:tc>
                  <a:txBody>
                    <a:bodyPr/>
                    <a:lstStyle/>
                    <a:p>
                      <a:pPr marL="0" marR="0" algn="l">
                        <a:lnSpc>
                          <a:spcPct val="107000"/>
                        </a:lnSpc>
                        <a:spcBef>
                          <a:spcPts val="0"/>
                        </a:spcBef>
                        <a:spcAft>
                          <a:spcPts val="0"/>
                        </a:spcAft>
                      </a:pPr>
                      <a:r>
                        <a:rPr lang="en-US" sz="1400">
                          <a:effectLst/>
                        </a:rPr>
                        <a:t>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&gt;=40%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4</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702356305"/>
                  </a:ext>
                </a:extLst>
              </a:tr>
              <a:tr h="0">
                <a:tc>
                  <a:txBody>
                    <a:bodyPr/>
                    <a:lstStyle/>
                    <a:p>
                      <a:pPr marL="0" marR="0" algn="l">
                        <a:lnSpc>
                          <a:spcPct val="107000"/>
                        </a:lnSpc>
                        <a:spcBef>
                          <a:spcPts val="0"/>
                        </a:spcBef>
                        <a:spcAft>
                          <a:spcPts val="0"/>
                        </a:spcAft>
                      </a:pPr>
                      <a:r>
                        <a:rPr lang="en-US" sz="1400">
                          <a:effectLst/>
                        </a:rPr>
                        <a:t>Partially Effective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&gt;=60%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9</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22590153"/>
                  </a:ext>
                </a:extLst>
              </a:tr>
              <a:tr h="0">
                <a:tc>
                  <a:txBody>
                    <a:bodyPr/>
                    <a:lstStyle/>
                    <a:p>
                      <a:pPr marL="0" marR="0" algn="l">
                        <a:lnSpc>
                          <a:spcPct val="107000"/>
                        </a:lnSpc>
                        <a:spcBef>
                          <a:spcPts val="0"/>
                        </a:spcBef>
                        <a:spcAft>
                          <a:spcPts val="0"/>
                        </a:spcAft>
                      </a:pPr>
                      <a:r>
                        <a:rPr lang="en-US" sz="1400">
                          <a:effectLst/>
                        </a:rPr>
                        <a:t>Meets Requirements</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&gt;=70%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16</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396225662"/>
                  </a:ext>
                </a:extLst>
              </a:tr>
              <a:tr h="0">
                <a:tc>
                  <a:txBody>
                    <a:bodyPr/>
                    <a:lstStyle/>
                    <a:p>
                      <a:pPr marL="0" marR="0" algn="l">
                        <a:lnSpc>
                          <a:spcPct val="107000"/>
                        </a:lnSpc>
                        <a:spcBef>
                          <a:spcPts val="0"/>
                        </a:spcBef>
                        <a:spcAft>
                          <a:spcPts val="0"/>
                        </a:spcAft>
                      </a:pPr>
                      <a:r>
                        <a:rPr lang="en-US" sz="1400" dirty="0">
                          <a:effectLst/>
                        </a:rPr>
                        <a:t>Effective</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&gt;=80%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25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336550050"/>
                  </a:ext>
                </a:extLst>
              </a:tr>
            </a:tbl>
          </a:graphicData>
        </a:graphic>
      </p:graphicFrame>
      <p:pic>
        <p:nvPicPr>
          <p:cNvPr id="9" name="Picture 8">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348379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smtClean="0">
                <a:solidFill>
                  <a:schemeClr val="bg1"/>
                </a:solidFill>
              </a:rPr>
              <a:t>Calculation </a:t>
            </a:r>
            <a:r>
              <a:rPr lang="en-US" sz="2000" b="1" dirty="0">
                <a:solidFill>
                  <a:schemeClr val="bg1"/>
                </a:solidFill>
              </a:rPr>
              <a:t>of Control Performance Assessment (CPA)</a:t>
            </a:r>
            <a:endParaRPr lang="en-US" sz="2000" dirty="0">
              <a:solidFill>
                <a:schemeClr val="bg1"/>
              </a:solidFill>
            </a:endParaRPr>
          </a:p>
        </p:txBody>
      </p:sp>
      <p:sp>
        <p:nvSpPr>
          <p:cNvPr id="8" name="Rectangle 7"/>
          <p:cNvSpPr/>
          <p:nvPr/>
        </p:nvSpPr>
        <p:spPr>
          <a:xfrm>
            <a:off x="1656647" y="1372469"/>
            <a:ext cx="9576035" cy="993349"/>
          </a:xfrm>
          <a:prstGeom prst="rect">
            <a:avLst/>
          </a:prstGeom>
        </p:spPr>
        <p:txBody>
          <a:bodyPr wrap="squar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The </a:t>
            </a:r>
            <a:r>
              <a:rPr lang="en-US" sz="1700" dirty="0" smtClean="0">
                <a:solidFill>
                  <a:schemeClr val="bg1"/>
                </a:solidFill>
                <a:ea typeface="Calibri" panose="020F0502020204030204" pitchFamily="34" charset="0"/>
                <a:cs typeface="Mangal"/>
              </a:rPr>
              <a:t>Control Performance Assessment </a:t>
            </a:r>
            <a:r>
              <a:rPr lang="en-US" sz="1700" dirty="0">
                <a:solidFill>
                  <a:schemeClr val="bg1"/>
                </a:solidFill>
                <a:ea typeface="Calibri" panose="020F0502020204030204" pitchFamily="34" charset="0"/>
                <a:cs typeface="Mangal"/>
              </a:rPr>
              <a:t>is an accumulation of the compliance monitoring results and control testing results and is measured by a Control Performance Index (‘CPI’). </a:t>
            </a:r>
            <a:endParaRPr lang="en-US" sz="1700" dirty="0" smtClean="0">
              <a:solidFill>
                <a:schemeClr val="bg1"/>
              </a:solidFill>
              <a:ea typeface="Calibri" panose="020F0502020204030204" pitchFamily="34" charset="0"/>
              <a:cs typeface="Mangal"/>
            </a:endParaRPr>
          </a:p>
          <a:p>
            <a:pPr algn="ctr">
              <a:lnSpc>
                <a:spcPct val="105000"/>
              </a:lnSpc>
              <a:spcBef>
                <a:spcPts val="0"/>
              </a:spcBef>
              <a:spcAft>
                <a:spcPts val="600"/>
              </a:spcAft>
            </a:pPr>
            <a:r>
              <a:rPr lang="en-US" sz="1700" b="1" dirty="0">
                <a:solidFill>
                  <a:schemeClr val="bg1"/>
                </a:solidFill>
                <a:ea typeface="Calibri" panose="020F0502020204030204" pitchFamily="34" charset="0"/>
                <a:cs typeface="Mangal"/>
              </a:rPr>
              <a:t>CPA = KCI monitoring results &amp; First Line Self-Assessment * Control testing score</a:t>
            </a:r>
          </a:p>
        </p:txBody>
      </p:sp>
      <p:sp>
        <p:nvSpPr>
          <p:cNvPr id="10" name="Rectangle 9"/>
          <p:cNvSpPr/>
          <p:nvPr/>
        </p:nvSpPr>
        <p:spPr>
          <a:xfrm>
            <a:off x="1656647" y="3182832"/>
            <a:ext cx="9508658" cy="630622"/>
          </a:xfrm>
          <a:prstGeom prst="rect">
            <a:avLst/>
          </a:prstGeom>
        </p:spPr>
        <p:txBody>
          <a:bodyPr wrap="squar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Compliance monitoring of each assessment unit is done on the basis of Key Compliance Indicators (‘KCI’) . The KCI will be defined by the Compliance monitoring team and approved by the CG advisory team. </a:t>
            </a:r>
            <a:endParaRPr lang="en-US" sz="1700" b="1" dirty="0">
              <a:solidFill>
                <a:schemeClr val="bg1"/>
              </a:solidFill>
              <a:ea typeface="Calibri" panose="020F0502020204030204" pitchFamily="34" charset="0"/>
              <a:cs typeface="Mangal"/>
            </a:endParaRPr>
          </a:p>
        </p:txBody>
      </p:sp>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796279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56648" y="1117748"/>
            <a:ext cx="9750392" cy="367024"/>
          </a:xfrm>
          <a:prstGeom prst="rect">
            <a:avLst/>
          </a:prstGeom>
        </p:spPr>
        <p:txBody>
          <a:bodyPr wrap="square">
            <a:spAutoFit/>
          </a:bodyPr>
          <a:lstStyle/>
          <a:p>
            <a:pPr>
              <a:lnSpc>
                <a:spcPct val="105000"/>
              </a:lnSpc>
              <a:spcBef>
                <a:spcPts val="0"/>
              </a:spcBef>
              <a:spcAft>
                <a:spcPts val="600"/>
              </a:spcAft>
            </a:pPr>
            <a:r>
              <a:rPr lang="en-US" sz="1700" dirty="0">
                <a:solidFill>
                  <a:schemeClr val="bg1"/>
                </a:solidFill>
                <a:ea typeface="Calibri" panose="020F0502020204030204" pitchFamily="34" charset="0"/>
                <a:cs typeface="Mangal"/>
              </a:rPr>
              <a:t>KCI </a:t>
            </a:r>
            <a:r>
              <a:rPr lang="en-US" sz="1700" dirty="0" smtClean="0">
                <a:solidFill>
                  <a:schemeClr val="bg1"/>
                </a:solidFill>
                <a:ea typeface="Calibri" panose="020F0502020204030204" pitchFamily="34" charset="0"/>
                <a:cs typeface="Mangal"/>
              </a:rPr>
              <a:t>monitoring &amp; Self-assessment is </a:t>
            </a:r>
            <a:r>
              <a:rPr lang="en-US" sz="1700" dirty="0">
                <a:solidFill>
                  <a:schemeClr val="bg1"/>
                </a:solidFill>
                <a:ea typeface="Calibri" panose="020F0502020204030204" pitchFamily="34" charset="0"/>
                <a:cs typeface="Mangal"/>
              </a:rPr>
              <a:t>merged as single parameter. Below mentioned matrix to be considered:</a:t>
            </a:r>
            <a:endParaRPr lang="en-US" sz="1700" b="1" dirty="0">
              <a:solidFill>
                <a:schemeClr val="bg1"/>
              </a:solidFill>
              <a:ea typeface="Calibri" panose="020F0502020204030204" pitchFamily="34" charset="0"/>
              <a:cs typeface="Mangal"/>
            </a:endParaRPr>
          </a:p>
        </p:txBody>
      </p:sp>
      <p:sp>
        <p:nvSpPr>
          <p:cNvPr id="10" name="Rectangle 9"/>
          <p:cNvSpPr/>
          <p:nvPr/>
        </p:nvSpPr>
        <p:spPr>
          <a:xfrm>
            <a:off x="2723951" y="1352132"/>
            <a:ext cx="1336810" cy="368890"/>
          </a:xfrm>
          <a:prstGeom prst="rect">
            <a:avLst/>
          </a:prstGeom>
        </p:spPr>
        <p:txBody>
          <a:bodyPr wrap="square">
            <a:spAutoFit/>
          </a:bodyPr>
          <a:lstStyle/>
          <a:p>
            <a:pPr algn="just">
              <a:lnSpc>
                <a:spcPct val="105000"/>
              </a:lnSpc>
              <a:spcBef>
                <a:spcPts val="0"/>
              </a:spcBef>
              <a:spcAft>
                <a:spcPts val="600"/>
              </a:spcAft>
            </a:pPr>
            <a:r>
              <a:rPr lang="en-US" sz="1700" dirty="0" smtClean="0">
                <a:solidFill>
                  <a:schemeClr val="bg1"/>
                </a:solidFill>
                <a:ea typeface="Calibri" panose="020F0502020204030204" pitchFamily="34" charset="0"/>
                <a:cs typeface="Mangal"/>
              </a:rPr>
              <a:t>Compliance :</a:t>
            </a:r>
            <a:endParaRPr lang="en-US" sz="1700" b="1" dirty="0">
              <a:solidFill>
                <a:schemeClr val="bg1"/>
              </a:solidFill>
              <a:ea typeface="Calibri" panose="020F0502020204030204" pitchFamily="34" charset="0"/>
              <a:cs typeface="Mangal"/>
            </a:endParaRPr>
          </a:p>
        </p:txBody>
      </p:sp>
      <p:graphicFrame>
        <p:nvGraphicFramePr>
          <p:cNvPr id="2" name="Table 1"/>
          <p:cNvGraphicFramePr>
            <a:graphicFrameLocks noGrp="1"/>
          </p:cNvGraphicFramePr>
          <p:nvPr>
            <p:extLst>
              <p:ext uri="{D42A27DB-BD31-4B8C-83A1-F6EECF244321}">
                <p14:modId xmlns:p14="http://schemas.microsoft.com/office/powerpoint/2010/main" val="4286545239"/>
              </p:ext>
            </p:extLst>
          </p:nvPr>
        </p:nvGraphicFramePr>
        <p:xfrm>
          <a:off x="2829829" y="1695062"/>
          <a:ext cx="6725050" cy="1271778"/>
        </p:xfrm>
        <a:graphic>
          <a:graphicData uri="http://schemas.openxmlformats.org/drawingml/2006/table">
            <a:tbl>
              <a:tblPr firstRow="1" firstCol="1" bandRow="1">
                <a:tableStyleId>{5C22544A-7EE6-4342-B048-85BDC9FD1C3A}</a:tableStyleId>
              </a:tblPr>
              <a:tblGrid>
                <a:gridCol w="1360851">
                  <a:extLst>
                    <a:ext uri="{9D8B030D-6E8A-4147-A177-3AD203B41FA5}">
                      <a16:colId xmlns:a16="http://schemas.microsoft.com/office/drawing/2014/main" val="1732345617"/>
                    </a:ext>
                  </a:extLst>
                </a:gridCol>
                <a:gridCol w="1063612">
                  <a:extLst>
                    <a:ext uri="{9D8B030D-6E8A-4147-A177-3AD203B41FA5}">
                      <a16:colId xmlns:a16="http://schemas.microsoft.com/office/drawing/2014/main" val="609225351"/>
                    </a:ext>
                  </a:extLst>
                </a:gridCol>
                <a:gridCol w="770021">
                  <a:extLst>
                    <a:ext uri="{9D8B030D-6E8A-4147-A177-3AD203B41FA5}">
                      <a16:colId xmlns:a16="http://schemas.microsoft.com/office/drawing/2014/main" val="1540613315"/>
                    </a:ext>
                  </a:extLst>
                </a:gridCol>
                <a:gridCol w="2547056">
                  <a:extLst>
                    <a:ext uri="{9D8B030D-6E8A-4147-A177-3AD203B41FA5}">
                      <a16:colId xmlns:a16="http://schemas.microsoft.com/office/drawing/2014/main" val="3954511460"/>
                    </a:ext>
                  </a:extLst>
                </a:gridCol>
                <a:gridCol w="983510">
                  <a:extLst>
                    <a:ext uri="{9D8B030D-6E8A-4147-A177-3AD203B41FA5}">
                      <a16:colId xmlns:a16="http://schemas.microsoft.com/office/drawing/2014/main" val="4237735690"/>
                    </a:ext>
                  </a:extLst>
                </a:gridCol>
              </a:tblGrid>
              <a:tr h="210528">
                <a:tc>
                  <a:txBody>
                    <a:bodyPr/>
                    <a:lstStyle/>
                    <a:p>
                      <a:pPr marL="0" marR="0" algn="just">
                        <a:lnSpc>
                          <a:spcPct val="107000"/>
                        </a:lnSpc>
                        <a:spcBef>
                          <a:spcPts val="0"/>
                        </a:spcBef>
                        <a:spcAft>
                          <a:spcPts val="0"/>
                        </a:spcAft>
                      </a:pPr>
                      <a:r>
                        <a:rPr lang="en-US" sz="1300">
                          <a:effectLst/>
                        </a:rPr>
                        <a:t>Scenarios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dirty="0">
                          <a:effectLst/>
                        </a:rPr>
                        <a:t>KCI Linked</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KCI</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dirty="0">
                          <a:effectLst/>
                        </a:rPr>
                        <a:t>Self-Assessment</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Score</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2660856187"/>
                  </a:ext>
                </a:extLst>
              </a:tr>
              <a:tr h="210528">
                <a:tc>
                  <a:txBody>
                    <a:bodyPr/>
                    <a:lstStyle/>
                    <a:p>
                      <a:pPr marL="0" marR="0" algn="just">
                        <a:lnSpc>
                          <a:spcPct val="107000"/>
                        </a:lnSpc>
                        <a:spcBef>
                          <a:spcPts val="0"/>
                        </a:spcBef>
                        <a:spcAft>
                          <a:spcPts val="0"/>
                        </a:spcAft>
                      </a:pPr>
                      <a:r>
                        <a:rPr lang="en-US" sz="1300">
                          <a:effectLst/>
                        </a:rPr>
                        <a:t>Sc - 1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3844893055"/>
                  </a:ext>
                </a:extLst>
              </a:tr>
              <a:tr h="210528">
                <a:tc>
                  <a:txBody>
                    <a:bodyPr/>
                    <a:lstStyle/>
                    <a:p>
                      <a:pPr marL="0" marR="0" algn="just">
                        <a:lnSpc>
                          <a:spcPct val="107000"/>
                        </a:lnSpc>
                        <a:spcBef>
                          <a:spcPts val="0"/>
                        </a:spcBef>
                        <a:spcAft>
                          <a:spcPts val="0"/>
                        </a:spcAft>
                      </a:pPr>
                      <a:r>
                        <a:rPr lang="en-US" sz="1300">
                          <a:effectLst/>
                        </a:rPr>
                        <a:t>Sc - 2</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1987516296"/>
                  </a:ext>
                </a:extLst>
              </a:tr>
              <a:tr h="210528">
                <a:tc>
                  <a:txBody>
                    <a:bodyPr/>
                    <a:lstStyle/>
                    <a:p>
                      <a:pPr marL="0" marR="0" algn="just">
                        <a:lnSpc>
                          <a:spcPct val="107000"/>
                        </a:lnSpc>
                        <a:spcBef>
                          <a:spcPts val="0"/>
                        </a:spcBef>
                        <a:spcAft>
                          <a:spcPts val="0"/>
                        </a:spcAft>
                      </a:pPr>
                      <a:r>
                        <a:rPr lang="en-US" sz="1300">
                          <a:effectLst/>
                        </a:rPr>
                        <a:t>Sc - 3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3712081368"/>
                  </a:ext>
                </a:extLst>
              </a:tr>
              <a:tr h="210528">
                <a:tc>
                  <a:txBody>
                    <a:bodyPr/>
                    <a:lstStyle/>
                    <a:p>
                      <a:pPr marL="0" marR="0" algn="just">
                        <a:lnSpc>
                          <a:spcPct val="107000"/>
                        </a:lnSpc>
                        <a:spcBef>
                          <a:spcPts val="0"/>
                        </a:spcBef>
                        <a:spcAft>
                          <a:spcPts val="0"/>
                        </a:spcAft>
                      </a:pPr>
                      <a:r>
                        <a:rPr lang="en-US" sz="1300">
                          <a:effectLst/>
                        </a:rPr>
                        <a:t>Sc - 4</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No</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NA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2303127405"/>
                  </a:ext>
                </a:extLst>
              </a:tr>
              <a:tr h="210528">
                <a:tc>
                  <a:txBody>
                    <a:bodyPr/>
                    <a:lstStyle/>
                    <a:p>
                      <a:pPr marL="0" marR="0" algn="just">
                        <a:lnSpc>
                          <a:spcPct val="107000"/>
                        </a:lnSpc>
                        <a:spcBef>
                          <a:spcPts val="0"/>
                        </a:spcBef>
                        <a:spcAft>
                          <a:spcPts val="0"/>
                        </a:spcAft>
                      </a:pPr>
                      <a:r>
                        <a:rPr lang="en-US" sz="1300" dirty="0" err="1">
                          <a:effectLst/>
                        </a:rPr>
                        <a:t>Sc</a:t>
                      </a:r>
                      <a:r>
                        <a:rPr lang="en-US" sz="1300" dirty="0">
                          <a:effectLst/>
                        </a:rPr>
                        <a:t> - 5</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No</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NA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dirty="0">
                          <a:effectLst/>
                        </a:rPr>
                        <a:t>1</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2636453067"/>
                  </a:ext>
                </a:extLst>
              </a:tr>
            </a:tbl>
          </a:graphicData>
        </a:graphic>
      </p:graphicFrame>
      <p:sp>
        <p:nvSpPr>
          <p:cNvPr id="7" name="Rectangle 6"/>
          <p:cNvSpPr/>
          <p:nvPr/>
        </p:nvSpPr>
        <p:spPr>
          <a:xfrm>
            <a:off x="2723951" y="2967538"/>
            <a:ext cx="1336810" cy="368890"/>
          </a:xfrm>
          <a:prstGeom prst="rect">
            <a:avLst/>
          </a:prstGeom>
        </p:spPr>
        <p:txBody>
          <a:bodyPr wrap="square">
            <a:spAutoFit/>
          </a:bodyPr>
          <a:lstStyle/>
          <a:p>
            <a:pPr algn="just">
              <a:lnSpc>
                <a:spcPct val="105000"/>
              </a:lnSpc>
              <a:spcBef>
                <a:spcPts val="0"/>
              </a:spcBef>
              <a:spcAft>
                <a:spcPts val="600"/>
              </a:spcAft>
            </a:pPr>
            <a:r>
              <a:rPr lang="en-US" sz="1700" dirty="0" smtClean="0">
                <a:solidFill>
                  <a:schemeClr val="bg1"/>
                </a:solidFill>
                <a:ea typeface="Calibri" panose="020F0502020204030204" pitchFamily="34" charset="0"/>
                <a:cs typeface="Mangal"/>
              </a:rPr>
              <a:t>ICOFR :</a:t>
            </a:r>
            <a:endParaRPr lang="en-US" sz="1700" b="1" dirty="0">
              <a:solidFill>
                <a:schemeClr val="bg1"/>
              </a:solidFill>
              <a:ea typeface="Calibri" panose="020F0502020204030204" pitchFamily="34" charset="0"/>
              <a:cs typeface="Mangal"/>
            </a:endParaRPr>
          </a:p>
        </p:txBody>
      </p:sp>
      <p:graphicFrame>
        <p:nvGraphicFramePr>
          <p:cNvPr id="3" name="Table 2"/>
          <p:cNvGraphicFramePr>
            <a:graphicFrameLocks noGrp="1"/>
          </p:cNvGraphicFramePr>
          <p:nvPr>
            <p:extLst>
              <p:ext uri="{D42A27DB-BD31-4B8C-83A1-F6EECF244321}">
                <p14:modId xmlns:p14="http://schemas.microsoft.com/office/powerpoint/2010/main" val="1199786677"/>
              </p:ext>
            </p:extLst>
          </p:nvPr>
        </p:nvGraphicFramePr>
        <p:xfrm>
          <a:off x="2829828" y="3301160"/>
          <a:ext cx="6725051" cy="1483741"/>
        </p:xfrm>
        <a:graphic>
          <a:graphicData uri="http://schemas.openxmlformats.org/drawingml/2006/table">
            <a:tbl>
              <a:tblPr firstRow="1" firstCol="1" bandRow="1">
                <a:tableStyleId>{5C22544A-7EE6-4342-B048-85BDC9FD1C3A}</a:tableStyleId>
              </a:tblPr>
              <a:tblGrid>
                <a:gridCol w="1151268">
                  <a:extLst>
                    <a:ext uri="{9D8B030D-6E8A-4147-A177-3AD203B41FA5}">
                      <a16:colId xmlns:a16="http://schemas.microsoft.com/office/drawing/2014/main" val="1362541916"/>
                    </a:ext>
                  </a:extLst>
                </a:gridCol>
                <a:gridCol w="1231749">
                  <a:extLst>
                    <a:ext uri="{9D8B030D-6E8A-4147-A177-3AD203B41FA5}">
                      <a16:colId xmlns:a16="http://schemas.microsoft.com/office/drawing/2014/main" val="761023900"/>
                    </a:ext>
                  </a:extLst>
                </a:gridCol>
                <a:gridCol w="694882">
                  <a:extLst>
                    <a:ext uri="{9D8B030D-6E8A-4147-A177-3AD203B41FA5}">
                      <a16:colId xmlns:a16="http://schemas.microsoft.com/office/drawing/2014/main" val="1220519196"/>
                    </a:ext>
                  </a:extLst>
                </a:gridCol>
                <a:gridCol w="2889455">
                  <a:extLst>
                    <a:ext uri="{9D8B030D-6E8A-4147-A177-3AD203B41FA5}">
                      <a16:colId xmlns:a16="http://schemas.microsoft.com/office/drawing/2014/main" val="494455495"/>
                    </a:ext>
                  </a:extLst>
                </a:gridCol>
                <a:gridCol w="757697">
                  <a:extLst>
                    <a:ext uri="{9D8B030D-6E8A-4147-A177-3AD203B41FA5}">
                      <a16:colId xmlns:a16="http://schemas.microsoft.com/office/drawing/2014/main" val="1966742140"/>
                    </a:ext>
                  </a:extLst>
                </a:gridCol>
              </a:tblGrid>
              <a:tr h="210528">
                <a:tc>
                  <a:txBody>
                    <a:bodyPr/>
                    <a:lstStyle/>
                    <a:p>
                      <a:pPr marL="0" marR="0" algn="just">
                        <a:lnSpc>
                          <a:spcPct val="107000"/>
                        </a:lnSpc>
                        <a:spcBef>
                          <a:spcPts val="0"/>
                        </a:spcBef>
                        <a:spcAft>
                          <a:spcPts val="0"/>
                        </a:spcAft>
                      </a:pPr>
                      <a:r>
                        <a:rPr lang="en-US" sz="1300" dirty="0">
                          <a:effectLst/>
                        </a:rPr>
                        <a:t>Scenarios</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KCI Linked</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KCI</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Self-Assessment</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Score</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2463792293"/>
                  </a:ext>
                </a:extLst>
              </a:tr>
              <a:tr h="210528">
                <a:tc>
                  <a:txBody>
                    <a:bodyPr/>
                    <a:lstStyle/>
                    <a:p>
                      <a:pPr marL="0" marR="0">
                        <a:lnSpc>
                          <a:spcPct val="107000"/>
                        </a:lnSpc>
                        <a:spcBef>
                          <a:spcPts val="0"/>
                        </a:spcBef>
                        <a:spcAft>
                          <a:spcPts val="0"/>
                        </a:spcAft>
                      </a:pPr>
                      <a:r>
                        <a:rPr lang="en-US" sz="1300">
                          <a:effectLst/>
                        </a:rPr>
                        <a:t>Sc - 1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930555606"/>
                  </a:ext>
                </a:extLst>
              </a:tr>
              <a:tr h="210528">
                <a:tc>
                  <a:txBody>
                    <a:bodyPr/>
                    <a:lstStyle/>
                    <a:p>
                      <a:pPr marL="0" marR="0">
                        <a:lnSpc>
                          <a:spcPct val="107000"/>
                        </a:lnSpc>
                        <a:spcBef>
                          <a:spcPts val="0"/>
                        </a:spcBef>
                        <a:spcAft>
                          <a:spcPts val="0"/>
                        </a:spcAft>
                      </a:pPr>
                      <a:r>
                        <a:rPr lang="en-US" sz="1300">
                          <a:effectLst/>
                        </a:rPr>
                        <a:t>Sc - 2</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 with Exception</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1221700984"/>
                  </a:ext>
                </a:extLst>
              </a:tr>
              <a:tr h="210528">
                <a:tc>
                  <a:txBody>
                    <a:bodyPr/>
                    <a:lstStyle/>
                    <a:p>
                      <a:pPr marL="0" marR="0">
                        <a:lnSpc>
                          <a:spcPct val="107000"/>
                        </a:lnSpc>
                        <a:spcBef>
                          <a:spcPts val="0"/>
                        </a:spcBef>
                        <a:spcAft>
                          <a:spcPts val="0"/>
                        </a:spcAft>
                      </a:pPr>
                      <a:r>
                        <a:rPr lang="en-US" sz="1300">
                          <a:effectLst/>
                        </a:rPr>
                        <a:t>Sc - 3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2450560288"/>
                  </a:ext>
                </a:extLst>
              </a:tr>
              <a:tr h="210528">
                <a:tc>
                  <a:txBody>
                    <a:bodyPr/>
                    <a:lstStyle/>
                    <a:p>
                      <a:pPr marL="0" marR="0">
                        <a:lnSpc>
                          <a:spcPct val="107000"/>
                        </a:lnSpc>
                        <a:spcBef>
                          <a:spcPts val="0"/>
                        </a:spcBef>
                        <a:spcAft>
                          <a:spcPts val="0"/>
                        </a:spcAft>
                      </a:pPr>
                      <a:r>
                        <a:rPr lang="en-US" sz="1300">
                          <a:effectLst/>
                        </a:rPr>
                        <a:t>Sc - 4</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Pass/Pass with Exception /Fail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1097820780"/>
                  </a:ext>
                </a:extLst>
              </a:tr>
              <a:tr h="210528">
                <a:tc>
                  <a:txBody>
                    <a:bodyPr/>
                    <a:lstStyle/>
                    <a:p>
                      <a:pPr marL="0" marR="0">
                        <a:lnSpc>
                          <a:spcPct val="107000"/>
                        </a:lnSpc>
                        <a:spcBef>
                          <a:spcPts val="0"/>
                        </a:spcBef>
                        <a:spcAft>
                          <a:spcPts val="0"/>
                        </a:spcAft>
                      </a:pPr>
                      <a:r>
                        <a:rPr lang="en-US" sz="1300">
                          <a:effectLst/>
                        </a:rPr>
                        <a:t>Sc - 5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No</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NA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Pass/Pass with Exception</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3603979272"/>
                  </a:ext>
                </a:extLst>
              </a:tr>
              <a:tr h="210528">
                <a:tc>
                  <a:txBody>
                    <a:bodyPr/>
                    <a:lstStyle/>
                    <a:p>
                      <a:pPr marL="0" marR="0">
                        <a:lnSpc>
                          <a:spcPct val="107000"/>
                        </a:lnSpc>
                        <a:spcBef>
                          <a:spcPts val="0"/>
                        </a:spcBef>
                        <a:spcAft>
                          <a:spcPts val="0"/>
                        </a:spcAft>
                      </a:pPr>
                      <a:r>
                        <a:rPr lang="en-US" sz="1300" dirty="0" err="1">
                          <a:effectLst/>
                        </a:rPr>
                        <a:t>Sc</a:t>
                      </a:r>
                      <a:r>
                        <a:rPr lang="en-US" sz="1300" dirty="0">
                          <a:effectLst/>
                        </a:rPr>
                        <a:t> - 6</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No</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NA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dirty="0">
                          <a:effectLst/>
                        </a:rPr>
                        <a:t>Fail</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dirty="0">
                          <a:effectLst/>
                        </a:rPr>
                        <a:t>1</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3679111038"/>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20841203"/>
              </p:ext>
            </p:extLst>
          </p:nvPr>
        </p:nvGraphicFramePr>
        <p:xfrm>
          <a:off x="2820203" y="5083277"/>
          <a:ext cx="6725051" cy="1483741"/>
        </p:xfrm>
        <a:graphic>
          <a:graphicData uri="http://schemas.openxmlformats.org/drawingml/2006/table">
            <a:tbl>
              <a:tblPr firstRow="1" firstCol="1" bandRow="1">
                <a:tableStyleId>{5C22544A-7EE6-4342-B048-85BDC9FD1C3A}</a:tableStyleId>
              </a:tblPr>
              <a:tblGrid>
                <a:gridCol w="1151267">
                  <a:extLst>
                    <a:ext uri="{9D8B030D-6E8A-4147-A177-3AD203B41FA5}">
                      <a16:colId xmlns:a16="http://schemas.microsoft.com/office/drawing/2014/main" val="3249149984"/>
                    </a:ext>
                  </a:extLst>
                </a:gridCol>
                <a:gridCol w="1231748">
                  <a:extLst>
                    <a:ext uri="{9D8B030D-6E8A-4147-A177-3AD203B41FA5}">
                      <a16:colId xmlns:a16="http://schemas.microsoft.com/office/drawing/2014/main" val="299719269"/>
                    </a:ext>
                  </a:extLst>
                </a:gridCol>
                <a:gridCol w="694883">
                  <a:extLst>
                    <a:ext uri="{9D8B030D-6E8A-4147-A177-3AD203B41FA5}">
                      <a16:colId xmlns:a16="http://schemas.microsoft.com/office/drawing/2014/main" val="1992238410"/>
                    </a:ext>
                  </a:extLst>
                </a:gridCol>
                <a:gridCol w="2890437">
                  <a:extLst>
                    <a:ext uri="{9D8B030D-6E8A-4147-A177-3AD203B41FA5}">
                      <a16:colId xmlns:a16="http://schemas.microsoft.com/office/drawing/2014/main" val="4189216550"/>
                    </a:ext>
                  </a:extLst>
                </a:gridCol>
                <a:gridCol w="756716">
                  <a:extLst>
                    <a:ext uri="{9D8B030D-6E8A-4147-A177-3AD203B41FA5}">
                      <a16:colId xmlns:a16="http://schemas.microsoft.com/office/drawing/2014/main" val="3630443739"/>
                    </a:ext>
                  </a:extLst>
                </a:gridCol>
              </a:tblGrid>
              <a:tr h="210528">
                <a:tc>
                  <a:txBody>
                    <a:bodyPr/>
                    <a:lstStyle/>
                    <a:p>
                      <a:pPr marL="0" marR="0" algn="just">
                        <a:lnSpc>
                          <a:spcPct val="107000"/>
                        </a:lnSpc>
                        <a:spcBef>
                          <a:spcPts val="0"/>
                        </a:spcBef>
                        <a:spcAft>
                          <a:spcPts val="0"/>
                        </a:spcAft>
                      </a:pPr>
                      <a:r>
                        <a:rPr lang="en-US" sz="1300">
                          <a:effectLst/>
                        </a:rPr>
                        <a:t>Scenarios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KCI Linked</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KCI</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Self-Assessment</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just">
                        <a:lnSpc>
                          <a:spcPct val="107000"/>
                        </a:lnSpc>
                        <a:spcBef>
                          <a:spcPts val="0"/>
                        </a:spcBef>
                        <a:spcAft>
                          <a:spcPts val="0"/>
                        </a:spcAft>
                      </a:pPr>
                      <a:r>
                        <a:rPr lang="en-US" sz="1300">
                          <a:effectLst/>
                        </a:rPr>
                        <a:t>Score</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400059934"/>
                  </a:ext>
                </a:extLst>
              </a:tr>
              <a:tr h="210528">
                <a:tc>
                  <a:txBody>
                    <a:bodyPr/>
                    <a:lstStyle/>
                    <a:p>
                      <a:pPr marL="0" marR="0">
                        <a:lnSpc>
                          <a:spcPct val="107000"/>
                        </a:lnSpc>
                        <a:spcBef>
                          <a:spcPts val="0"/>
                        </a:spcBef>
                        <a:spcAft>
                          <a:spcPts val="0"/>
                        </a:spcAft>
                      </a:pPr>
                      <a:r>
                        <a:rPr lang="en-US" sz="1300">
                          <a:effectLst/>
                        </a:rPr>
                        <a:t>Sc - 1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1629941432"/>
                  </a:ext>
                </a:extLst>
              </a:tr>
              <a:tr h="210528">
                <a:tc>
                  <a:txBody>
                    <a:bodyPr/>
                    <a:lstStyle/>
                    <a:p>
                      <a:pPr marL="0" marR="0">
                        <a:lnSpc>
                          <a:spcPct val="107000"/>
                        </a:lnSpc>
                        <a:spcBef>
                          <a:spcPts val="0"/>
                        </a:spcBef>
                        <a:spcAft>
                          <a:spcPts val="0"/>
                        </a:spcAft>
                      </a:pPr>
                      <a:r>
                        <a:rPr lang="en-US" sz="1300">
                          <a:effectLst/>
                        </a:rPr>
                        <a:t>Sc - 2</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 with Exception</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3319007627"/>
                  </a:ext>
                </a:extLst>
              </a:tr>
              <a:tr h="210528">
                <a:tc>
                  <a:txBody>
                    <a:bodyPr/>
                    <a:lstStyle/>
                    <a:p>
                      <a:pPr marL="0" marR="0">
                        <a:lnSpc>
                          <a:spcPct val="107000"/>
                        </a:lnSpc>
                        <a:spcBef>
                          <a:spcPts val="0"/>
                        </a:spcBef>
                        <a:spcAft>
                          <a:spcPts val="0"/>
                        </a:spcAft>
                      </a:pPr>
                      <a:r>
                        <a:rPr lang="en-US" sz="1300">
                          <a:effectLst/>
                        </a:rPr>
                        <a:t>Sc - 3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2316829832"/>
                  </a:ext>
                </a:extLst>
              </a:tr>
              <a:tr h="210528">
                <a:tc>
                  <a:txBody>
                    <a:bodyPr/>
                    <a:lstStyle/>
                    <a:p>
                      <a:pPr marL="0" marR="0">
                        <a:lnSpc>
                          <a:spcPct val="107000"/>
                        </a:lnSpc>
                        <a:spcBef>
                          <a:spcPts val="0"/>
                        </a:spcBef>
                        <a:spcAft>
                          <a:spcPts val="0"/>
                        </a:spcAft>
                      </a:pPr>
                      <a:r>
                        <a:rPr lang="en-US" sz="1300">
                          <a:effectLst/>
                        </a:rPr>
                        <a:t>Sc - 4</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Yes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Pass/Pass with Exception /Fail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3281325899"/>
                  </a:ext>
                </a:extLst>
              </a:tr>
              <a:tr h="210528">
                <a:tc>
                  <a:txBody>
                    <a:bodyPr/>
                    <a:lstStyle/>
                    <a:p>
                      <a:pPr marL="0" marR="0">
                        <a:lnSpc>
                          <a:spcPct val="107000"/>
                        </a:lnSpc>
                        <a:spcBef>
                          <a:spcPts val="0"/>
                        </a:spcBef>
                        <a:spcAft>
                          <a:spcPts val="0"/>
                        </a:spcAft>
                      </a:pPr>
                      <a:r>
                        <a:rPr lang="en-US" sz="1300">
                          <a:effectLst/>
                        </a:rPr>
                        <a:t>Sc - 5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No</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NA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Pass/Pass with Exception</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3628935784"/>
                  </a:ext>
                </a:extLst>
              </a:tr>
              <a:tr h="210528">
                <a:tc>
                  <a:txBody>
                    <a:bodyPr/>
                    <a:lstStyle/>
                    <a:p>
                      <a:pPr marL="0" marR="0">
                        <a:lnSpc>
                          <a:spcPct val="107000"/>
                        </a:lnSpc>
                        <a:spcBef>
                          <a:spcPts val="0"/>
                        </a:spcBef>
                        <a:spcAft>
                          <a:spcPts val="0"/>
                        </a:spcAft>
                      </a:pPr>
                      <a:r>
                        <a:rPr lang="en-US" sz="1300">
                          <a:effectLst/>
                        </a:rPr>
                        <a:t>Sc - 6</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No</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a:effectLst/>
                        </a:rPr>
                        <a:t>NA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dirty="0">
                          <a:effectLst/>
                        </a:rPr>
                        <a:t>Fail</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nSpc>
                          <a:spcPct val="107000"/>
                        </a:lnSpc>
                        <a:spcBef>
                          <a:spcPts val="0"/>
                        </a:spcBef>
                        <a:spcAft>
                          <a:spcPts val="0"/>
                        </a:spcAft>
                      </a:pPr>
                      <a:r>
                        <a:rPr lang="en-US" sz="1300" dirty="0">
                          <a:effectLst/>
                        </a:rPr>
                        <a:t>1</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b"/>
                </a:tc>
                <a:extLst>
                  <a:ext uri="{0D108BD9-81ED-4DB2-BD59-A6C34878D82A}">
                    <a16:rowId xmlns:a16="http://schemas.microsoft.com/office/drawing/2014/main" val="850691217"/>
                  </a:ext>
                </a:extLst>
              </a:tr>
            </a:tbl>
          </a:graphicData>
        </a:graphic>
      </p:graphicFrame>
      <p:sp>
        <p:nvSpPr>
          <p:cNvPr id="11" name="Rectangle 10"/>
          <p:cNvSpPr/>
          <p:nvPr/>
        </p:nvSpPr>
        <p:spPr>
          <a:xfrm>
            <a:off x="2723951" y="4741237"/>
            <a:ext cx="1336810" cy="368890"/>
          </a:xfrm>
          <a:prstGeom prst="rect">
            <a:avLst/>
          </a:prstGeom>
        </p:spPr>
        <p:txBody>
          <a:bodyPr wrap="square">
            <a:spAutoFit/>
          </a:bodyPr>
          <a:lstStyle/>
          <a:p>
            <a:pPr algn="just">
              <a:lnSpc>
                <a:spcPct val="105000"/>
              </a:lnSpc>
              <a:spcBef>
                <a:spcPts val="0"/>
              </a:spcBef>
              <a:spcAft>
                <a:spcPts val="600"/>
              </a:spcAft>
            </a:pPr>
            <a:r>
              <a:rPr lang="en-US" sz="1700" dirty="0" smtClean="0">
                <a:solidFill>
                  <a:schemeClr val="bg1"/>
                </a:solidFill>
                <a:ea typeface="Calibri" panose="020F0502020204030204" pitchFamily="34" charset="0"/>
                <a:cs typeface="Mangal"/>
              </a:rPr>
              <a:t>Converged :</a:t>
            </a:r>
            <a:endParaRPr lang="en-US" sz="1700" b="1" dirty="0">
              <a:solidFill>
                <a:schemeClr val="bg1"/>
              </a:solidFill>
              <a:ea typeface="Calibri" panose="020F0502020204030204" pitchFamily="34" charset="0"/>
              <a:cs typeface="Mangal"/>
            </a:endParaRPr>
          </a:p>
        </p:txBody>
      </p:sp>
      <p:sp>
        <p:nvSpPr>
          <p:cNvPr id="13" name="TextBox 12"/>
          <p:cNvSpPr txBox="1"/>
          <p:nvPr/>
        </p:nvSpPr>
        <p:spPr>
          <a:xfrm>
            <a:off x="560173" y="792854"/>
            <a:ext cx="11219546" cy="400110"/>
          </a:xfrm>
          <a:prstGeom prst="rect">
            <a:avLst/>
          </a:prstGeom>
          <a:noFill/>
        </p:spPr>
        <p:txBody>
          <a:bodyPr wrap="square" rtlCol="0">
            <a:spAutoFit/>
          </a:bodyPr>
          <a:lstStyle/>
          <a:p>
            <a:pPr algn="ctr"/>
            <a:r>
              <a:rPr lang="en-US" sz="2000" b="1" dirty="0" smtClean="0">
                <a:solidFill>
                  <a:schemeClr val="bg1"/>
                </a:solidFill>
              </a:rPr>
              <a:t>Calculation </a:t>
            </a:r>
            <a:r>
              <a:rPr lang="en-US" sz="2000" b="1" dirty="0">
                <a:solidFill>
                  <a:schemeClr val="bg1"/>
                </a:solidFill>
              </a:rPr>
              <a:t>of Control Performance Assessment (CPA)</a:t>
            </a:r>
            <a:endParaRPr lang="en-US" sz="2000" dirty="0">
              <a:solidFill>
                <a:schemeClr val="bg1"/>
              </a:solidFill>
            </a:endParaRPr>
          </a:p>
        </p:txBody>
      </p:sp>
      <p:pic>
        <p:nvPicPr>
          <p:cNvPr id="12" name="Picture 11">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308382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smtClean="0">
                <a:solidFill>
                  <a:schemeClr val="bg1"/>
                </a:solidFill>
              </a:rPr>
              <a:t>Calculation </a:t>
            </a:r>
            <a:r>
              <a:rPr lang="en-US" sz="2000" b="1" dirty="0">
                <a:solidFill>
                  <a:schemeClr val="bg1"/>
                </a:solidFill>
              </a:rPr>
              <a:t>of Control Performance Assessment (CPA)</a:t>
            </a:r>
            <a:endParaRPr lang="en-US" sz="2000" dirty="0">
              <a:solidFill>
                <a:schemeClr val="bg1"/>
              </a:solidFill>
            </a:endParaRPr>
          </a:p>
        </p:txBody>
      </p:sp>
      <p:sp>
        <p:nvSpPr>
          <p:cNvPr id="8" name="Rectangle 7"/>
          <p:cNvSpPr/>
          <p:nvPr/>
        </p:nvSpPr>
        <p:spPr>
          <a:xfrm>
            <a:off x="1685522" y="1305094"/>
            <a:ext cx="9576035" cy="355931"/>
          </a:xfrm>
          <a:prstGeom prst="rect">
            <a:avLst/>
          </a:prstGeom>
        </p:spPr>
        <p:txBody>
          <a:bodyPr wrap="square">
            <a:spAutoFit/>
          </a:bodyPr>
          <a:lstStyle/>
          <a:p>
            <a:pPr algn="just">
              <a:lnSpc>
                <a:spcPct val="105000"/>
              </a:lnSpc>
              <a:spcBef>
                <a:spcPts val="0"/>
              </a:spcBef>
              <a:spcAft>
                <a:spcPts val="600"/>
              </a:spcAft>
            </a:pPr>
            <a:r>
              <a:rPr lang="en-US" sz="1700" dirty="0" smtClean="0">
                <a:solidFill>
                  <a:schemeClr val="bg1"/>
                </a:solidFill>
                <a:ea typeface="Calibri" panose="020F0502020204030204" pitchFamily="34" charset="0"/>
                <a:cs typeface="Mangal"/>
              </a:rPr>
              <a:t>Based </a:t>
            </a:r>
            <a:r>
              <a:rPr lang="en-US" sz="1700" dirty="0">
                <a:solidFill>
                  <a:schemeClr val="bg1"/>
                </a:solidFill>
                <a:ea typeface="Calibri" panose="020F0502020204030204" pitchFamily="34" charset="0"/>
                <a:cs typeface="Mangal"/>
              </a:rPr>
              <a:t>on various control testing results, each control will be given a control testing score.</a:t>
            </a:r>
            <a:endParaRPr lang="en-US" sz="1700" b="1" dirty="0">
              <a:solidFill>
                <a:schemeClr val="bg1"/>
              </a:solidFill>
              <a:ea typeface="Calibri" panose="020F0502020204030204" pitchFamily="34" charset="0"/>
              <a:cs typeface="Mangal"/>
            </a:endParaRPr>
          </a:p>
        </p:txBody>
      </p:sp>
      <p:sp>
        <p:nvSpPr>
          <p:cNvPr id="10" name="Rectangle 9"/>
          <p:cNvSpPr/>
          <p:nvPr/>
        </p:nvSpPr>
        <p:spPr>
          <a:xfrm>
            <a:off x="1613266" y="2845943"/>
            <a:ext cx="9508658" cy="355931"/>
          </a:xfrm>
          <a:prstGeom prst="rect">
            <a:avLst/>
          </a:prstGeom>
        </p:spPr>
        <p:txBody>
          <a:bodyPr wrap="square">
            <a:spAutoFit/>
          </a:bodyPr>
          <a:lstStyle/>
          <a:p>
            <a:pPr>
              <a:lnSpc>
                <a:spcPct val="105000"/>
              </a:lnSpc>
              <a:spcBef>
                <a:spcPts val="0"/>
              </a:spcBef>
              <a:spcAft>
                <a:spcPts val="600"/>
              </a:spcAft>
            </a:pPr>
            <a:r>
              <a:rPr lang="en-US" sz="1700" dirty="0">
                <a:solidFill>
                  <a:schemeClr val="bg1"/>
                </a:solidFill>
                <a:ea typeface="Calibri" panose="020F0502020204030204" pitchFamily="34" charset="0"/>
                <a:cs typeface="Mangal"/>
              </a:rPr>
              <a:t>Interpretation of scaled down Control Performance Assessment (</a:t>
            </a:r>
            <a:r>
              <a:rPr lang="en-US" sz="1700" dirty="0" smtClean="0">
                <a:solidFill>
                  <a:schemeClr val="bg1"/>
                </a:solidFill>
                <a:ea typeface="Calibri" panose="020F0502020204030204" pitchFamily="34" charset="0"/>
                <a:cs typeface="Mangal"/>
              </a:rPr>
              <a:t>CPA), scaling </a:t>
            </a:r>
            <a:r>
              <a:rPr lang="en-US" sz="1700" dirty="0">
                <a:solidFill>
                  <a:schemeClr val="bg1"/>
                </a:solidFill>
                <a:ea typeface="Calibri" panose="020F0502020204030204" pitchFamily="34" charset="0"/>
                <a:cs typeface="Mangal"/>
              </a:rPr>
              <a:t>down logics are as follows</a:t>
            </a:r>
          </a:p>
        </p:txBody>
      </p:sp>
      <p:graphicFrame>
        <p:nvGraphicFramePr>
          <p:cNvPr id="2" name="Table 1"/>
          <p:cNvGraphicFramePr>
            <a:graphicFrameLocks noGrp="1"/>
          </p:cNvGraphicFramePr>
          <p:nvPr>
            <p:extLst>
              <p:ext uri="{D42A27DB-BD31-4B8C-83A1-F6EECF244321}">
                <p14:modId xmlns:p14="http://schemas.microsoft.com/office/powerpoint/2010/main" val="2897585480"/>
              </p:ext>
            </p:extLst>
          </p:nvPr>
        </p:nvGraphicFramePr>
        <p:xfrm>
          <a:off x="3732490" y="1693414"/>
          <a:ext cx="4874912" cy="1120140"/>
        </p:xfrm>
        <a:graphic>
          <a:graphicData uri="http://schemas.openxmlformats.org/drawingml/2006/table">
            <a:tbl>
              <a:tblPr firstRow="1" firstCol="1" bandRow="1">
                <a:tableStyleId>{5C22544A-7EE6-4342-B048-85BDC9FD1C3A}</a:tableStyleId>
              </a:tblPr>
              <a:tblGrid>
                <a:gridCol w="2392835">
                  <a:extLst>
                    <a:ext uri="{9D8B030D-6E8A-4147-A177-3AD203B41FA5}">
                      <a16:colId xmlns:a16="http://schemas.microsoft.com/office/drawing/2014/main" val="2795235410"/>
                    </a:ext>
                  </a:extLst>
                </a:gridCol>
                <a:gridCol w="2482077">
                  <a:extLst>
                    <a:ext uri="{9D8B030D-6E8A-4147-A177-3AD203B41FA5}">
                      <a16:colId xmlns:a16="http://schemas.microsoft.com/office/drawing/2014/main" val="3016064980"/>
                    </a:ext>
                  </a:extLst>
                </a:gridCol>
              </a:tblGrid>
              <a:tr h="0">
                <a:tc>
                  <a:txBody>
                    <a:bodyPr/>
                    <a:lstStyle/>
                    <a:p>
                      <a:pPr marL="0" marR="0" algn="just">
                        <a:lnSpc>
                          <a:spcPct val="105000"/>
                        </a:lnSpc>
                        <a:spcBef>
                          <a:spcPts val="0"/>
                        </a:spcBef>
                        <a:spcAft>
                          <a:spcPts val="0"/>
                        </a:spcAft>
                      </a:pPr>
                      <a:r>
                        <a:rPr lang="en-US" sz="1400">
                          <a:effectLst/>
                        </a:rPr>
                        <a:t>Control Testing Category</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Score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07517285"/>
                  </a:ext>
                </a:extLst>
              </a:tr>
              <a:tr h="0">
                <a:tc>
                  <a:txBody>
                    <a:bodyPr/>
                    <a:lstStyle/>
                    <a:p>
                      <a:pPr marL="0" marR="0" algn="just">
                        <a:lnSpc>
                          <a:spcPct val="105000"/>
                        </a:lnSpc>
                        <a:spcBef>
                          <a:spcPts val="0"/>
                        </a:spcBef>
                        <a:spcAft>
                          <a:spcPts val="0"/>
                        </a:spcAft>
                      </a:pPr>
                      <a:r>
                        <a:rPr lang="en-US" sz="1400">
                          <a:effectLst/>
                        </a:rPr>
                        <a:t>Pass</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543160859"/>
                  </a:ext>
                </a:extLst>
              </a:tr>
              <a:tr h="0">
                <a:tc>
                  <a:txBody>
                    <a:bodyPr/>
                    <a:lstStyle/>
                    <a:p>
                      <a:pPr marL="0" marR="0" algn="just">
                        <a:lnSpc>
                          <a:spcPct val="105000"/>
                        </a:lnSpc>
                        <a:spcBef>
                          <a:spcPts val="0"/>
                        </a:spcBef>
                        <a:spcAft>
                          <a:spcPts val="0"/>
                        </a:spcAft>
                      </a:pPr>
                      <a:r>
                        <a:rPr lang="en-US" sz="1400">
                          <a:effectLst/>
                        </a:rPr>
                        <a:t>Pass with Exception</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743153625"/>
                  </a:ext>
                </a:extLst>
              </a:tr>
              <a:tr h="0">
                <a:tc>
                  <a:txBody>
                    <a:bodyPr/>
                    <a:lstStyle/>
                    <a:p>
                      <a:pPr marL="0" marR="0" algn="just">
                        <a:lnSpc>
                          <a:spcPct val="105000"/>
                        </a:lnSpc>
                        <a:spcBef>
                          <a:spcPts val="0"/>
                        </a:spcBef>
                        <a:spcAft>
                          <a:spcPts val="0"/>
                        </a:spcAft>
                      </a:pPr>
                      <a:r>
                        <a:rPr lang="en-US" sz="1400">
                          <a:effectLst/>
                        </a:rPr>
                        <a:t>Fail</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324075460"/>
                  </a:ext>
                </a:extLst>
              </a:tr>
              <a:tr h="0">
                <a:tc>
                  <a:txBody>
                    <a:bodyPr/>
                    <a:lstStyle/>
                    <a:p>
                      <a:pPr marL="0" marR="0" algn="just">
                        <a:lnSpc>
                          <a:spcPct val="105000"/>
                        </a:lnSpc>
                        <a:spcBef>
                          <a:spcPts val="0"/>
                        </a:spcBef>
                        <a:spcAft>
                          <a:spcPts val="0"/>
                        </a:spcAft>
                      </a:pPr>
                      <a:r>
                        <a:rPr lang="en-US" sz="1400">
                          <a:effectLst/>
                        </a:rPr>
                        <a:t>Not Tested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dirty="0">
                          <a:effectLst/>
                        </a:rPr>
                        <a:t>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874278253"/>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264575230"/>
              </p:ext>
            </p:extLst>
          </p:nvPr>
        </p:nvGraphicFramePr>
        <p:xfrm>
          <a:off x="3732490" y="3270381"/>
          <a:ext cx="4874912" cy="1456182"/>
        </p:xfrm>
        <a:graphic>
          <a:graphicData uri="http://schemas.openxmlformats.org/drawingml/2006/table">
            <a:tbl>
              <a:tblPr firstRow="1" firstCol="1" bandRow="1">
                <a:tableStyleId>{5C22544A-7EE6-4342-B048-85BDC9FD1C3A}</a:tableStyleId>
              </a:tblPr>
              <a:tblGrid>
                <a:gridCol w="1446658">
                  <a:extLst>
                    <a:ext uri="{9D8B030D-6E8A-4147-A177-3AD203B41FA5}">
                      <a16:colId xmlns:a16="http://schemas.microsoft.com/office/drawing/2014/main" val="756875503"/>
                    </a:ext>
                  </a:extLst>
                </a:gridCol>
                <a:gridCol w="3428254">
                  <a:extLst>
                    <a:ext uri="{9D8B030D-6E8A-4147-A177-3AD203B41FA5}">
                      <a16:colId xmlns:a16="http://schemas.microsoft.com/office/drawing/2014/main" val="1474468820"/>
                    </a:ext>
                  </a:extLst>
                </a:gridCol>
              </a:tblGrid>
              <a:tr h="0">
                <a:tc>
                  <a:txBody>
                    <a:bodyPr/>
                    <a:lstStyle/>
                    <a:p>
                      <a:pPr marL="0" marR="0" algn="just">
                        <a:lnSpc>
                          <a:spcPct val="105000"/>
                        </a:lnSpc>
                        <a:spcBef>
                          <a:spcPts val="0"/>
                        </a:spcBef>
                        <a:spcAft>
                          <a:spcPts val="0"/>
                        </a:spcAft>
                      </a:pPr>
                      <a:r>
                        <a:rPr lang="en-US" sz="1300">
                          <a:effectLst/>
                        </a:rPr>
                        <a:t>CPA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Interpretation of Scaled down CPA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25960728"/>
                  </a:ext>
                </a:extLst>
              </a:tr>
              <a:tr h="0">
                <a:tc>
                  <a:txBody>
                    <a:bodyPr/>
                    <a:lstStyle/>
                    <a:p>
                      <a:pPr marL="0" marR="0" algn="just">
                        <a:lnSpc>
                          <a:spcPct val="105000"/>
                        </a:lnSpc>
                        <a:spcBef>
                          <a:spcPts val="0"/>
                        </a:spcBef>
                        <a:spcAft>
                          <a:spcPts val="0"/>
                        </a:spcAft>
                      </a:pPr>
                      <a:r>
                        <a:rPr lang="en-US" sz="1300">
                          <a:effectLst/>
                        </a:rPr>
                        <a:t>1</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5000"/>
                        </a:lnSpc>
                        <a:spcBef>
                          <a:spcPts val="0"/>
                        </a:spcBef>
                        <a:spcAft>
                          <a:spcPts val="0"/>
                        </a:spcAft>
                      </a:pPr>
                      <a:r>
                        <a:rPr lang="en-US" sz="1300">
                          <a:effectLst/>
                        </a:rPr>
                        <a:t>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2950745425"/>
                  </a:ext>
                </a:extLst>
              </a:tr>
              <a:tr h="0">
                <a:tc>
                  <a:txBody>
                    <a:bodyPr/>
                    <a:lstStyle/>
                    <a:p>
                      <a:pPr marL="0" marR="0" algn="just">
                        <a:lnSpc>
                          <a:spcPct val="105000"/>
                        </a:lnSpc>
                        <a:spcBef>
                          <a:spcPts val="0"/>
                        </a:spcBef>
                        <a:spcAft>
                          <a:spcPts val="0"/>
                        </a:spcAft>
                      </a:pPr>
                      <a:r>
                        <a:rPr lang="en-US" sz="1300">
                          <a:effectLst/>
                        </a:rPr>
                        <a:t>3</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5000"/>
                        </a:lnSpc>
                        <a:spcBef>
                          <a:spcPts val="0"/>
                        </a:spcBef>
                        <a:spcAft>
                          <a:spcPts val="0"/>
                        </a:spcAft>
                      </a:pPr>
                      <a:r>
                        <a:rPr lang="en-US" sz="1300">
                          <a:effectLst/>
                        </a:rPr>
                        <a:t>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4213228071"/>
                  </a:ext>
                </a:extLst>
              </a:tr>
              <a:tr h="0">
                <a:tc>
                  <a:txBody>
                    <a:bodyPr/>
                    <a:lstStyle/>
                    <a:p>
                      <a:pPr marL="0" marR="0" algn="just">
                        <a:lnSpc>
                          <a:spcPct val="105000"/>
                        </a:lnSpc>
                        <a:spcBef>
                          <a:spcPts val="0"/>
                        </a:spcBef>
                        <a:spcAft>
                          <a:spcPts val="0"/>
                        </a:spcAft>
                      </a:pPr>
                      <a:r>
                        <a:rPr lang="en-US" sz="1300">
                          <a:effectLst/>
                        </a:rPr>
                        <a:t>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5000"/>
                        </a:lnSpc>
                        <a:spcBef>
                          <a:spcPts val="0"/>
                        </a:spcBef>
                        <a:spcAft>
                          <a:spcPts val="0"/>
                        </a:spcAft>
                      </a:pPr>
                      <a:r>
                        <a:rPr lang="en-US" sz="1300">
                          <a:effectLst/>
                        </a:rPr>
                        <a:t>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3966918400"/>
                  </a:ext>
                </a:extLst>
              </a:tr>
              <a:tr h="0">
                <a:tc>
                  <a:txBody>
                    <a:bodyPr/>
                    <a:lstStyle/>
                    <a:p>
                      <a:pPr marL="0" marR="0" algn="just">
                        <a:lnSpc>
                          <a:spcPct val="105000"/>
                        </a:lnSpc>
                        <a:spcBef>
                          <a:spcPts val="0"/>
                        </a:spcBef>
                        <a:spcAft>
                          <a:spcPts val="0"/>
                        </a:spcAft>
                      </a:pPr>
                      <a:r>
                        <a:rPr lang="en-US" sz="1300">
                          <a:effectLst/>
                        </a:rPr>
                        <a:t>9</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5000"/>
                        </a:lnSpc>
                        <a:spcBef>
                          <a:spcPts val="0"/>
                        </a:spcBef>
                        <a:spcAft>
                          <a:spcPts val="0"/>
                        </a:spcAft>
                      </a:pPr>
                      <a:r>
                        <a:rPr lang="en-US" sz="1300">
                          <a:effectLst/>
                        </a:rPr>
                        <a:t>10</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1051755039"/>
                  </a:ext>
                </a:extLst>
              </a:tr>
              <a:tr h="0">
                <a:tc>
                  <a:txBody>
                    <a:bodyPr/>
                    <a:lstStyle/>
                    <a:p>
                      <a:pPr marL="0" marR="0" algn="just">
                        <a:lnSpc>
                          <a:spcPct val="105000"/>
                        </a:lnSpc>
                        <a:spcBef>
                          <a:spcPts val="0"/>
                        </a:spcBef>
                        <a:spcAft>
                          <a:spcPts val="0"/>
                        </a:spcAft>
                      </a:pPr>
                      <a:r>
                        <a:rPr lang="en-US" sz="1300">
                          <a:effectLst/>
                        </a:rPr>
                        <a:t>15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5000"/>
                        </a:lnSpc>
                        <a:spcBef>
                          <a:spcPts val="0"/>
                        </a:spcBef>
                        <a:spcAft>
                          <a:spcPts val="0"/>
                        </a:spcAft>
                      </a:pPr>
                      <a:r>
                        <a:rPr lang="en-US" sz="1300">
                          <a:effectLst/>
                        </a:rPr>
                        <a:t>15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31326450"/>
                  </a:ext>
                </a:extLst>
              </a:tr>
              <a:tr h="0">
                <a:tc>
                  <a:txBody>
                    <a:bodyPr/>
                    <a:lstStyle/>
                    <a:p>
                      <a:pPr marL="0" marR="0" algn="just">
                        <a:lnSpc>
                          <a:spcPct val="105000"/>
                        </a:lnSpc>
                        <a:spcBef>
                          <a:spcPts val="0"/>
                        </a:spcBef>
                        <a:spcAft>
                          <a:spcPts val="0"/>
                        </a:spcAft>
                      </a:pPr>
                      <a:r>
                        <a:rPr lang="en-US" sz="1300">
                          <a:effectLst/>
                        </a:rPr>
                        <a:t>25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nchor="b"/>
                </a:tc>
                <a:tc>
                  <a:txBody>
                    <a:bodyPr/>
                    <a:lstStyle/>
                    <a:p>
                      <a:pPr marL="0" marR="0" algn="ctr">
                        <a:lnSpc>
                          <a:spcPct val="105000"/>
                        </a:lnSpc>
                        <a:spcBef>
                          <a:spcPts val="0"/>
                        </a:spcBef>
                        <a:spcAft>
                          <a:spcPts val="0"/>
                        </a:spcAft>
                      </a:pPr>
                      <a:r>
                        <a:rPr lang="en-US" sz="1300" dirty="0">
                          <a:effectLst/>
                        </a:rPr>
                        <a:t>25</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nchor="ctr"/>
                </a:tc>
                <a:extLst>
                  <a:ext uri="{0D108BD9-81ED-4DB2-BD59-A6C34878D82A}">
                    <a16:rowId xmlns:a16="http://schemas.microsoft.com/office/drawing/2014/main" val="4002064585"/>
                  </a:ext>
                </a:extLst>
              </a:tr>
            </a:tbl>
          </a:graphicData>
        </a:graphic>
      </p:graphicFrame>
      <p:sp>
        <p:nvSpPr>
          <p:cNvPr id="9" name="Rectangle 8"/>
          <p:cNvSpPr/>
          <p:nvPr/>
        </p:nvSpPr>
        <p:spPr>
          <a:xfrm>
            <a:off x="1685522" y="4724294"/>
            <a:ext cx="9508658" cy="355931"/>
          </a:xfrm>
          <a:prstGeom prst="rect">
            <a:avLst/>
          </a:prstGeom>
        </p:spPr>
        <p:txBody>
          <a:bodyPr wrap="square">
            <a:spAutoFit/>
          </a:bodyPr>
          <a:lstStyle/>
          <a:p>
            <a:pPr>
              <a:lnSpc>
                <a:spcPct val="105000"/>
              </a:lnSpc>
              <a:spcBef>
                <a:spcPts val="0"/>
              </a:spcBef>
              <a:spcAft>
                <a:spcPts val="600"/>
              </a:spcAft>
            </a:pPr>
            <a:r>
              <a:rPr lang="en-US" sz="1700" dirty="0">
                <a:solidFill>
                  <a:schemeClr val="bg1"/>
                </a:solidFill>
                <a:ea typeface="Calibri" panose="020F0502020204030204" pitchFamily="34" charset="0"/>
                <a:cs typeface="Mangal"/>
              </a:rPr>
              <a:t>Post scaling down, the CPA will be interpreted as below</a:t>
            </a:r>
          </a:p>
        </p:txBody>
      </p:sp>
      <p:graphicFrame>
        <p:nvGraphicFramePr>
          <p:cNvPr id="7" name="Table 6"/>
          <p:cNvGraphicFramePr>
            <a:graphicFrameLocks noGrp="1"/>
          </p:cNvGraphicFramePr>
          <p:nvPr>
            <p:extLst>
              <p:ext uri="{D42A27DB-BD31-4B8C-83A1-F6EECF244321}">
                <p14:modId xmlns:p14="http://schemas.microsoft.com/office/powerpoint/2010/main" val="2667795209"/>
              </p:ext>
            </p:extLst>
          </p:nvPr>
        </p:nvGraphicFramePr>
        <p:xfrm>
          <a:off x="3210177" y="5080225"/>
          <a:ext cx="5919537" cy="1344168"/>
        </p:xfrm>
        <a:graphic>
          <a:graphicData uri="http://schemas.openxmlformats.org/drawingml/2006/table">
            <a:tbl>
              <a:tblPr firstRow="1" firstCol="1" bandRow="1">
                <a:tableStyleId>{5C22544A-7EE6-4342-B048-85BDC9FD1C3A}</a:tableStyleId>
              </a:tblPr>
              <a:tblGrid>
                <a:gridCol w="2627320">
                  <a:extLst>
                    <a:ext uri="{9D8B030D-6E8A-4147-A177-3AD203B41FA5}">
                      <a16:colId xmlns:a16="http://schemas.microsoft.com/office/drawing/2014/main" val="244270921"/>
                    </a:ext>
                  </a:extLst>
                </a:gridCol>
                <a:gridCol w="3292217">
                  <a:extLst>
                    <a:ext uri="{9D8B030D-6E8A-4147-A177-3AD203B41FA5}">
                      <a16:colId xmlns:a16="http://schemas.microsoft.com/office/drawing/2014/main" val="2749491080"/>
                    </a:ext>
                  </a:extLst>
                </a:gridCol>
              </a:tblGrid>
              <a:tr h="0">
                <a:tc>
                  <a:txBody>
                    <a:bodyPr/>
                    <a:lstStyle/>
                    <a:p>
                      <a:pPr marL="0" marR="0" algn="just">
                        <a:lnSpc>
                          <a:spcPct val="105000"/>
                        </a:lnSpc>
                        <a:spcBef>
                          <a:spcPts val="0"/>
                        </a:spcBef>
                        <a:spcAft>
                          <a:spcPts val="0"/>
                        </a:spcAft>
                      </a:pPr>
                      <a:r>
                        <a:rPr lang="en-US" sz="1400">
                          <a:effectLst/>
                        </a:rPr>
                        <a:t>Control Performance Category</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Scaled down Control Performance Score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940244668"/>
                  </a:ext>
                </a:extLst>
              </a:tr>
              <a:tr h="0">
                <a:tc>
                  <a:txBody>
                    <a:bodyPr/>
                    <a:lstStyle/>
                    <a:p>
                      <a:pPr marL="0" marR="0" algn="l">
                        <a:lnSpc>
                          <a:spcPct val="105000"/>
                        </a:lnSpc>
                        <a:spcBef>
                          <a:spcPts val="0"/>
                        </a:spcBef>
                        <a:spcAft>
                          <a:spcPts val="0"/>
                        </a:spcAft>
                      </a:pPr>
                      <a:r>
                        <a:rPr lang="en-US" sz="1400" dirty="0">
                          <a:effectLst/>
                        </a:rPr>
                        <a:t>Significant Improvement Needed</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435385499"/>
                  </a:ext>
                </a:extLst>
              </a:tr>
              <a:tr h="0">
                <a:tc>
                  <a:txBody>
                    <a:bodyPr/>
                    <a:lstStyle/>
                    <a:p>
                      <a:pPr marL="0" marR="0" algn="just">
                        <a:lnSpc>
                          <a:spcPct val="105000"/>
                        </a:lnSpc>
                        <a:spcBef>
                          <a:spcPts val="0"/>
                        </a:spcBef>
                        <a:spcAft>
                          <a:spcPts val="0"/>
                        </a:spcAft>
                      </a:pPr>
                      <a:r>
                        <a:rPr lang="en-US" sz="1400">
                          <a:effectLst/>
                        </a:rPr>
                        <a:t>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10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148403237"/>
                  </a:ext>
                </a:extLst>
              </a:tr>
              <a:tr h="0">
                <a:tc>
                  <a:txBody>
                    <a:bodyPr/>
                    <a:lstStyle/>
                    <a:p>
                      <a:pPr marL="0" marR="0" algn="just">
                        <a:lnSpc>
                          <a:spcPct val="105000"/>
                        </a:lnSpc>
                        <a:spcBef>
                          <a:spcPts val="0"/>
                        </a:spcBef>
                        <a:spcAft>
                          <a:spcPts val="0"/>
                        </a:spcAft>
                      </a:pPr>
                      <a:r>
                        <a:rPr lang="en-US" sz="1400">
                          <a:effectLst/>
                        </a:rPr>
                        <a:t>Meets Requirement</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15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781962915"/>
                  </a:ext>
                </a:extLst>
              </a:tr>
              <a:tr h="0">
                <a:tc>
                  <a:txBody>
                    <a:bodyPr/>
                    <a:lstStyle/>
                    <a:p>
                      <a:pPr marL="0" marR="0" algn="just">
                        <a:lnSpc>
                          <a:spcPct val="105000"/>
                        </a:lnSpc>
                        <a:spcBef>
                          <a:spcPts val="0"/>
                        </a:spcBef>
                        <a:spcAft>
                          <a:spcPts val="0"/>
                        </a:spcAft>
                      </a:pPr>
                      <a:r>
                        <a:rPr lang="en-US" sz="1400">
                          <a:effectLst/>
                        </a:rPr>
                        <a:t>Effective Control</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20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442012309"/>
                  </a:ext>
                </a:extLst>
              </a:tr>
              <a:tr h="0">
                <a:tc>
                  <a:txBody>
                    <a:bodyPr/>
                    <a:lstStyle/>
                    <a:p>
                      <a:pPr marL="0" marR="0" algn="just">
                        <a:lnSpc>
                          <a:spcPct val="105000"/>
                        </a:lnSpc>
                        <a:spcBef>
                          <a:spcPts val="0"/>
                        </a:spcBef>
                        <a:spcAft>
                          <a:spcPts val="0"/>
                        </a:spcAft>
                      </a:pPr>
                      <a:r>
                        <a:rPr lang="en-US" sz="1400">
                          <a:effectLst/>
                        </a:rPr>
                        <a:t>Significantly Effective Control</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dirty="0">
                          <a:effectLst/>
                        </a:rPr>
                        <a:t>25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733993554"/>
                  </a:ext>
                </a:extLst>
              </a:tr>
            </a:tbl>
          </a:graphicData>
        </a:graphic>
      </p:graphicFrame>
      <p:pic>
        <p:nvPicPr>
          <p:cNvPr id="11" name="Picture 10">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2232212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a:solidFill>
                  <a:schemeClr val="bg1"/>
                </a:solidFill>
              </a:rPr>
              <a:t>Calculation of Weighted Average Control Performance Assessment (CPA) score</a:t>
            </a:r>
            <a:endParaRPr lang="en-US" sz="2000" dirty="0">
              <a:solidFill>
                <a:schemeClr val="bg1"/>
              </a:solidFill>
            </a:endParaRPr>
          </a:p>
        </p:txBody>
      </p:sp>
      <p:sp>
        <p:nvSpPr>
          <p:cNvPr id="8" name="Rectangle 7"/>
          <p:cNvSpPr/>
          <p:nvPr/>
        </p:nvSpPr>
        <p:spPr>
          <a:xfrm>
            <a:off x="1685522" y="1305094"/>
            <a:ext cx="9576035" cy="630622"/>
          </a:xfrm>
          <a:prstGeom prst="rect">
            <a:avLst/>
          </a:prstGeom>
        </p:spPr>
        <p:txBody>
          <a:bodyPr wrap="squar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The number of controls under each Control Performance Category arrived during interpretation of CPA score will be multiplied with applied weights as below to arrive at weighted average CPA.</a:t>
            </a:r>
            <a:endParaRPr lang="en-US" sz="1700" b="1" dirty="0">
              <a:solidFill>
                <a:schemeClr val="bg1"/>
              </a:solidFill>
              <a:ea typeface="Calibri" panose="020F0502020204030204" pitchFamily="34" charset="0"/>
              <a:cs typeface="Mangal"/>
            </a:endParaRPr>
          </a:p>
        </p:txBody>
      </p:sp>
      <p:graphicFrame>
        <p:nvGraphicFramePr>
          <p:cNvPr id="5" name="Table 4"/>
          <p:cNvGraphicFramePr>
            <a:graphicFrameLocks noGrp="1"/>
          </p:cNvGraphicFramePr>
          <p:nvPr>
            <p:extLst>
              <p:ext uri="{D42A27DB-BD31-4B8C-83A1-F6EECF244321}">
                <p14:modId xmlns:p14="http://schemas.microsoft.com/office/powerpoint/2010/main" val="4175058198"/>
              </p:ext>
            </p:extLst>
          </p:nvPr>
        </p:nvGraphicFramePr>
        <p:xfrm>
          <a:off x="2517358" y="2110776"/>
          <a:ext cx="7305173" cy="1826263"/>
        </p:xfrm>
        <a:graphic>
          <a:graphicData uri="http://schemas.openxmlformats.org/drawingml/2006/table">
            <a:tbl>
              <a:tblPr firstRow="1" firstCol="1" bandRow="1">
                <a:tableStyleId>{5C22544A-7EE6-4342-B048-85BDC9FD1C3A}</a:tableStyleId>
              </a:tblPr>
              <a:tblGrid>
                <a:gridCol w="2685048">
                  <a:extLst>
                    <a:ext uri="{9D8B030D-6E8A-4147-A177-3AD203B41FA5}">
                      <a16:colId xmlns:a16="http://schemas.microsoft.com/office/drawing/2014/main" val="3130634045"/>
                    </a:ext>
                  </a:extLst>
                </a:gridCol>
                <a:gridCol w="2184528">
                  <a:extLst>
                    <a:ext uri="{9D8B030D-6E8A-4147-A177-3AD203B41FA5}">
                      <a16:colId xmlns:a16="http://schemas.microsoft.com/office/drawing/2014/main" val="376669475"/>
                    </a:ext>
                  </a:extLst>
                </a:gridCol>
                <a:gridCol w="2435597">
                  <a:extLst>
                    <a:ext uri="{9D8B030D-6E8A-4147-A177-3AD203B41FA5}">
                      <a16:colId xmlns:a16="http://schemas.microsoft.com/office/drawing/2014/main" val="1646811856"/>
                    </a:ext>
                  </a:extLst>
                </a:gridCol>
              </a:tblGrid>
              <a:tr h="0">
                <a:tc>
                  <a:txBody>
                    <a:bodyPr/>
                    <a:lstStyle/>
                    <a:p>
                      <a:pPr marL="0" marR="0" algn="l">
                        <a:lnSpc>
                          <a:spcPct val="107000"/>
                        </a:lnSpc>
                        <a:spcBef>
                          <a:spcPts val="0"/>
                        </a:spcBef>
                        <a:spcAft>
                          <a:spcPts val="0"/>
                        </a:spcAft>
                      </a:pPr>
                      <a:r>
                        <a:rPr lang="en-US" sz="1400">
                          <a:effectLst/>
                        </a:rPr>
                        <a:t>Control Quality Category</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Criteria for Control Quality Score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Weights for Control Quality Category</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12781198"/>
                  </a:ext>
                </a:extLst>
              </a:tr>
              <a:tr h="0">
                <a:tc>
                  <a:txBody>
                    <a:bodyPr/>
                    <a:lstStyle/>
                    <a:p>
                      <a:pPr marL="0" marR="0" algn="l">
                        <a:lnSpc>
                          <a:spcPct val="107000"/>
                        </a:lnSpc>
                        <a:spcBef>
                          <a:spcPts val="0"/>
                        </a:spcBef>
                        <a:spcAft>
                          <a:spcPts val="0"/>
                        </a:spcAft>
                      </a:pPr>
                      <a:r>
                        <a:rPr lang="en-US" sz="1400">
                          <a:effectLst/>
                        </a:rPr>
                        <a:t>No Control</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Obligations without control</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100%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18111724"/>
                  </a:ext>
                </a:extLst>
              </a:tr>
              <a:tr h="0">
                <a:tc>
                  <a:txBody>
                    <a:bodyPr/>
                    <a:lstStyle/>
                    <a:p>
                      <a:pPr marL="0" marR="0" algn="l">
                        <a:lnSpc>
                          <a:spcPct val="107000"/>
                        </a:lnSpc>
                        <a:spcBef>
                          <a:spcPts val="0"/>
                        </a:spcBef>
                        <a:spcAft>
                          <a:spcPts val="0"/>
                        </a:spcAft>
                      </a:pPr>
                      <a:r>
                        <a:rPr lang="en-US" sz="1400">
                          <a:effectLst/>
                        </a:rPr>
                        <a:t>Significant 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&gt;=5 &amp; &lt;45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80%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419502361"/>
                  </a:ext>
                </a:extLst>
              </a:tr>
              <a:tr h="0">
                <a:tc>
                  <a:txBody>
                    <a:bodyPr/>
                    <a:lstStyle/>
                    <a:p>
                      <a:pPr marL="0" marR="0" algn="l">
                        <a:lnSpc>
                          <a:spcPct val="107000"/>
                        </a:lnSpc>
                        <a:spcBef>
                          <a:spcPts val="0"/>
                        </a:spcBef>
                        <a:spcAft>
                          <a:spcPts val="0"/>
                        </a:spcAft>
                      </a:pPr>
                      <a:r>
                        <a:rPr lang="en-US" sz="1400">
                          <a:effectLst/>
                        </a:rPr>
                        <a:t>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&gt;=45 &amp; &lt;225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60%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091310683"/>
                  </a:ext>
                </a:extLst>
              </a:tr>
              <a:tr h="0">
                <a:tc>
                  <a:txBody>
                    <a:bodyPr/>
                    <a:lstStyle/>
                    <a:p>
                      <a:pPr marL="0" marR="0" algn="l">
                        <a:lnSpc>
                          <a:spcPct val="107000"/>
                        </a:lnSpc>
                        <a:spcBef>
                          <a:spcPts val="0"/>
                        </a:spcBef>
                        <a:spcAft>
                          <a:spcPts val="0"/>
                        </a:spcAft>
                      </a:pPr>
                      <a:r>
                        <a:rPr lang="en-US" sz="1400">
                          <a:effectLst/>
                        </a:rPr>
                        <a:t>Meets Requirements</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&gt;=225 &amp; &lt;250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40%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766931790"/>
                  </a:ext>
                </a:extLst>
              </a:tr>
              <a:tr h="0">
                <a:tc>
                  <a:txBody>
                    <a:bodyPr/>
                    <a:lstStyle/>
                    <a:p>
                      <a:pPr marL="0" marR="0" algn="l">
                        <a:lnSpc>
                          <a:spcPct val="107000"/>
                        </a:lnSpc>
                        <a:spcBef>
                          <a:spcPts val="0"/>
                        </a:spcBef>
                        <a:spcAft>
                          <a:spcPts val="0"/>
                        </a:spcAft>
                      </a:pPr>
                      <a:r>
                        <a:rPr lang="en-US" sz="1400">
                          <a:effectLst/>
                        </a:rPr>
                        <a:t>Effective Control</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&gt;=250 &amp; &lt;375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30%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378099153"/>
                  </a:ext>
                </a:extLst>
              </a:tr>
              <a:tr h="0">
                <a:tc>
                  <a:txBody>
                    <a:bodyPr/>
                    <a:lstStyle/>
                    <a:p>
                      <a:pPr marL="0" marR="0" algn="l">
                        <a:lnSpc>
                          <a:spcPct val="107000"/>
                        </a:lnSpc>
                        <a:spcBef>
                          <a:spcPts val="0"/>
                        </a:spcBef>
                        <a:spcAft>
                          <a:spcPts val="0"/>
                        </a:spcAft>
                      </a:pPr>
                      <a:r>
                        <a:rPr lang="en-US" sz="1400" dirty="0">
                          <a:effectLst/>
                        </a:rPr>
                        <a:t>Significantly Effective Control</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&gt;=250 &amp; &lt;375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20%</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669962941"/>
                  </a:ext>
                </a:extLst>
              </a:tr>
            </a:tbl>
          </a:graphicData>
        </a:graphic>
      </p:graphicFrame>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1026315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a:solidFill>
                  <a:schemeClr val="bg1"/>
                </a:solidFill>
              </a:rPr>
              <a:t>Control Performance Index (CPI)</a:t>
            </a:r>
            <a:endParaRPr lang="en-US" sz="2000" dirty="0">
              <a:solidFill>
                <a:schemeClr val="bg1"/>
              </a:solidFill>
            </a:endParaRPr>
          </a:p>
        </p:txBody>
      </p:sp>
      <p:sp>
        <p:nvSpPr>
          <p:cNvPr id="8" name="Rectangle 7"/>
          <p:cNvSpPr/>
          <p:nvPr/>
        </p:nvSpPr>
        <p:spPr>
          <a:xfrm>
            <a:off x="1685522" y="1305094"/>
            <a:ext cx="9576035" cy="1410835"/>
          </a:xfrm>
          <a:prstGeom prst="rect">
            <a:avLst/>
          </a:prstGeom>
        </p:spPr>
        <p:txBody>
          <a:bodyPr wrap="squar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The products arrived will be added to arrive at Control Performance Index (CPI)</a:t>
            </a:r>
          </a:p>
          <a:p>
            <a:pPr algn="ctr">
              <a:lnSpc>
                <a:spcPct val="105000"/>
              </a:lnSpc>
              <a:spcBef>
                <a:spcPts val="0"/>
              </a:spcBef>
              <a:spcAft>
                <a:spcPts val="600"/>
              </a:spcAft>
            </a:pPr>
            <a:r>
              <a:rPr lang="en-US" sz="1700" b="1" dirty="0">
                <a:solidFill>
                  <a:schemeClr val="bg1"/>
                </a:solidFill>
                <a:ea typeface="Calibri" panose="020F0502020204030204" pitchFamily="34" charset="0"/>
                <a:cs typeface="Mangal"/>
              </a:rPr>
              <a:t>CPI score = 100% - weighted average control performance score</a:t>
            </a:r>
          </a:p>
          <a:p>
            <a:pPr algn="just">
              <a:lnSpc>
                <a:spcPct val="105000"/>
              </a:lnSpc>
              <a:spcBef>
                <a:spcPts val="0"/>
              </a:spcBef>
              <a:spcAft>
                <a:spcPts val="600"/>
              </a:spcAft>
            </a:pPr>
            <a:endParaRPr lang="en-US" sz="1700" dirty="0" smtClean="0">
              <a:solidFill>
                <a:schemeClr val="bg1"/>
              </a:solidFill>
              <a:ea typeface="Calibri" panose="020F0502020204030204" pitchFamily="34" charset="0"/>
              <a:cs typeface="Mangal"/>
            </a:endParaRPr>
          </a:p>
          <a:p>
            <a:pPr algn="just">
              <a:lnSpc>
                <a:spcPct val="105000"/>
              </a:lnSpc>
              <a:spcBef>
                <a:spcPts val="0"/>
              </a:spcBef>
              <a:spcAft>
                <a:spcPts val="600"/>
              </a:spcAft>
            </a:pPr>
            <a:r>
              <a:rPr lang="en-US" sz="1700" dirty="0" smtClean="0">
                <a:solidFill>
                  <a:schemeClr val="bg1"/>
                </a:solidFill>
                <a:ea typeface="Calibri" panose="020F0502020204030204" pitchFamily="34" charset="0"/>
                <a:cs typeface="Mangal"/>
              </a:rPr>
              <a:t>The </a:t>
            </a:r>
            <a:r>
              <a:rPr lang="en-US" sz="1700" dirty="0">
                <a:solidFill>
                  <a:schemeClr val="bg1"/>
                </a:solidFill>
                <a:ea typeface="Calibri" panose="020F0502020204030204" pitchFamily="34" charset="0"/>
                <a:cs typeface="Mangal"/>
              </a:rPr>
              <a:t>interpretation of CPI are as </a:t>
            </a:r>
            <a:r>
              <a:rPr lang="en-US" sz="1700" dirty="0" smtClean="0">
                <a:solidFill>
                  <a:schemeClr val="bg1"/>
                </a:solidFill>
                <a:ea typeface="Calibri" panose="020F0502020204030204" pitchFamily="34" charset="0"/>
                <a:cs typeface="Mangal"/>
              </a:rPr>
              <a:t>follows :</a:t>
            </a:r>
            <a:endParaRPr lang="en-US" sz="1700" dirty="0">
              <a:solidFill>
                <a:schemeClr val="bg1"/>
              </a:solidFill>
              <a:ea typeface="Calibri" panose="020F0502020204030204" pitchFamily="34" charset="0"/>
              <a:cs typeface="Mangal"/>
            </a:endParaRPr>
          </a:p>
        </p:txBody>
      </p:sp>
      <p:graphicFrame>
        <p:nvGraphicFramePr>
          <p:cNvPr id="2" name="Table 1"/>
          <p:cNvGraphicFramePr>
            <a:graphicFrameLocks noGrp="1"/>
          </p:cNvGraphicFramePr>
          <p:nvPr>
            <p:extLst>
              <p:ext uri="{D42A27DB-BD31-4B8C-83A1-F6EECF244321}">
                <p14:modId xmlns:p14="http://schemas.microsoft.com/office/powerpoint/2010/main" val="3477320841"/>
              </p:ext>
            </p:extLst>
          </p:nvPr>
        </p:nvGraphicFramePr>
        <p:xfrm>
          <a:off x="2820020" y="2845396"/>
          <a:ext cx="6699852" cy="1597980"/>
        </p:xfrm>
        <a:graphic>
          <a:graphicData uri="http://schemas.openxmlformats.org/drawingml/2006/table">
            <a:tbl>
              <a:tblPr firstRow="1" firstCol="1" bandRow="1">
                <a:tableStyleId>{5C22544A-7EE6-4342-B048-85BDC9FD1C3A}</a:tableStyleId>
              </a:tblPr>
              <a:tblGrid>
                <a:gridCol w="2801620">
                  <a:extLst>
                    <a:ext uri="{9D8B030D-6E8A-4147-A177-3AD203B41FA5}">
                      <a16:colId xmlns:a16="http://schemas.microsoft.com/office/drawing/2014/main" val="1780943859"/>
                    </a:ext>
                  </a:extLst>
                </a:gridCol>
                <a:gridCol w="1915427">
                  <a:extLst>
                    <a:ext uri="{9D8B030D-6E8A-4147-A177-3AD203B41FA5}">
                      <a16:colId xmlns:a16="http://schemas.microsoft.com/office/drawing/2014/main" val="2054929130"/>
                    </a:ext>
                  </a:extLst>
                </a:gridCol>
                <a:gridCol w="1982805">
                  <a:extLst>
                    <a:ext uri="{9D8B030D-6E8A-4147-A177-3AD203B41FA5}">
                      <a16:colId xmlns:a16="http://schemas.microsoft.com/office/drawing/2014/main" val="253539442"/>
                    </a:ext>
                  </a:extLst>
                </a:gridCol>
              </a:tblGrid>
              <a:tr h="0">
                <a:tc>
                  <a:txBody>
                    <a:bodyPr/>
                    <a:lstStyle/>
                    <a:p>
                      <a:pPr marL="0" marR="0" algn="l">
                        <a:lnSpc>
                          <a:spcPct val="107000"/>
                        </a:lnSpc>
                        <a:spcBef>
                          <a:spcPts val="0"/>
                        </a:spcBef>
                        <a:spcAft>
                          <a:spcPts val="0"/>
                        </a:spcAft>
                      </a:pPr>
                      <a:r>
                        <a:rPr lang="en-US" sz="1400" dirty="0">
                          <a:effectLst/>
                        </a:rPr>
                        <a:t>Interpretation of Control Performance Assessment</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Index</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Score</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592497011"/>
                  </a:ext>
                </a:extLst>
              </a:tr>
              <a:tr h="0">
                <a:tc>
                  <a:txBody>
                    <a:bodyPr/>
                    <a:lstStyle/>
                    <a:p>
                      <a:pPr marL="0" marR="0" algn="l">
                        <a:lnSpc>
                          <a:spcPct val="107000"/>
                        </a:lnSpc>
                        <a:spcBef>
                          <a:spcPts val="0"/>
                        </a:spcBef>
                        <a:spcAft>
                          <a:spcPts val="0"/>
                        </a:spcAft>
                      </a:pPr>
                      <a:r>
                        <a:rPr lang="en-US" sz="1400">
                          <a:effectLst/>
                        </a:rPr>
                        <a:t>Significant 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&lt;40%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684017743"/>
                  </a:ext>
                </a:extLst>
              </a:tr>
              <a:tr h="0">
                <a:tc>
                  <a:txBody>
                    <a:bodyPr/>
                    <a:lstStyle/>
                    <a:p>
                      <a:pPr marL="0" marR="0" algn="l">
                        <a:lnSpc>
                          <a:spcPct val="107000"/>
                        </a:lnSpc>
                        <a:spcBef>
                          <a:spcPts val="0"/>
                        </a:spcBef>
                        <a:spcAft>
                          <a:spcPts val="0"/>
                        </a:spcAft>
                      </a:pPr>
                      <a:r>
                        <a:rPr lang="en-US" sz="1400">
                          <a:effectLst/>
                        </a:rPr>
                        <a:t>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&gt;=40%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4</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964876955"/>
                  </a:ext>
                </a:extLst>
              </a:tr>
              <a:tr h="0">
                <a:tc>
                  <a:txBody>
                    <a:bodyPr/>
                    <a:lstStyle/>
                    <a:p>
                      <a:pPr marL="0" marR="0" algn="l">
                        <a:lnSpc>
                          <a:spcPct val="107000"/>
                        </a:lnSpc>
                        <a:spcBef>
                          <a:spcPts val="0"/>
                        </a:spcBef>
                        <a:spcAft>
                          <a:spcPts val="0"/>
                        </a:spcAft>
                      </a:pPr>
                      <a:r>
                        <a:rPr lang="en-US" sz="1400">
                          <a:effectLst/>
                        </a:rPr>
                        <a:t>Partially Effective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&gt;=60%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9</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196405979"/>
                  </a:ext>
                </a:extLst>
              </a:tr>
              <a:tr h="0">
                <a:tc>
                  <a:txBody>
                    <a:bodyPr/>
                    <a:lstStyle/>
                    <a:p>
                      <a:pPr marL="0" marR="0" algn="l">
                        <a:lnSpc>
                          <a:spcPct val="107000"/>
                        </a:lnSpc>
                        <a:spcBef>
                          <a:spcPts val="0"/>
                        </a:spcBef>
                        <a:spcAft>
                          <a:spcPts val="0"/>
                        </a:spcAft>
                      </a:pPr>
                      <a:r>
                        <a:rPr lang="en-US" sz="1400">
                          <a:effectLst/>
                        </a:rPr>
                        <a:t>Meets Requirements</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&gt;=70%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16</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458851611"/>
                  </a:ext>
                </a:extLst>
              </a:tr>
              <a:tr h="0">
                <a:tc>
                  <a:txBody>
                    <a:bodyPr/>
                    <a:lstStyle/>
                    <a:p>
                      <a:pPr marL="0" marR="0" algn="l">
                        <a:lnSpc>
                          <a:spcPct val="107000"/>
                        </a:lnSpc>
                        <a:spcBef>
                          <a:spcPts val="0"/>
                        </a:spcBef>
                        <a:spcAft>
                          <a:spcPts val="0"/>
                        </a:spcAft>
                      </a:pPr>
                      <a:r>
                        <a:rPr lang="en-US" sz="1400" dirty="0">
                          <a:effectLst/>
                        </a:rPr>
                        <a:t>Effective</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&gt;=80%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25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671704639"/>
                  </a:ext>
                </a:extLst>
              </a:tr>
            </a:tbl>
          </a:graphicData>
        </a:graphic>
      </p:graphicFrame>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1967744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a:solidFill>
                  <a:schemeClr val="bg1"/>
                </a:solidFill>
              </a:rPr>
              <a:t>Control Environment Rating (CER)</a:t>
            </a:r>
            <a:endParaRPr lang="en-US" sz="2000" dirty="0">
              <a:solidFill>
                <a:schemeClr val="bg1"/>
              </a:solidFill>
            </a:endParaRPr>
          </a:p>
        </p:txBody>
      </p:sp>
      <p:sp>
        <p:nvSpPr>
          <p:cNvPr id="8" name="Rectangle 7"/>
          <p:cNvSpPr/>
          <p:nvPr/>
        </p:nvSpPr>
        <p:spPr>
          <a:xfrm>
            <a:off x="1685522" y="1305094"/>
            <a:ext cx="9576035" cy="2347566"/>
          </a:xfrm>
          <a:prstGeom prst="rect">
            <a:avLst/>
          </a:prstGeom>
        </p:spPr>
        <p:txBody>
          <a:bodyPr wrap="square">
            <a:spAutoFit/>
          </a:bodyPr>
          <a:lstStyle/>
          <a:p>
            <a:pPr algn="just">
              <a:lnSpc>
                <a:spcPct val="105000"/>
              </a:lnSpc>
              <a:spcBef>
                <a:spcPts val="0"/>
              </a:spcBef>
              <a:spcAft>
                <a:spcPts val="600"/>
              </a:spcAft>
            </a:pPr>
            <a:r>
              <a:rPr lang="en-US" sz="1700" dirty="0">
                <a:solidFill>
                  <a:schemeClr val="bg1"/>
                </a:solidFill>
                <a:ea typeface="Calibri" panose="020F0502020204030204" pitchFamily="34" charset="0"/>
                <a:cs typeface="Mangal"/>
              </a:rPr>
              <a:t>Control environment rating is arrived based on the following results:</a:t>
            </a:r>
          </a:p>
          <a:p>
            <a:pPr marL="285750" indent="-285750" algn="just">
              <a:lnSpc>
                <a:spcPct val="105000"/>
              </a:lnSpc>
              <a:spcBef>
                <a:spcPts val="0"/>
              </a:spcBef>
              <a:spcAft>
                <a:spcPts val="600"/>
              </a:spcAft>
              <a:buFont typeface="Arial" panose="020B0604020202020204" pitchFamily="34" charset="0"/>
              <a:buChar char="•"/>
            </a:pPr>
            <a:r>
              <a:rPr lang="en-US" sz="1700" dirty="0" smtClean="0">
                <a:solidFill>
                  <a:schemeClr val="bg1"/>
                </a:solidFill>
                <a:ea typeface="Calibri" panose="020F0502020204030204" pitchFamily="34" charset="0"/>
                <a:cs typeface="Mangal"/>
              </a:rPr>
              <a:t>Control </a:t>
            </a:r>
            <a:r>
              <a:rPr lang="en-US" sz="1700" dirty="0">
                <a:solidFill>
                  <a:schemeClr val="bg1"/>
                </a:solidFill>
                <a:ea typeface="Calibri" panose="020F0502020204030204" pitchFamily="34" charset="0"/>
                <a:cs typeface="Mangal"/>
              </a:rPr>
              <a:t>Quality Index </a:t>
            </a:r>
          </a:p>
          <a:p>
            <a:pPr marL="285750" indent="-285750" algn="just">
              <a:lnSpc>
                <a:spcPct val="105000"/>
              </a:lnSpc>
              <a:spcBef>
                <a:spcPts val="0"/>
              </a:spcBef>
              <a:spcAft>
                <a:spcPts val="600"/>
              </a:spcAft>
              <a:buFont typeface="Arial" panose="020B0604020202020204" pitchFamily="34" charset="0"/>
              <a:buChar char="•"/>
            </a:pPr>
            <a:r>
              <a:rPr lang="en-US" sz="1700" dirty="0" smtClean="0">
                <a:solidFill>
                  <a:schemeClr val="bg1"/>
                </a:solidFill>
                <a:ea typeface="Calibri" panose="020F0502020204030204" pitchFamily="34" charset="0"/>
                <a:cs typeface="Mangal"/>
              </a:rPr>
              <a:t>Control </a:t>
            </a:r>
            <a:r>
              <a:rPr lang="en-US" sz="1700" dirty="0">
                <a:solidFill>
                  <a:schemeClr val="bg1"/>
                </a:solidFill>
                <a:ea typeface="Calibri" panose="020F0502020204030204" pitchFamily="34" charset="0"/>
                <a:cs typeface="Mangal"/>
              </a:rPr>
              <a:t>Performance Index</a:t>
            </a:r>
          </a:p>
          <a:p>
            <a:pPr algn="just">
              <a:lnSpc>
                <a:spcPct val="105000"/>
              </a:lnSpc>
              <a:spcBef>
                <a:spcPts val="0"/>
              </a:spcBef>
              <a:spcAft>
                <a:spcPts val="600"/>
              </a:spcAft>
            </a:pPr>
            <a:endParaRPr lang="en-US" sz="900" dirty="0" smtClean="0">
              <a:solidFill>
                <a:schemeClr val="bg1"/>
              </a:solidFill>
              <a:ea typeface="Calibri" panose="020F0502020204030204" pitchFamily="34" charset="0"/>
              <a:cs typeface="Mangal"/>
            </a:endParaRPr>
          </a:p>
          <a:p>
            <a:pPr algn="just">
              <a:lnSpc>
                <a:spcPct val="105000"/>
              </a:lnSpc>
              <a:spcBef>
                <a:spcPts val="0"/>
              </a:spcBef>
              <a:spcAft>
                <a:spcPts val="600"/>
              </a:spcAft>
            </a:pPr>
            <a:r>
              <a:rPr lang="en-US" sz="1700" b="1" dirty="0" smtClean="0">
                <a:solidFill>
                  <a:schemeClr val="bg1"/>
                </a:solidFill>
                <a:ea typeface="Calibri" panose="020F0502020204030204" pitchFamily="34" charset="0"/>
                <a:cs typeface="Mangal"/>
              </a:rPr>
              <a:t>Control </a:t>
            </a:r>
            <a:r>
              <a:rPr lang="en-US" sz="1700" b="1" dirty="0">
                <a:solidFill>
                  <a:schemeClr val="bg1"/>
                </a:solidFill>
                <a:ea typeface="Calibri" panose="020F0502020204030204" pitchFamily="34" charset="0"/>
                <a:cs typeface="Mangal"/>
              </a:rPr>
              <a:t>environment rating = Control Quality Index * Control Performance </a:t>
            </a:r>
            <a:r>
              <a:rPr lang="en-US" sz="1700" b="1" dirty="0" smtClean="0">
                <a:solidFill>
                  <a:schemeClr val="bg1"/>
                </a:solidFill>
                <a:ea typeface="Calibri" panose="020F0502020204030204" pitchFamily="34" charset="0"/>
                <a:cs typeface="Mangal"/>
              </a:rPr>
              <a:t>Index</a:t>
            </a:r>
            <a:endParaRPr lang="en-US" sz="1700" b="1" dirty="0">
              <a:solidFill>
                <a:schemeClr val="bg1"/>
              </a:solidFill>
              <a:ea typeface="Calibri" panose="020F0502020204030204" pitchFamily="34" charset="0"/>
              <a:cs typeface="Mangal"/>
            </a:endParaRPr>
          </a:p>
          <a:p>
            <a:pPr algn="just">
              <a:lnSpc>
                <a:spcPct val="105000"/>
              </a:lnSpc>
              <a:spcBef>
                <a:spcPts val="0"/>
              </a:spcBef>
              <a:spcAft>
                <a:spcPts val="600"/>
              </a:spcAft>
            </a:pPr>
            <a:endParaRPr lang="en-US" sz="1700" dirty="0" smtClean="0">
              <a:solidFill>
                <a:schemeClr val="bg1"/>
              </a:solidFill>
              <a:ea typeface="Calibri" panose="020F0502020204030204" pitchFamily="34" charset="0"/>
              <a:cs typeface="Mangal"/>
            </a:endParaRPr>
          </a:p>
          <a:p>
            <a:pPr algn="just">
              <a:lnSpc>
                <a:spcPct val="105000"/>
              </a:lnSpc>
              <a:spcBef>
                <a:spcPts val="0"/>
              </a:spcBef>
              <a:spcAft>
                <a:spcPts val="600"/>
              </a:spcAft>
            </a:pPr>
            <a:r>
              <a:rPr lang="en-US" sz="1700" dirty="0" smtClean="0">
                <a:solidFill>
                  <a:schemeClr val="bg1"/>
                </a:solidFill>
                <a:ea typeface="Calibri" panose="020F0502020204030204" pitchFamily="34" charset="0"/>
                <a:cs typeface="Mangal"/>
              </a:rPr>
              <a:t>The </a:t>
            </a:r>
            <a:r>
              <a:rPr lang="en-US" sz="1700" dirty="0">
                <a:solidFill>
                  <a:schemeClr val="bg1"/>
                </a:solidFill>
                <a:ea typeface="Calibri" panose="020F0502020204030204" pitchFamily="34" charset="0"/>
                <a:cs typeface="Mangal"/>
              </a:rPr>
              <a:t>ratings shall be interpreted as per the below </a:t>
            </a:r>
            <a:r>
              <a:rPr lang="en-US" sz="1700" dirty="0" smtClean="0">
                <a:solidFill>
                  <a:schemeClr val="bg1"/>
                </a:solidFill>
                <a:ea typeface="Calibri" panose="020F0502020204030204" pitchFamily="34" charset="0"/>
                <a:cs typeface="Mangal"/>
              </a:rPr>
              <a:t>table</a:t>
            </a:r>
            <a:r>
              <a:rPr lang="en-US" sz="1700" dirty="0">
                <a:solidFill>
                  <a:schemeClr val="bg1"/>
                </a:solidFill>
                <a:ea typeface="Calibri" panose="020F0502020204030204" pitchFamily="34" charset="0"/>
                <a:cs typeface="Mangal"/>
              </a:rPr>
              <a:t> </a:t>
            </a:r>
            <a:r>
              <a:rPr lang="en-US" sz="1700" dirty="0" smtClean="0">
                <a:solidFill>
                  <a:schemeClr val="bg1"/>
                </a:solidFill>
                <a:ea typeface="Calibri" panose="020F0502020204030204" pitchFamily="34" charset="0"/>
                <a:cs typeface="Mangal"/>
              </a:rPr>
              <a:t>:</a:t>
            </a:r>
            <a:endParaRPr lang="en-US" sz="1700" dirty="0">
              <a:solidFill>
                <a:schemeClr val="bg1"/>
              </a:solidFill>
              <a:ea typeface="Calibri" panose="020F0502020204030204" pitchFamily="34" charset="0"/>
              <a:cs typeface="Mangal"/>
            </a:endParaRPr>
          </a:p>
        </p:txBody>
      </p:sp>
      <p:graphicFrame>
        <p:nvGraphicFramePr>
          <p:cNvPr id="3" name="Table 2"/>
          <p:cNvGraphicFramePr>
            <a:graphicFrameLocks noGrp="1"/>
          </p:cNvGraphicFramePr>
          <p:nvPr>
            <p:extLst>
              <p:ext uri="{D42A27DB-BD31-4B8C-83A1-F6EECF244321}">
                <p14:modId xmlns:p14="http://schemas.microsoft.com/office/powerpoint/2010/main" val="1693669463"/>
              </p:ext>
            </p:extLst>
          </p:nvPr>
        </p:nvGraphicFramePr>
        <p:xfrm>
          <a:off x="3031290" y="3974103"/>
          <a:ext cx="5725160" cy="1369698"/>
        </p:xfrm>
        <a:graphic>
          <a:graphicData uri="http://schemas.openxmlformats.org/drawingml/2006/table">
            <a:tbl>
              <a:tblPr firstRow="1" firstCol="1" bandRow="1">
                <a:tableStyleId>{5C22544A-7EE6-4342-B048-85BDC9FD1C3A}</a:tableStyleId>
              </a:tblPr>
              <a:tblGrid>
                <a:gridCol w="2862580">
                  <a:extLst>
                    <a:ext uri="{9D8B030D-6E8A-4147-A177-3AD203B41FA5}">
                      <a16:colId xmlns:a16="http://schemas.microsoft.com/office/drawing/2014/main" val="759484906"/>
                    </a:ext>
                  </a:extLst>
                </a:gridCol>
                <a:gridCol w="2862580">
                  <a:extLst>
                    <a:ext uri="{9D8B030D-6E8A-4147-A177-3AD203B41FA5}">
                      <a16:colId xmlns:a16="http://schemas.microsoft.com/office/drawing/2014/main" val="4158632821"/>
                    </a:ext>
                  </a:extLst>
                </a:gridCol>
              </a:tblGrid>
              <a:tr h="0">
                <a:tc>
                  <a:txBody>
                    <a:bodyPr/>
                    <a:lstStyle/>
                    <a:p>
                      <a:pPr marL="0" marR="0" algn="just">
                        <a:lnSpc>
                          <a:spcPct val="107000"/>
                        </a:lnSpc>
                        <a:spcBef>
                          <a:spcPts val="0"/>
                        </a:spcBef>
                        <a:spcAft>
                          <a:spcPts val="0"/>
                        </a:spcAft>
                      </a:pPr>
                      <a:r>
                        <a:rPr lang="en-US" sz="1400">
                          <a:effectLst/>
                        </a:rPr>
                        <a:t>Rating</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Score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555163481"/>
                  </a:ext>
                </a:extLst>
              </a:tr>
              <a:tr h="0">
                <a:tc>
                  <a:txBody>
                    <a:bodyPr/>
                    <a:lstStyle/>
                    <a:p>
                      <a:pPr marL="0" marR="0" algn="just">
                        <a:lnSpc>
                          <a:spcPct val="107000"/>
                        </a:lnSpc>
                        <a:spcBef>
                          <a:spcPts val="0"/>
                        </a:spcBef>
                        <a:spcAft>
                          <a:spcPts val="0"/>
                        </a:spcAft>
                      </a:pPr>
                      <a:r>
                        <a:rPr lang="en-US" sz="1400">
                          <a:effectLst/>
                        </a:rPr>
                        <a:t>Significant 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&lt;15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48597198"/>
                  </a:ext>
                </a:extLst>
              </a:tr>
              <a:tr h="0">
                <a:tc>
                  <a:txBody>
                    <a:bodyPr/>
                    <a:lstStyle/>
                    <a:p>
                      <a:pPr marL="0" marR="0" algn="just">
                        <a:lnSpc>
                          <a:spcPct val="107000"/>
                        </a:lnSpc>
                        <a:spcBef>
                          <a:spcPts val="0"/>
                        </a:spcBef>
                        <a:spcAft>
                          <a:spcPts val="0"/>
                        </a:spcAft>
                      </a:pPr>
                      <a:r>
                        <a:rPr lang="en-US" sz="1400">
                          <a:effectLst/>
                        </a:rPr>
                        <a:t>Improvement Needed</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&lt;30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727294004"/>
                  </a:ext>
                </a:extLst>
              </a:tr>
              <a:tr h="0">
                <a:tc>
                  <a:txBody>
                    <a:bodyPr/>
                    <a:lstStyle/>
                    <a:p>
                      <a:pPr marL="0" marR="0" algn="just">
                        <a:lnSpc>
                          <a:spcPct val="107000"/>
                        </a:lnSpc>
                        <a:spcBef>
                          <a:spcPts val="0"/>
                        </a:spcBef>
                        <a:spcAft>
                          <a:spcPts val="0"/>
                        </a:spcAft>
                      </a:pPr>
                      <a:r>
                        <a:rPr lang="en-US" sz="1400">
                          <a:effectLst/>
                        </a:rPr>
                        <a:t>Partially Effective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&lt;60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382858418"/>
                  </a:ext>
                </a:extLst>
              </a:tr>
              <a:tr h="0">
                <a:tc>
                  <a:txBody>
                    <a:bodyPr/>
                    <a:lstStyle/>
                    <a:p>
                      <a:pPr marL="0" marR="0" algn="just">
                        <a:lnSpc>
                          <a:spcPct val="107000"/>
                        </a:lnSpc>
                        <a:spcBef>
                          <a:spcPts val="0"/>
                        </a:spcBef>
                        <a:spcAft>
                          <a:spcPts val="0"/>
                        </a:spcAft>
                      </a:pPr>
                      <a:r>
                        <a:rPr lang="en-US" sz="1400">
                          <a:effectLst/>
                        </a:rPr>
                        <a:t>Meets Requirement</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a:effectLst/>
                        </a:rPr>
                        <a:t>&lt;125</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689144055"/>
                  </a:ext>
                </a:extLst>
              </a:tr>
              <a:tr h="0">
                <a:tc>
                  <a:txBody>
                    <a:bodyPr/>
                    <a:lstStyle/>
                    <a:p>
                      <a:pPr marL="0" marR="0" algn="just">
                        <a:lnSpc>
                          <a:spcPct val="107000"/>
                        </a:lnSpc>
                        <a:spcBef>
                          <a:spcPts val="0"/>
                        </a:spcBef>
                        <a:spcAft>
                          <a:spcPts val="0"/>
                        </a:spcAft>
                      </a:pPr>
                      <a:r>
                        <a:rPr lang="en-US" sz="1400">
                          <a:effectLst/>
                        </a:rPr>
                        <a:t>Effective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7000"/>
                        </a:lnSpc>
                        <a:spcBef>
                          <a:spcPts val="0"/>
                        </a:spcBef>
                        <a:spcAft>
                          <a:spcPts val="0"/>
                        </a:spcAft>
                      </a:pPr>
                      <a:r>
                        <a:rPr lang="en-US" sz="1400" dirty="0">
                          <a:effectLst/>
                        </a:rPr>
                        <a:t>&gt;=125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705147190"/>
                  </a:ext>
                </a:extLst>
              </a:tr>
            </a:tbl>
          </a:graphicData>
        </a:graphic>
      </p:graphicFrame>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2199192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smtClean="0">
                <a:solidFill>
                  <a:schemeClr val="bg1"/>
                </a:solidFill>
              </a:rPr>
              <a:t>Residual Risk Calculations</a:t>
            </a:r>
            <a:endParaRPr lang="en-US" sz="2000" dirty="0">
              <a:solidFill>
                <a:schemeClr val="bg1"/>
              </a:solidFill>
            </a:endParaRPr>
          </a:p>
        </p:txBody>
      </p:sp>
      <p:sp>
        <p:nvSpPr>
          <p:cNvPr id="8" name="Rectangle 7"/>
          <p:cNvSpPr/>
          <p:nvPr/>
        </p:nvSpPr>
        <p:spPr>
          <a:xfrm>
            <a:off x="1627772" y="1305094"/>
            <a:ext cx="9807041" cy="1344984"/>
          </a:xfrm>
          <a:prstGeom prst="rect">
            <a:avLst/>
          </a:prstGeom>
        </p:spPr>
        <p:txBody>
          <a:bodyPr wrap="square">
            <a:spAutoFit/>
          </a:bodyPr>
          <a:lstStyle/>
          <a:p>
            <a:pPr>
              <a:lnSpc>
                <a:spcPct val="105000"/>
              </a:lnSpc>
              <a:spcBef>
                <a:spcPts val="0"/>
              </a:spcBef>
              <a:spcAft>
                <a:spcPts val="600"/>
              </a:spcAft>
            </a:pPr>
            <a:r>
              <a:rPr lang="en-US" sz="1700" dirty="0" smtClean="0">
                <a:solidFill>
                  <a:schemeClr val="bg1"/>
                </a:solidFill>
                <a:ea typeface="Calibri" panose="020F0502020204030204" pitchFamily="34" charset="0"/>
                <a:cs typeface="Mangal"/>
              </a:rPr>
              <a:t>The </a:t>
            </a:r>
            <a:r>
              <a:rPr lang="en-US" sz="1700" dirty="0">
                <a:solidFill>
                  <a:schemeClr val="bg1"/>
                </a:solidFill>
                <a:ea typeface="Calibri" panose="020F0502020204030204" pitchFamily="34" charset="0"/>
                <a:cs typeface="Mangal"/>
              </a:rPr>
              <a:t>residual </a:t>
            </a:r>
            <a:r>
              <a:rPr lang="en-US" sz="1700" dirty="0" smtClean="0">
                <a:solidFill>
                  <a:schemeClr val="bg1"/>
                </a:solidFill>
                <a:ea typeface="Calibri" panose="020F0502020204030204" pitchFamily="34" charset="0"/>
                <a:cs typeface="Mangal"/>
              </a:rPr>
              <a:t>risk is calculated </a:t>
            </a:r>
            <a:r>
              <a:rPr lang="en-US" sz="1700" dirty="0">
                <a:solidFill>
                  <a:schemeClr val="bg1"/>
                </a:solidFill>
                <a:ea typeface="Calibri" panose="020F0502020204030204" pitchFamily="34" charset="0"/>
                <a:cs typeface="Mangal"/>
              </a:rPr>
              <a:t>by dividing the inherent risk score by the control environment score for an Assessment </a:t>
            </a:r>
            <a:r>
              <a:rPr lang="en-US" sz="1700" dirty="0" smtClean="0">
                <a:solidFill>
                  <a:schemeClr val="bg1"/>
                </a:solidFill>
                <a:ea typeface="Calibri" panose="020F0502020204030204" pitchFamily="34" charset="0"/>
                <a:cs typeface="Mangal"/>
              </a:rPr>
              <a:t>Unit</a:t>
            </a:r>
          </a:p>
          <a:p>
            <a:pPr>
              <a:lnSpc>
                <a:spcPct val="105000"/>
              </a:lnSpc>
              <a:spcBef>
                <a:spcPts val="0"/>
              </a:spcBef>
              <a:spcAft>
                <a:spcPts val="600"/>
              </a:spcAft>
            </a:pPr>
            <a:endParaRPr lang="en-IN" sz="1700" dirty="0">
              <a:solidFill>
                <a:schemeClr val="bg1"/>
              </a:solidFill>
              <a:ea typeface="Calibri" panose="020F0502020204030204" pitchFamily="34" charset="0"/>
              <a:cs typeface="Mangal"/>
            </a:endParaRPr>
          </a:p>
          <a:p>
            <a:pPr>
              <a:lnSpc>
                <a:spcPct val="105000"/>
              </a:lnSpc>
              <a:spcBef>
                <a:spcPts val="0"/>
              </a:spcBef>
              <a:spcAft>
                <a:spcPts val="600"/>
              </a:spcAft>
            </a:pPr>
            <a:r>
              <a:rPr lang="en-US" sz="1700" dirty="0" smtClean="0">
                <a:solidFill>
                  <a:schemeClr val="bg1"/>
                </a:solidFill>
                <a:ea typeface="Calibri" panose="020F0502020204030204" pitchFamily="34" charset="0"/>
                <a:cs typeface="Mangal"/>
              </a:rPr>
              <a:t>The </a:t>
            </a:r>
            <a:r>
              <a:rPr lang="en-US" sz="1700" dirty="0">
                <a:solidFill>
                  <a:schemeClr val="bg1"/>
                </a:solidFill>
                <a:ea typeface="Calibri" panose="020F0502020204030204" pitchFamily="34" charset="0"/>
                <a:cs typeface="Mangal"/>
              </a:rPr>
              <a:t>following matrix provides the mapping of residual risk assessment rating to residual risk assessment score</a:t>
            </a:r>
          </a:p>
        </p:txBody>
      </p:sp>
      <p:graphicFrame>
        <p:nvGraphicFramePr>
          <p:cNvPr id="2" name="Table 1"/>
          <p:cNvGraphicFramePr>
            <a:graphicFrameLocks noGrp="1"/>
          </p:cNvGraphicFramePr>
          <p:nvPr>
            <p:extLst>
              <p:ext uri="{D42A27DB-BD31-4B8C-83A1-F6EECF244321}">
                <p14:modId xmlns:p14="http://schemas.microsoft.com/office/powerpoint/2010/main" val="1210186701"/>
              </p:ext>
            </p:extLst>
          </p:nvPr>
        </p:nvGraphicFramePr>
        <p:xfrm>
          <a:off x="3354356" y="2762208"/>
          <a:ext cx="5631180" cy="1248156"/>
        </p:xfrm>
        <a:graphic>
          <a:graphicData uri="http://schemas.openxmlformats.org/drawingml/2006/table">
            <a:tbl>
              <a:tblPr firstRow="1" firstCol="1" bandRow="1">
                <a:tableStyleId>{5C22544A-7EE6-4342-B048-85BDC9FD1C3A}</a:tableStyleId>
              </a:tblPr>
              <a:tblGrid>
                <a:gridCol w="3174365">
                  <a:extLst>
                    <a:ext uri="{9D8B030D-6E8A-4147-A177-3AD203B41FA5}">
                      <a16:colId xmlns:a16="http://schemas.microsoft.com/office/drawing/2014/main" val="1475974264"/>
                    </a:ext>
                  </a:extLst>
                </a:gridCol>
                <a:gridCol w="2456815">
                  <a:extLst>
                    <a:ext uri="{9D8B030D-6E8A-4147-A177-3AD203B41FA5}">
                      <a16:colId xmlns:a16="http://schemas.microsoft.com/office/drawing/2014/main" val="402063736"/>
                    </a:ext>
                  </a:extLst>
                </a:gridCol>
              </a:tblGrid>
              <a:tr h="169545">
                <a:tc>
                  <a:txBody>
                    <a:bodyPr/>
                    <a:lstStyle/>
                    <a:p>
                      <a:pPr marL="0" marR="0" algn="just">
                        <a:lnSpc>
                          <a:spcPct val="105000"/>
                        </a:lnSpc>
                        <a:spcBef>
                          <a:spcPts val="0"/>
                        </a:spcBef>
                        <a:spcAft>
                          <a:spcPts val="0"/>
                        </a:spcAft>
                      </a:pPr>
                      <a:r>
                        <a:rPr lang="en-GB" sz="1300">
                          <a:effectLst/>
                        </a:rPr>
                        <a:t>Rating</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GB" sz="1300">
                          <a:effectLst/>
                        </a:rPr>
                        <a:t>Score (New)</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496299225"/>
                  </a:ext>
                </a:extLst>
              </a:tr>
              <a:tr h="169545">
                <a:tc>
                  <a:txBody>
                    <a:bodyPr/>
                    <a:lstStyle/>
                    <a:p>
                      <a:pPr marL="0" marR="0" algn="just">
                        <a:lnSpc>
                          <a:spcPct val="105000"/>
                        </a:lnSpc>
                        <a:spcBef>
                          <a:spcPts val="0"/>
                        </a:spcBef>
                        <a:spcAft>
                          <a:spcPts val="0"/>
                        </a:spcAft>
                      </a:pPr>
                      <a:r>
                        <a:rPr lang="en-US" sz="1300">
                          <a:effectLst/>
                        </a:rPr>
                        <a:t>No control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NA</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901200235"/>
                  </a:ext>
                </a:extLst>
              </a:tr>
              <a:tr h="169545">
                <a:tc>
                  <a:txBody>
                    <a:bodyPr/>
                    <a:lstStyle/>
                    <a:p>
                      <a:pPr marL="0" marR="0" algn="just">
                        <a:lnSpc>
                          <a:spcPct val="105000"/>
                        </a:lnSpc>
                        <a:spcBef>
                          <a:spcPts val="0"/>
                        </a:spcBef>
                        <a:spcAft>
                          <a:spcPts val="0"/>
                        </a:spcAft>
                      </a:pPr>
                      <a:r>
                        <a:rPr lang="en-US" sz="1300">
                          <a:effectLst/>
                        </a:rPr>
                        <a:t>Significant Improvement Needed</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&gt;=6.67</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799345504"/>
                  </a:ext>
                </a:extLst>
              </a:tr>
              <a:tr h="161925">
                <a:tc>
                  <a:txBody>
                    <a:bodyPr/>
                    <a:lstStyle/>
                    <a:p>
                      <a:pPr marL="0" marR="0" algn="just">
                        <a:lnSpc>
                          <a:spcPct val="105000"/>
                        </a:lnSpc>
                        <a:spcBef>
                          <a:spcPts val="0"/>
                        </a:spcBef>
                        <a:spcAft>
                          <a:spcPts val="0"/>
                        </a:spcAft>
                      </a:pPr>
                      <a:r>
                        <a:rPr lang="en-US" sz="1300">
                          <a:effectLst/>
                        </a:rPr>
                        <a:t>Improvement Needed</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&lt;6.67</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514972544"/>
                  </a:ext>
                </a:extLst>
              </a:tr>
              <a:tr h="169545">
                <a:tc>
                  <a:txBody>
                    <a:bodyPr/>
                    <a:lstStyle/>
                    <a:p>
                      <a:pPr marL="0" marR="0" algn="just">
                        <a:lnSpc>
                          <a:spcPct val="105000"/>
                        </a:lnSpc>
                        <a:spcBef>
                          <a:spcPts val="0"/>
                        </a:spcBef>
                        <a:spcAft>
                          <a:spcPts val="0"/>
                        </a:spcAft>
                      </a:pPr>
                      <a:r>
                        <a:rPr lang="en-US" sz="1300">
                          <a:effectLst/>
                        </a:rPr>
                        <a:t>Meets Requirement</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&lt;=2</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469670093"/>
                  </a:ext>
                </a:extLst>
              </a:tr>
              <a:tr h="169545">
                <a:tc>
                  <a:txBody>
                    <a:bodyPr/>
                    <a:lstStyle/>
                    <a:p>
                      <a:pPr marL="0" marR="0" algn="just">
                        <a:lnSpc>
                          <a:spcPct val="105000"/>
                        </a:lnSpc>
                        <a:spcBef>
                          <a:spcPts val="0"/>
                        </a:spcBef>
                        <a:spcAft>
                          <a:spcPts val="0"/>
                        </a:spcAft>
                      </a:pPr>
                      <a:r>
                        <a:rPr lang="en-US" sz="1300">
                          <a:effectLst/>
                        </a:rPr>
                        <a:t>Well Controlled</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dirty="0">
                          <a:effectLst/>
                        </a:rPr>
                        <a:t>&lt;=1</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37356235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170187393"/>
              </p:ext>
            </p:extLst>
          </p:nvPr>
        </p:nvGraphicFramePr>
        <p:xfrm>
          <a:off x="3354356" y="4712303"/>
          <a:ext cx="5656580" cy="1284605"/>
        </p:xfrm>
        <a:graphic>
          <a:graphicData uri="http://schemas.openxmlformats.org/drawingml/2006/table">
            <a:tbl>
              <a:tblPr firstRow="1" firstCol="1" bandRow="1">
                <a:tableStyleId>{5C22544A-7EE6-4342-B048-85BDC9FD1C3A}</a:tableStyleId>
              </a:tblPr>
              <a:tblGrid>
                <a:gridCol w="3190823">
                  <a:extLst>
                    <a:ext uri="{9D8B030D-6E8A-4147-A177-3AD203B41FA5}">
                      <a16:colId xmlns:a16="http://schemas.microsoft.com/office/drawing/2014/main" val="1597973622"/>
                    </a:ext>
                  </a:extLst>
                </a:gridCol>
                <a:gridCol w="2465757">
                  <a:extLst>
                    <a:ext uri="{9D8B030D-6E8A-4147-A177-3AD203B41FA5}">
                      <a16:colId xmlns:a16="http://schemas.microsoft.com/office/drawing/2014/main" val="1830089258"/>
                    </a:ext>
                  </a:extLst>
                </a:gridCol>
              </a:tblGrid>
              <a:tr h="244475">
                <a:tc>
                  <a:txBody>
                    <a:bodyPr/>
                    <a:lstStyle/>
                    <a:p>
                      <a:pPr marL="0" marR="0" algn="just">
                        <a:lnSpc>
                          <a:spcPct val="107000"/>
                        </a:lnSpc>
                        <a:spcBef>
                          <a:spcPts val="0"/>
                        </a:spcBef>
                        <a:spcAft>
                          <a:spcPts val="0"/>
                        </a:spcAft>
                      </a:pPr>
                      <a:r>
                        <a:rPr lang="en-GB" sz="1300">
                          <a:effectLst/>
                        </a:rPr>
                        <a:t>Aggregating residual risk</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GB" sz="1300">
                          <a:effectLst/>
                        </a:rPr>
                        <a:t>Weights</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99573980"/>
                  </a:ext>
                </a:extLst>
              </a:tr>
              <a:tr h="93345">
                <a:tc>
                  <a:txBody>
                    <a:bodyPr/>
                    <a:lstStyle/>
                    <a:p>
                      <a:pPr marL="0" marR="0" algn="just">
                        <a:lnSpc>
                          <a:spcPct val="105000"/>
                        </a:lnSpc>
                        <a:spcBef>
                          <a:spcPts val="0"/>
                        </a:spcBef>
                        <a:spcAft>
                          <a:spcPts val="0"/>
                        </a:spcAft>
                      </a:pPr>
                      <a:r>
                        <a:rPr lang="en-US" sz="1300">
                          <a:effectLst/>
                        </a:rPr>
                        <a:t>No control</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100%</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878889902"/>
                  </a:ext>
                </a:extLst>
              </a:tr>
              <a:tr h="186055">
                <a:tc>
                  <a:txBody>
                    <a:bodyPr/>
                    <a:lstStyle/>
                    <a:p>
                      <a:pPr marL="0" marR="0" algn="just">
                        <a:lnSpc>
                          <a:spcPct val="105000"/>
                        </a:lnSpc>
                        <a:spcBef>
                          <a:spcPts val="0"/>
                        </a:spcBef>
                        <a:spcAft>
                          <a:spcPts val="0"/>
                        </a:spcAft>
                      </a:pPr>
                      <a:r>
                        <a:rPr lang="en-US" sz="1300">
                          <a:effectLst/>
                        </a:rPr>
                        <a:t>Significant Improvement Needed</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80%</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370270299"/>
                  </a:ext>
                </a:extLst>
              </a:tr>
              <a:tr h="179705">
                <a:tc>
                  <a:txBody>
                    <a:bodyPr/>
                    <a:lstStyle/>
                    <a:p>
                      <a:pPr marL="0" marR="0" algn="just">
                        <a:lnSpc>
                          <a:spcPct val="105000"/>
                        </a:lnSpc>
                        <a:spcBef>
                          <a:spcPts val="0"/>
                        </a:spcBef>
                        <a:spcAft>
                          <a:spcPts val="0"/>
                        </a:spcAft>
                      </a:pPr>
                      <a:r>
                        <a:rPr lang="en-US" sz="1300">
                          <a:effectLst/>
                        </a:rPr>
                        <a:t>Improvement Needed</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60%</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290548745"/>
                  </a:ext>
                </a:extLst>
              </a:tr>
              <a:tr h="74295">
                <a:tc>
                  <a:txBody>
                    <a:bodyPr/>
                    <a:lstStyle/>
                    <a:p>
                      <a:pPr marL="0" marR="0" algn="just">
                        <a:lnSpc>
                          <a:spcPct val="105000"/>
                        </a:lnSpc>
                        <a:spcBef>
                          <a:spcPts val="0"/>
                        </a:spcBef>
                        <a:spcAft>
                          <a:spcPts val="0"/>
                        </a:spcAft>
                      </a:pPr>
                      <a:r>
                        <a:rPr lang="en-US" sz="1300">
                          <a:effectLst/>
                        </a:rPr>
                        <a:t>Meets Requirement</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a:effectLst/>
                        </a:rPr>
                        <a:t>25%</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129841373"/>
                  </a:ext>
                </a:extLst>
              </a:tr>
              <a:tr h="85725">
                <a:tc>
                  <a:txBody>
                    <a:bodyPr/>
                    <a:lstStyle/>
                    <a:p>
                      <a:pPr marL="0" marR="0" algn="just">
                        <a:lnSpc>
                          <a:spcPct val="105000"/>
                        </a:lnSpc>
                        <a:spcBef>
                          <a:spcPts val="0"/>
                        </a:spcBef>
                        <a:spcAft>
                          <a:spcPts val="0"/>
                        </a:spcAft>
                      </a:pPr>
                      <a:r>
                        <a:rPr lang="en-US" sz="1300">
                          <a:effectLst/>
                        </a:rPr>
                        <a:t>Well Controlled</a:t>
                      </a:r>
                      <a:endParaRPr lang="en-US" sz="13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300" dirty="0">
                          <a:effectLst/>
                        </a:rPr>
                        <a:t>1%</a:t>
                      </a:r>
                      <a:endParaRPr lang="en-US" sz="13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866424429"/>
                  </a:ext>
                </a:extLst>
              </a:tr>
            </a:tbl>
          </a:graphicData>
        </a:graphic>
      </p:graphicFrame>
      <p:sp>
        <p:nvSpPr>
          <p:cNvPr id="9" name="Rectangle 8"/>
          <p:cNvSpPr/>
          <p:nvPr/>
        </p:nvSpPr>
        <p:spPr>
          <a:xfrm>
            <a:off x="1627771" y="4207078"/>
            <a:ext cx="9807041" cy="355931"/>
          </a:xfrm>
          <a:prstGeom prst="rect">
            <a:avLst/>
          </a:prstGeom>
        </p:spPr>
        <p:txBody>
          <a:bodyPr wrap="square">
            <a:spAutoFit/>
          </a:bodyPr>
          <a:lstStyle/>
          <a:p>
            <a:pPr>
              <a:lnSpc>
                <a:spcPct val="105000"/>
              </a:lnSpc>
              <a:spcBef>
                <a:spcPts val="0"/>
              </a:spcBef>
              <a:spcAft>
                <a:spcPts val="600"/>
              </a:spcAft>
            </a:pPr>
            <a:r>
              <a:rPr lang="en-US" sz="1700" dirty="0" smtClean="0">
                <a:solidFill>
                  <a:schemeClr val="bg1"/>
                </a:solidFill>
                <a:ea typeface="Calibri" panose="020F0502020204030204" pitchFamily="34" charset="0"/>
                <a:cs typeface="Mangal"/>
              </a:rPr>
              <a:t>The </a:t>
            </a:r>
            <a:r>
              <a:rPr lang="en-US" sz="1700" dirty="0">
                <a:solidFill>
                  <a:schemeClr val="bg1"/>
                </a:solidFill>
                <a:ea typeface="Calibri" panose="020F0502020204030204" pitchFamily="34" charset="0"/>
                <a:cs typeface="Mangal"/>
              </a:rPr>
              <a:t>aggregation of residual risk at AU/ theme level shall happen using the following weights</a:t>
            </a:r>
          </a:p>
        </p:txBody>
      </p:sp>
      <p:pic>
        <p:nvPicPr>
          <p:cNvPr id="10" name="Picture 9">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3902807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0173" y="792854"/>
            <a:ext cx="11219546" cy="400110"/>
          </a:xfrm>
          <a:prstGeom prst="rect">
            <a:avLst/>
          </a:prstGeom>
          <a:noFill/>
        </p:spPr>
        <p:txBody>
          <a:bodyPr wrap="square" rtlCol="0">
            <a:spAutoFit/>
          </a:bodyPr>
          <a:lstStyle/>
          <a:p>
            <a:pPr algn="ctr"/>
            <a:r>
              <a:rPr lang="en-US" sz="2000" b="1" dirty="0" smtClean="0">
                <a:solidFill>
                  <a:schemeClr val="bg1"/>
                </a:solidFill>
              </a:rPr>
              <a:t>Residual Risk Calculations</a:t>
            </a:r>
            <a:endParaRPr lang="en-US" sz="2000" dirty="0">
              <a:solidFill>
                <a:schemeClr val="bg1"/>
              </a:solidFill>
            </a:endParaRPr>
          </a:p>
        </p:txBody>
      </p:sp>
      <p:sp>
        <p:nvSpPr>
          <p:cNvPr id="8" name="Rectangle 7"/>
          <p:cNvSpPr/>
          <p:nvPr/>
        </p:nvSpPr>
        <p:spPr>
          <a:xfrm>
            <a:off x="1627772" y="1305094"/>
            <a:ext cx="9807041" cy="355931"/>
          </a:xfrm>
          <a:prstGeom prst="rect">
            <a:avLst/>
          </a:prstGeom>
        </p:spPr>
        <p:txBody>
          <a:bodyPr wrap="square">
            <a:spAutoFit/>
          </a:bodyPr>
          <a:lstStyle/>
          <a:p>
            <a:pPr>
              <a:lnSpc>
                <a:spcPct val="105000"/>
              </a:lnSpc>
              <a:spcBef>
                <a:spcPts val="0"/>
              </a:spcBef>
              <a:spcAft>
                <a:spcPts val="600"/>
              </a:spcAft>
            </a:pPr>
            <a:r>
              <a:rPr lang="en-US" sz="1700" dirty="0" smtClean="0">
                <a:solidFill>
                  <a:schemeClr val="bg1"/>
                </a:solidFill>
                <a:ea typeface="Calibri" panose="020F0502020204030204" pitchFamily="34" charset="0"/>
                <a:cs typeface="Mangal"/>
              </a:rPr>
              <a:t>The </a:t>
            </a:r>
            <a:r>
              <a:rPr lang="en-US" sz="1700" dirty="0">
                <a:solidFill>
                  <a:schemeClr val="bg1"/>
                </a:solidFill>
                <a:ea typeface="Calibri" panose="020F0502020204030204" pitchFamily="34" charset="0"/>
                <a:cs typeface="Mangal"/>
              </a:rPr>
              <a:t>interpretation of aggregate residual risk shall be as per the following table</a:t>
            </a:r>
          </a:p>
        </p:txBody>
      </p:sp>
      <p:graphicFrame>
        <p:nvGraphicFramePr>
          <p:cNvPr id="3" name="Table 2"/>
          <p:cNvGraphicFramePr>
            <a:graphicFrameLocks noGrp="1"/>
          </p:cNvGraphicFramePr>
          <p:nvPr>
            <p:extLst>
              <p:ext uri="{D42A27DB-BD31-4B8C-83A1-F6EECF244321}">
                <p14:modId xmlns:p14="http://schemas.microsoft.com/office/powerpoint/2010/main" val="814152508"/>
              </p:ext>
            </p:extLst>
          </p:nvPr>
        </p:nvGraphicFramePr>
        <p:xfrm>
          <a:off x="3280061" y="1873482"/>
          <a:ext cx="5779770" cy="1140587"/>
        </p:xfrm>
        <a:graphic>
          <a:graphicData uri="http://schemas.openxmlformats.org/drawingml/2006/table">
            <a:tbl>
              <a:tblPr firstRow="1" firstCol="1" bandRow="1">
                <a:tableStyleId>{5C22544A-7EE6-4342-B048-85BDC9FD1C3A}</a:tableStyleId>
              </a:tblPr>
              <a:tblGrid>
                <a:gridCol w="3023235">
                  <a:extLst>
                    <a:ext uri="{9D8B030D-6E8A-4147-A177-3AD203B41FA5}">
                      <a16:colId xmlns:a16="http://schemas.microsoft.com/office/drawing/2014/main" val="1866203836"/>
                    </a:ext>
                  </a:extLst>
                </a:gridCol>
                <a:gridCol w="2756535">
                  <a:extLst>
                    <a:ext uri="{9D8B030D-6E8A-4147-A177-3AD203B41FA5}">
                      <a16:colId xmlns:a16="http://schemas.microsoft.com/office/drawing/2014/main" val="3439932205"/>
                    </a:ext>
                  </a:extLst>
                </a:gridCol>
              </a:tblGrid>
              <a:tr h="244475">
                <a:tc>
                  <a:txBody>
                    <a:bodyPr/>
                    <a:lstStyle/>
                    <a:p>
                      <a:pPr marL="0" marR="0" algn="just">
                        <a:lnSpc>
                          <a:spcPct val="105000"/>
                        </a:lnSpc>
                        <a:spcBef>
                          <a:spcPts val="0"/>
                        </a:spcBef>
                        <a:spcAft>
                          <a:spcPts val="0"/>
                        </a:spcAft>
                      </a:pPr>
                      <a:r>
                        <a:rPr lang="en-GB" sz="1400">
                          <a:effectLst/>
                        </a:rPr>
                        <a:t>Interpreting residual risk</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GB" sz="1400">
                          <a:effectLst/>
                        </a:rPr>
                        <a:t>Aggregate residual risk score</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1706919435"/>
                  </a:ext>
                </a:extLst>
              </a:tr>
              <a:tr h="120015">
                <a:tc>
                  <a:txBody>
                    <a:bodyPr/>
                    <a:lstStyle/>
                    <a:p>
                      <a:pPr marL="0" marR="0" algn="just">
                        <a:lnSpc>
                          <a:spcPct val="105000"/>
                        </a:lnSpc>
                        <a:spcBef>
                          <a:spcPts val="0"/>
                        </a:spcBef>
                        <a:spcAft>
                          <a:spcPts val="0"/>
                        </a:spcAft>
                      </a:pPr>
                      <a:r>
                        <a:rPr lang="en-US" sz="1400">
                          <a:effectLst/>
                        </a:rPr>
                        <a:t>Extremely High</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a:effectLst/>
                        </a:rPr>
                        <a:t>&gt;=70%</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593776627"/>
                  </a:ext>
                </a:extLst>
              </a:tr>
              <a:tr h="131445">
                <a:tc>
                  <a:txBody>
                    <a:bodyPr/>
                    <a:lstStyle/>
                    <a:p>
                      <a:pPr marL="0" marR="0" algn="just">
                        <a:lnSpc>
                          <a:spcPct val="105000"/>
                        </a:lnSpc>
                        <a:spcBef>
                          <a:spcPts val="0"/>
                        </a:spcBef>
                        <a:spcAft>
                          <a:spcPts val="0"/>
                        </a:spcAft>
                      </a:pPr>
                      <a:r>
                        <a:rPr lang="en-US" sz="1400">
                          <a:effectLst/>
                        </a:rPr>
                        <a:t>High</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dirty="0">
                          <a:effectLst/>
                        </a:rPr>
                        <a:t>&gt;=45</a:t>
                      </a:r>
                      <a:r>
                        <a:rPr lang="en-US" sz="1400" dirty="0" smtClean="0">
                          <a:effectLst/>
                        </a:rPr>
                        <a:t>% - &lt;70%</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205643764"/>
                  </a:ext>
                </a:extLst>
              </a:tr>
              <a:tr h="133985">
                <a:tc>
                  <a:txBody>
                    <a:bodyPr/>
                    <a:lstStyle/>
                    <a:p>
                      <a:pPr marL="0" marR="0" algn="just">
                        <a:lnSpc>
                          <a:spcPct val="105000"/>
                        </a:lnSpc>
                        <a:spcBef>
                          <a:spcPts val="0"/>
                        </a:spcBef>
                        <a:spcAft>
                          <a:spcPts val="0"/>
                        </a:spcAft>
                      </a:pPr>
                      <a:r>
                        <a:rPr lang="en-US" sz="1400">
                          <a:effectLst/>
                        </a:rPr>
                        <a:t>Medium</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dirty="0" smtClean="0">
                          <a:effectLst/>
                        </a:rPr>
                        <a:t>&gt;15% - &lt;45%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3467963779"/>
                  </a:ext>
                </a:extLst>
              </a:tr>
              <a:tr h="46355">
                <a:tc>
                  <a:txBody>
                    <a:bodyPr/>
                    <a:lstStyle/>
                    <a:p>
                      <a:pPr marL="0" marR="0" algn="just">
                        <a:lnSpc>
                          <a:spcPct val="105000"/>
                        </a:lnSpc>
                        <a:spcBef>
                          <a:spcPts val="0"/>
                        </a:spcBef>
                        <a:spcAft>
                          <a:spcPts val="0"/>
                        </a:spcAft>
                      </a:pPr>
                      <a:r>
                        <a:rPr lang="en-US" sz="1400">
                          <a:effectLst/>
                        </a:rPr>
                        <a:t>Low</a:t>
                      </a:r>
                      <a:endParaRPr lang="en-US" sz="1400">
                        <a:effectLst/>
                        <a:latin typeface="Calibri" panose="020F0502020204030204" pitchFamily="34" charset="0"/>
                        <a:ea typeface="Calibri" panose="020F0502020204030204" pitchFamily="34" charset="0"/>
                        <a:cs typeface="Mangal" panose="02040503050203030202"/>
                      </a:endParaRPr>
                    </a:p>
                  </a:txBody>
                  <a:tcPr marL="68580" marR="68580" marT="0" marB="0"/>
                </a:tc>
                <a:tc>
                  <a:txBody>
                    <a:bodyPr/>
                    <a:lstStyle/>
                    <a:p>
                      <a:pPr marL="0" marR="0" algn="ctr">
                        <a:lnSpc>
                          <a:spcPct val="105000"/>
                        </a:lnSpc>
                        <a:spcBef>
                          <a:spcPts val="0"/>
                        </a:spcBef>
                        <a:spcAft>
                          <a:spcPts val="0"/>
                        </a:spcAft>
                      </a:pPr>
                      <a:r>
                        <a:rPr lang="en-US" sz="1400" dirty="0" smtClean="0">
                          <a:effectLst/>
                        </a:rPr>
                        <a:t>&lt;=15%</a:t>
                      </a:r>
                      <a:endParaRPr lang="en-US" sz="1400" dirty="0">
                        <a:effectLst/>
                        <a:latin typeface="Calibri" panose="020F0502020204030204" pitchFamily="34" charset="0"/>
                        <a:ea typeface="Calibri" panose="020F0502020204030204" pitchFamily="34" charset="0"/>
                        <a:cs typeface="Mangal" panose="02040503050203030202"/>
                      </a:endParaRPr>
                    </a:p>
                  </a:txBody>
                  <a:tcPr marL="68580" marR="68580" marT="0" marB="0"/>
                </a:tc>
                <a:extLst>
                  <a:ext uri="{0D108BD9-81ED-4DB2-BD59-A6C34878D82A}">
                    <a16:rowId xmlns:a16="http://schemas.microsoft.com/office/drawing/2014/main" val="251261804"/>
                  </a:ext>
                </a:extLst>
              </a:tr>
            </a:tbl>
          </a:graphicData>
        </a:graphic>
      </p:graphicFrame>
      <p:pic>
        <p:nvPicPr>
          <p:cNvPr id="7" name="Picture 6">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575182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2977788"/>
            <a:ext cx="12060455" cy="707886"/>
          </a:xfrm>
          <a:prstGeom prst="rect">
            <a:avLst/>
          </a:prstGeom>
          <a:noFill/>
        </p:spPr>
        <p:txBody>
          <a:bodyPr wrap="square" rtlCol="0">
            <a:spAutoFit/>
          </a:bodyPr>
          <a:lstStyle/>
          <a:p>
            <a:pPr algn="ctr"/>
            <a:r>
              <a:rPr lang="en-US" sz="4000" b="1" dirty="0" smtClean="0">
                <a:solidFill>
                  <a:schemeClr val="bg1"/>
                </a:solidFill>
              </a:rPr>
              <a:t>Thank You</a:t>
            </a:r>
            <a:endParaRPr lang="en-US" sz="4000" dirty="0">
              <a:solidFill>
                <a:schemeClr val="bg1"/>
              </a:solidFill>
            </a:endParaRPr>
          </a:p>
        </p:txBody>
      </p:sp>
      <p:pic>
        <p:nvPicPr>
          <p:cNvPr id="5" name="Picture 4">
            <a:extLst>
              <a:ext uri="{FF2B5EF4-FFF2-40B4-BE49-F238E27FC236}">
                <a16:creationId xmlns:a16="http://schemas.microsoft.com/office/drawing/2014/main" id="{7D9EC8F7-B2A2-C106-478F-E5920F605F79}"/>
              </a:ext>
            </a:extLst>
          </p:cNvPr>
          <p:cNvPicPr>
            <a:picLocks noChangeAspect="1"/>
          </p:cNvPicPr>
          <p:nvPr/>
        </p:nvPicPr>
        <p:blipFill rotWithShape="1">
          <a:blip r:embed="rId2"/>
          <a:srcRect l="5319" t="-1" b="14184"/>
          <a:stretch/>
        </p:blipFill>
        <p:spPr>
          <a:xfrm>
            <a:off x="61546" y="6091233"/>
            <a:ext cx="2389839" cy="657706"/>
          </a:xfrm>
          <a:prstGeom prst="rect">
            <a:avLst/>
          </a:prstGeom>
        </p:spPr>
      </p:pic>
    </p:spTree>
    <p:extLst>
      <p:ext uri="{BB962C8B-B14F-4D97-AF65-F5344CB8AC3E}">
        <p14:creationId xmlns:p14="http://schemas.microsoft.com/office/powerpoint/2010/main" val="2465568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696</TotalTime>
  <Words>2693</Words>
  <Application>Microsoft Office PowerPoint</Application>
  <PresentationFormat>Widescreen</PresentationFormat>
  <Paragraphs>609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EYInterstate Light</vt:lpstr>
      <vt:lpstr>Mangal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Shubham Kumar</dc:creator>
  <cp:lastModifiedBy>Ashish Pandey      /EXT//IBANK/BKC</cp:lastModifiedBy>
  <cp:revision>43</cp:revision>
  <dcterms:created xsi:type="dcterms:W3CDTF">2024-01-28T06:20:57Z</dcterms:created>
  <dcterms:modified xsi:type="dcterms:W3CDTF">2024-03-28T06:09:55Z</dcterms:modified>
</cp:coreProperties>
</file>